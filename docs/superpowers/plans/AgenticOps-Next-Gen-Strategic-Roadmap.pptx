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7" r:id="rId1"/>
  </p:sldMasterIdLst>
  <p:notesMasterIdLst>
    <p:notesMasterId r:id="rId25"/>
  </p:notesMasterIdLst>
  <p:sldIdLst>
    <p:sldId id="279"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7"/>
    <p:restoredTop sz="94610"/>
  </p:normalViewPr>
  <p:slideViewPr>
    <p:cSldViewPr snapToGrid="0" snapToObjects="1">
      <p:cViewPr varScale="1">
        <p:scale>
          <a:sx n="170" d="100"/>
          <a:sy n="170" d="100"/>
        </p:scale>
        <p:origin x="2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7745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jp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16.sv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59CB63E-38B8-FE5B-666A-D9CAD75A243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705B96BE-BEFA-47C5-B5F6-07D5B53EFBEF}"/>
              </a:ext>
            </a:extLst>
          </p:cNvPr>
          <p:cNvSpPr>
            <a:spLocks noGrp="1"/>
          </p:cNvSpPr>
          <p:nvPr>
            <p:ph type="title" hasCustomPrompt="1"/>
          </p:nvPr>
        </p:nvSpPr>
        <p:spPr>
          <a:xfrm>
            <a:off x="0" y="-495300"/>
            <a:ext cx="9144000" cy="478631"/>
          </a:xfrm>
        </p:spPr>
        <p:txBody>
          <a:bodyPr/>
          <a:lstStyle>
            <a:lvl1pPr>
              <a:defRPr sz="2700">
                <a:solidFill>
                  <a:schemeClr val="bg1">
                    <a:lumMod val="65000"/>
                    <a:lumOff val="35000"/>
                  </a:schemeClr>
                </a:solidFill>
              </a:defRPr>
            </a:lvl1pPr>
          </a:lstStyle>
          <a:p>
            <a:r>
              <a:rPr lang="en-US" dirty="0"/>
              <a:t>Walk-in layout</a:t>
            </a:r>
          </a:p>
        </p:txBody>
      </p:sp>
      <p:pic>
        <p:nvPicPr>
          <p:cNvPr id="6" name="Graphic 5">
            <a:extLst>
              <a:ext uri="{FF2B5EF4-FFF2-40B4-BE49-F238E27FC236}">
                <a16:creationId xmlns:a16="http://schemas.microsoft.com/office/drawing/2014/main" id="{8417F2A1-98C3-4830-9E59-A97205CFBCD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79135" y="2008507"/>
            <a:ext cx="2544020" cy="820418"/>
          </a:xfrm>
          <a:prstGeom prst="rect">
            <a:avLst/>
          </a:prstGeom>
        </p:spPr>
      </p:pic>
    </p:spTree>
    <p:extLst>
      <p:ext uri="{BB962C8B-B14F-4D97-AF65-F5344CB8AC3E}">
        <p14:creationId xmlns:p14="http://schemas.microsoft.com/office/powerpoint/2010/main" val="605076499"/>
      </p:ext>
    </p:extLst>
  </p:cSld>
  <p:clrMapOvr>
    <a:masterClrMapping/>
  </p:clrMapOvr>
  <p:transition>
    <p:fade/>
  </p:transition>
  <p:extLst>
    <p:ext uri="{DCECCB84-F9BA-43D5-87BE-67443E8EF086}">
      <p15:sldGuideLst xmlns:p15="http://schemas.microsoft.com/office/powerpoint/2012/main">
        <p15:guide id="1" orient="horz" pos="2376">
          <p15:clr>
            <a:srgbClr val="FBAE40"/>
          </p15:clr>
        </p15:guide>
        <p15:guide id="2" pos="38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4">
            <a:extLst>
              <a:ext uri="{FF2B5EF4-FFF2-40B4-BE49-F238E27FC236}">
                <a16:creationId xmlns:a16="http://schemas.microsoft.com/office/drawing/2014/main" id="{B0B710E9-A73D-6405-636B-C82EE24B2F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Subtitle 2">
            <a:extLst>
              <a:ext uri="{FF2B5EF4-FFF2-40B4-BE49-F238E27FC236}">
                <a16:creationId xmlns:a16="http://schemas.microsoft.com/office/drawing/2014/main" id="{B24D4546-D701-4B35-9802-54E73AEB80B6}"/>
              </a:ext>
            </a:extLst>
          </p:cNvPr>
          <p:cNvSpPr>
            <a:spLocks noGrp="1"/>
          </p:cNvSpPr>
          <p:nvPr>
            <p:ph type="subTitle" idx="1" hasCustomPrompt="1"/>
          </p:nvPr>
        </p:nvSpPr>
        <p:spPr>
          <a:xfrm>
            <a:off x="242187" y="1493045"/>
            <a:ext cx="6205747" cy="216982"/>
          </a:xfrm>
        </p:spPr>
        <p:txBody>
          <a:bodyPr/>
          <a:lstStyle>
            <a:lvl1pPr marL="0" indent="0" algn="l">
              <a:buNone/>
              <a:defRPr sz="900" b="1" cap="all" spc="225" baseline="0">
                <a:solidFill>
                  <a:schemeClr val="accent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Legal text placeholder (editor use only)</a:t>
            </a:r>
          </a:p>
        </p:txBody>
      </p:sp>
      <p:sp>
        <p:nvSpPr>
          <p:cNvPr id="8" name="Title 7">
            <a:extLst>
              <a:ext uri="{FF2B5EF4-FFF2-40B4-BE49-F238E27FC236}">
                <a16:creationId xmlns:a16="http://schemas.microsoft.com/office/drawing/2014/main" id="{9E4CB04F-C9B8-4D74-A55A-0AC876E8A9C3}"/>
              </a:ext>
            </a:extLst>
          </p:cNvPr>
          <p:cNvSpPr>
            <a:spLocks noGrp="1"/>
          </p:cNvSpPr>
          <p:nvPr>
            <p:ph type="title" hasCustomPrompt="1"/>
          </p:nvPr>
        </p:nvSpPr>
        <p:spPr>
          <a:xfrm>
            <a:off x="242187" y="1800225"/>
            <a:ext cx="6205747" cy="1399131"/>
          </a:xfrm>
        </p:spPr>
        <p:txBody>
          <a:bodyPr tIns="146304" bIns="146304"/>
          <a:lstStyle>
            <a:lvl1pPr>
              <a:defRPr sz="3300"/>
            </a:lvl1pPr>
          </a:lstStyle>
          <a:p>
            <a:r>
              <a:rPr lang="en-US" dirty="0"/>
              <a:t>Enter session title</a:t>
            </a:r>
          </a:p>
        </p:txBody>
      </p:sp>
      <p:sp>
        <p:nvSpPr>
          <p:cNvPr id="12" name="Text Placeholder 11">
            <a:extLst>
              <a:ext uri="{FF2B5EF4-FFF2-40B4-BE49-F238E27FC236}">
                <a16:creationId xmlns:a16="http://schemas.microsoft.com/office/drawing/2014/main" id="{F1C6DF77-859A-4968-8301-C7FA52E8E0A2}"/>
              </a:ext>
            </a:extLst>
          </p:cNvPr>
          <p:cNvSpPr>
            <a:spLocks noGrp="1"/>
          </p:cNvSpPr>
          <p:nvPr>
            <p:ph type="body" sz="quarter" idx="10" hasCustomPrompt="1"/>
          </p:nvPr>
        </p:nvSpPr>
        <p:spPr>
          <a:xfrm>
            <a:off x="242187" y="3519635"/>
            <a:ext cx="2776747" cy="300082"/>
          </a:xfrm>
        </p:spPr>
        <p:txBody>
          <a:bodyPr/>
          <a:lstStyle>
            <a:lvl1pPr marL="0" indent="0">
              <a:buNone/>
              <a:defRPr sz="1500" b="1" cap="none" spc="0" baseline="0"/>
            </a:lvl1pPr>
          </a:lstStyle>
          <a:p>
            <a:pPr lvl="0"/>
            <a:r>
              <a:rPr lang="en-US" dirty="0"/>
              <a:t>Speaker name</a:t>
            </a:r>
          </a:p>
        </p:txBody>
      </p:sp>
      <p:sp>
        <p:nvSpPr>
          <p:cNvPr id="14" name="Text Placeholder 13">
            <a:extLst>
              <a:ext uri="{FF2B5EF4-FFF2-40B4-BE49-F238E27FC236}">
                <a16:creationId xmlns:a16="http://schemas.microsoft.com/office/drawing/2014/main" id="{1D8DDED4-39D2-4F36-B877-72364957F970}"/>
              </a:ext>
            </a:extLst>
          </p:cNvPr>
          <p:cNvSpPr>
            <a:spLocks noGrp="1"/>
          </p:cNvSpPr>
          <p:nvPr>
            <p:ph type="body" sz="quarter" idx="11" hasCustomPrompt="1"/>
          </p:nvPr>
        </p:nvSpPr>
        <p:spPr>
          <a:xfrm>
            <a:off x="242187" y="1119670"/>
            <a:ext cx="2619375" cy="216982"/>
          </a:xfrm>
        </p:spPr>
        <p:txBody>
          <a:bodyPr/>
          <a:lstStyle>
            <a:lvl1pPr marL="0" indent="0">
              <a:buNone/>
              <a:defRPr sz="900" b="1" cap="all" spc="225" baseline="0">
                <a:solidFill>
                  <a:schemeClr val="accent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171450" indent="0">
              <a:buNone/>
              <a:defRPr/>
            </a:lvl2pPr>
            <a:lvl3pPr marL="342900" indent="0">
              <a:buNone/>
              <a:defRPr/>
            </a:lvl3pPr>
            <a:lvl4pPr marL="514350" indent="0">
              <a:buNone/>
              <a:defRPr/>
            </a:lvl4pPr>
            <a:lvl5pPr marL="514350" indent="0">
              <a:buNone/>
              <a:defRPr/>
            </a:lvl5pPr>
          </a:lstStyle>
          <a:p>
            <a:pPr lvl="0"/>
            <a:r>
              <a:rPr lang="en-US" dirty="0"/>
              <a:t>Enter session ID</a:t>
            </a:r>
          </a:p>
        </p:txBody>
      </p:sp>
      <p:sp>
        <p:nvSpPr>
          <p:cNvPr id="16" name="Text Placeholder 15">
            <a:extLst>
              <a:ext uri="{FF2B5EF4-FFF2-40B4-BE49-F238E27FC236}">
                <a16:creationId xmlns:a16="http://schemas.microsoft.com/office/drawing/2014/main" id="{069FE2D1-0188-4BD9-97B7-CA795447E4F4}"/>
              </a:ext>
            </a:extLst>
          </p:cNvPr>
          <p:cNvSpPr>
            <a:spLocks noGrp="1"/>
          </p:cNvSpPr>
          <p:nvPr>
            <p:ph type="body" sz="quarter" idx="12" hasCustomPrompt="1"/>
          </p:nvPr>
        </p:nvSpPr>
        <p:spPr>
          <a:xfrm>
            <a:off x="242187" y="3800181"/>
            <a:ext cx="2776747" cy="590931"/>
          </a:xfrm>
        </p:spPr>
        <p:txBody>
          <a:bodyPr/>
          <a:lstStyle>
            <a:lvl1pPr marL="0" indent="0">
              <a:spcAft>
                <a:spcPts val="225"/>
              </a:spcAft>
              <a:buNone/>
              <a:defRPr sz="1200"/>
            </a:lvl1pPr>
            <a:lvl2pPr marL="171450" indent="0">
              <a:buNone/>
              <a:defRPr/>
            </a:lvl2pPr>
            <a:lvl3pPr marL="342900" indent="0">
              <a:buNone/>
              <a:defRPr/>
            </a:lvl3pPr>
            <a:lvl4pPr marL="514350" indent="0">
              <a:buNone/>
              <a:defRPr/>
            </a:lvl4pPr>
            <a:lvl5pPr marL="514350" indent="0">
              <a:buNone/>
              <a:defRPr/>
            </a:lvl5pPr>
          </a:lstStyle>
          <a:p>
            <a:pPr lvl="0"/>
            <a:r>
              <a:rPr lang="en-US" dirty="0"/>
              <a:t>(pronouns)</a:t>
            </a:r>
            <a:br>
              <a:rPr lang="en-US" dirty="0"/>
            </a:br>
            <a:r>
              <a:rPr lang="en-US" dirty="0"/>
              <a:t>Job title</a:t>
            </a:r>
            <a:br>
              <a:rPr lang="en-US" dirty="0"/>
            </a:br>
            <a:r>
              <a:rPr lang="en-US" dirty="0"/>
              <a:t>Company</a:t>
            </a:r>
          </a:p>
        </p:txBody>
      </p:sp>
      <p:pic>
        <p:nvPicPr>
          <p:cNvPr id="2" name="图片 8" descr="卡通画&#10;&#10;中度可信度描述已自动生成">
            <a:extLst>
              <a:ext uri="{FF2B5EF4-FFF2-40B4-BE49-F238E27FC236}">
                <a16:creationId xmlns:a16="http://schemas.microsoft.com/office/drawing/2014/main" id="{BF6220DC-EE5D-C319-4583-85C1B1DB92B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78357" y="341347"/>
            <a:ext cx="1324581" cy="401648"/>
          </a:xfrm>
          <a:prstGeom prst="rect">
            <a:avLst/>
          </a:prstGeom>
        </p:spPr>
      </p:pic>
      <p:sp>
        <p:nvSpPr>
          <p:cNvPr id="7" name="TextBox 3">
            <a:extLst>
              <a:ext uri="{FF2B5EF4-FFF2-40B4-BE49-F238E27FC236}">
                <a16:creationId xmlns:a16="http://schemas.microsoft.com/office/drawing/2014/main" id="{969B5DAE-31AB-8B6E-A926-EBF39CB61667}"/>
              </a:ext>
            </a:extLst>
          </p:cNvPr>
          <p:cNvSpPr txBox="1">
            <a:spLocks noChangeArrowheads="1"/>
          </p:cNvSpPr>
          <p:nvPr userDrawn="1"/>
        </p:nvSpPr>
        <p:spPr bwMode="white">
          <a:xfrm>
            <a:off x="826155" y="4972709"/>
            <a:ext cx="7768611" cy="80791"/>
          </a:xfrm>
          <a:prstGeom prst="rect">
            <a:avLst/>
          </a:prstGeom>
          <a:noFill/>
          <a:ln>
            <a:noFill/>
          </a:ln>
        </p:spPr>
        <p:txBody>
          <a:bodyPr wrap="square"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822909" eaLnBrk="1" fontAlgn="auto" hangingPunct="1">
              <a:spcBef>
                <a:spcPts val="0"/>
              </a:spcBef>
              <a:spcAft>
                <a:spcPts val="0"/>
              </a:spcAft>
              <a:defRPr/>
            </a:pPr>
            <a:r>
              <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a:t>
            </a:r>
            <a:r>
              <a:rPr lang="en-US" altLang="zh-CN"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5</a:t>
            </a:r>
            <a:r>
              <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Amazon Web Services, Inc. or its affiliates. All rights reserved.</a:t>
            </a:r>
            <a:r>
              <a:rPr lang="zh-CN" altLang="en-US" sz="525" b="0" i="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zh-CN" altLang="en-US" sz="525" i="0">
                <a:effectLst/>
                <a:latin typeface="Source Han Sans SC" panose="020B0500000000000000" pitchFamily="34" charset="-128"/>
                <a:ea typeface="Source Han Sans SC" panose="020B0500000000000000" pitchFamily="34" charset="-128"/>
              </a:rPr>
              <a:t>此内容特定亚马逊云科技生成式人工智能相关的服务仅在亚马逊云科技海外区域可用，亚马逊云科技中国仅为帮助您了解行业前沿技术和发展海外业务选择推介该服务。</a:t>
            </a:r>
            <a:endPar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pic>
        <p:nvPicPr>
          <p:cNvPr id="9" name="图片 8">
            <a:extLst>
              <a:ext uri="{FF2B5EF4-FFF2-40B4-BE49-F238E27FC236}">
                <a16:creationId xmlns:a16="http://schemas.microsoft.com/office/drawing/2014/main" id="{5BA53197-ADA9-19BB-C486-2137530278B5}"/>
              </a:ext>
            </a:extLst>
          </p:cNvPr>
          <p:cNvPicPr>
            <a:picLocks noChangeAspect="1"/>
          </p:cNvPicPr>
          <p:nvPr userDrawn="1"/>
        </p:nvPicPr>
        <p:blipFill>
          <a:blip r:embed="rId4"/>
          <a:stretch>
            <a:fillRect/>
          </a:stretch>
        </p:blipFill>
        <p:spPr>
          <a:xfrm>
            <a:off x="269600" y="4946612"/>
            <a:ext cx="452801" cy="160388"/>
          </a:xfrm>
          <a:prstGeom prst="rect">
            <a:avLst/>
          </a:prstGeom>
        </p:spPr>
      </p:pic>
    </p:spTree>
    <p:extLst>
      <p:ext uri="{BB962C8B-B14F-4D97-AF65-F5344CB8AC3E}">
        <p14:creationId xmlns:p14="http://schemas.microsoft.com/office/powerpoint/2010/main" val="3251320509"/>
      </p:ext>
    </p:extLst>
  </p:cSld>
  <p:clrMapOvr>
    <a:masterClrMapping/>
  </p:clrMapOvr>
  <p:transition>
    <p:fade/>
  </p:transition>
  <p:extLst>
    <p:ext uri="{DCECCB84-F9BA-43D5-87BE-67443E8EF086}">
      <p15:sldGuideLst xmlns:p15="http://schemas.microsoft.com/office/powerpoint/2012/main">
        <p15:guide id="1" pos="2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wo Speakers">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F55355-518E-A9CA-29FB-FFBD27B358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Subtitle 2">
            <a:extLst>
              <a:ext uri="{FF2B5EF4-FFF2-40B4-BE49-F238E27FC236}">
                <a16:creationId xmlns:a16="http://schemas.microsoft.com/office/drawing/2014/main" id="{B24D4546-D701-4B35-9802-54E73AEB80B6}"/>
              </a:ext>
            </a:extLst>
          </p:cNvPr>
          <p:cNvSpPr>
            <a:spLocks noGrp="1"/>
          </p:cNvSpPr>
          <p:nvPr>
            <p:ph type="subTitle" idx="1" hasCustomPrompt="1"/>
          </p:nvPr>
        </p:nvSpPr>
        <p:spPr>
          <a:xfrm>
            <a:off x="242187" y="1493045"/>
            <a:ext cx="6205747" cy="216982"/>
          </a:xfrm>
        </p:spPr>
        <p:txBody>
          <a:bodyPr/>
          <a:lstStyle>
            <a:lvl1pPr marL="0" indent="0" algn="l">
              <a:buNone/>
              <a:defRPr sz="900" b="1" cap="all" spc="225" baseline="0">
                <a:solidFill>
                  <a:schemeClr val="accent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Legal text placeholder (editor use only)</a:t>
            </a:r>
          </a:p>
        </p:txBody>
      </p:sp>
      <p:sp>
        <p:nvSpPr>
          <p:cNvPr id="8" name="Title 7">
            <a:extLst>
              <a:ext uri="{FF2B5EF4-FFF2-40B4-BE49-F238E27FC236}">
                <a16:creationId xmlns:a16="http://schemas.microsoft.com/office/drawing/2014/main" id="{9E4CB04F-C9B8-4D74-A55A-0AC876E8A9C3}"/>
              </a:ext>
            </a:extLst>
          </p:cNvPr>
          <p:cNvSpPr>
            <a:spLocks noGrp="1"/>
          </p:cNvSpPr>
          <p:nvPr>
            <p:ph type="title" hasCustomPrompt="1"/>
          </p:nvPr>
        </p:nvSpPr>
        <p:spPr>
          <a:xfrm>
            <a:off x="242187" y="1800225"/>
            <a:ext cx="6205747" cy="1399131"/>
          </a:xfrm>
        </p:spPr>
        <p:txBody>
          <a:bodyPr tIns="146304" bIns="146304"/>
          <a:lstStyle>
            <a:lvl1pPr>
              <a:defRPr sz="3300"/>
            </a:lvl1pPr>
          </a:lstStyle>
          <a:p>
            <a:r>
              <a:rPr lang="en-US" dirty="0"/>
              <a:t>Enter session title</a:t>
            </a:r>
          </a:p>
        </p:txBody>
      </p:sp>
      <p:sp>
        <p:nvSpPr>
          <p:cNvPr id="10" name="TextBox 3">
            <a:extLst>
              <a:ext uri="{FF2B5EF4-FFF2-40B4-BE49-F238E27FC236}">
                <a16:creationId xmlns:a16="http://schemas.microsoft.com/office/drawing/2014/main" id="{759EA25C-F220-44E9-8D3E-368B78EE07DB}"/>
              </a:ext>
            </a:extLst>
          </p:cNvPr>
          <p:cNvSpPr txBox="1">
            <a:spLocks noChangeArrowheads="1"/>
          </p:cNvSpPr>
          <p:nvPr userDrawn="1"/>
        </p:nvSpPr>
        <p:spPr bwMode="white">
          <a:xfrm>
            <a:off x="826155" y="4857640"/>
            <a:ext cx="2971800" cy="80791"/>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822909" eaLnBrk="1" fontAlgn="auto" hangingPunct="1">
              <a:spcBef>
                <a:spcPts val="0"/>
              </a:spcBef>
              <a:spcAft>
                <a:spcPts val="0"/>
              </a:spcAft>
              <a:defRPr/>
            </a:pPr>
            <a:r>
              <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sp>
        <p:nvSpPr>
          <p:cNvPr id="12" name="Text Placeholder 11">
            <a:extLst>
              <a:ext uri="{FF2B5EF4-FFF2-40B4-BE49-F238E27FC236}">
                <a16:creationId xmlns:a16="http://schemas.microsoft.com/office/drawing/2014/main" id="{F1C6DF77-859A-4968-8301-C7FA52E8E0A2}"/>
              </a:ext>
            </a:extLst>
          </p:cNvPr>
          <p:cNvSpPr>
            <a:spLocks noGrp="1"/>
          </p:cNvSpPr>
          <p:nvPr>
            <p:ph type="body" sz="quarter" idx="10" hasCustomPrompt="1"/>
          </p:nvPr>
        </p:nvSpPr>
        <p:spPr>
          <a:xfrm>
            <a:off x="242187" y="3519635"/>
            <a:ext cx="2776747" cy="300082"/>
          </a:xfrm>
        </p:spPr>
        <p:txBody>
          <a:bodyPr/>
          <a:lstStyle>
            <a:lvl1pPr marL="0" indent="0">
              <a:buNone/>
              <a:defRPr sz="1500" b="1" cap="none" spc="0" baseline="0"/>
            </a:lvl1pPr>
          </a:lstStyle>
          <a:p>
            <a:pPr lvl="0"/>
            <a:r>
              <a:rPr lang="en-US" dirty="0"/>
              <a:t>Speaker name</a:t>
            </a:r>
          </a:p>
        </p:txBody>
      </p:sp>
      <p:sp>
        <p:nvSpPr>
          <p:cNvPr id="14" name="Text Placeholder 13">
            <a:extLst>
              <a:ext uri="{FF2B5EF4-FFF2-40B4-BE49-F238E27FC236}">
                <a16:creationId xmlns:a16="http://schemas.microsoft.com/office/drawing/2014/main" id="{1D8DDED4-39D2-4F36-B877-72364957F970}"/>
              </a:ext>
            </a:extLst>
          </p:cNvPr>
          <p:cNvSpPr>
            <a:spLocks noGrp="1"/>
          </p:cNvSpPr>
          <p:nvPr>
            <p:ph type="body" sz="quarter" idx="11" hasCustomPrompt="1"/>
          </p:nvPr>
        </p:nvSpPr>
        <p:spPr>
          <a:xfrm>
            <a:off x="242187" y="1119670"/>
            <a:ext cx="2619375" cy="216982"/>
          </a:xfrm>
        </p:spPr>
        <p:txBody>
          <a:bodyPr/>
          <a:lstStyle>
            <a:lvl1pPr marL="0" indent="0">
              <a:buNone/>
              <a:defRPr sz="900" b="1" cap="all" spc="225" baseline="0">
                <a:solidFill>
                  <a:schemeClr val="accent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171450" indent="0">
              <a:buNone/>
              <a:defRPr/>
            </a:lvl2pPr>
            <a:lvl3pPr marL="342900" indent="0">
              <a:buNone/>
              <a:defRPr/>
            </a:lvl3pPr>
            <a:lvl4pPr marL="514350" indent="0">
              <a:buNone/>
              <a:defRPr/>
            </a:lvl4pPr>
            <a:lvl5pPr marL="514350" indent="0">
              <a:buNone/>
              <a:defRPr/>
            </a:lvl5pPr>
          </a:lstStyle>
          <a:p>
            <a:pPr lvl="0"/>
            <a:r>
              <a:rPr lang="en-US" dirty="0"/>
              <a:t>Enter Session ID</a:t>
            </a:r>
          </a:p>
        </p:txBody>
      </p:sp>
      <p:sp>
        <p:nvSpPr>
          <p:cNvPr id="16" name="Text Placeholder 15">
            <a:extLst>
              <a:ext uri="{FF2B5EF4-FFF2-40B4-BE49-F238E27FC236}">
                <a16:creationId xmlns:a16="http://schemas.microsoft.com/office/drawing/2014/main" id="{069FE2D1-0188-4BD9-97B7-CA795447E4F4}"/>
              </a:ext>
            </a:extLst>
          </p:cNvPr>
          <p:cNvSpPr>
            <a:spLocks noGrp="1"/>
          </p:cNvSpPr>
          <p:nvPr>
            <p:ph type="body" sz="quarter" idx="12" hasCustomPrompt="1"/>
          </p:nvPr>
        </p:nvSpPr>
        <p:spPr>
          <a:xfrm>
            <a:off x="242187" y="3800180"/>
            <a:ext cx="2776747" cy="590931"/>
          </a:xfrm>
        </p:spPr>
        <p:txBody>
          <a:bodyPr/>
          <a:lstStyle>
            <a:lvl1pPr marL="0" indent="0">
              <a:spcAft>
                <a:spcPts val="225"/>
              </a:spcAft>
              <a:buNone/>
              <a:defRPr sz="1200"/>
            </a:lvl1pPr>
            <a:lvl2pPr marL="171450" indent="0">
              <a:buNone/>
              <a:defRPr/>
            </a:lvl2pPr>
            <a:lvl3pPr marL="342900" indent="0">
              <a:buNone/>
              <a:defRPr/>
            </a:lvl3pPr>
            <a:lvl4pPr marL="514350" indent="0">
              <a:buNone/>
              <a:defRPr/>
            </a:lvl4pPr>
            <a:lvl5pPr marL="514350" indent="0">
              <a:buNone/>
              <a:defRPr/>
            </a:lvl5pPr>
          </a:lstStyle>
          <a:p>
            <a:pPr lvl="0"/>
            <a:r>
              <a:rPr lang="en-US" dirty="0"/>
              <a:t>(pronouns)</a:t>
            </a:r>
            <a:br>
              <a:rPr lang="en-US" dirty="0"/>
            </a:br>
            <a:r>
              <a:rPr lang="en-US" dirty="0"/>
              <a:t>Job title</a:t>
            </a:r>
            <a:br>
              <a:rPr lang="en-US" dirty="0"/>
            </a:br>
            <a:r>
              <a:rPr lang="en-US" dirty="0"/>
              <a:t>Company</a:t>
            </a:r>
          </a:p>
        </p:txBody>
      </p:sp>
      <p:sp>
        <p:nvSpPr>
          <p:cNvPr id="4" name="Text Placeholder 3">
            <a:extLst>
              <a:ext uri="{FF2B5EF4-FFF2-40B4-BE49-F238E27FC236}">
                <a16:creationId xmlns:a16="http://schemas.microsoft.com/office/drawing/2014/main" id="{1069ABB5-4D60-42A3-815E-56E31E1F18A3}"/>
              </a:ext>
            </a:extLst>
          </p:cNvPr>
          <p:cNvSpPr>
            <a:spLocks noGrp="1"/>
          </p:cNvSpPr>
          <p:nvPr>
            <p:ph type="body" sz="quarter" idx="13" hasCustomPrompt="1"/>
          </p:nvPr>
        </p:nvSpPr>
        <p:spPr>
          <a:xfrm>
            <a:off x="3342575" y="3519635"/>
            <a:ext cx="2776747" cy="300082"/>
          </a:xfrm>
        </p:spPr>
        <p:txBody>
          <a:bodyPr/>
          <a:lstStyle>
            <a:lvl1pPr marL="0" indent="0">
              <a:buNone/>
              <a:defRPr sz="1500" b="1"/>
            </a:lvl1pPr>
            <a:lvl2pPr marL="171450" indent="0">
              <a:buNone/>
              <a:defRPr/>
            </a:lvl2pPr>
            <a:lvl3pPr marL="342900" indent="0">
              <a:buNone/>
              <a:defRPr/>
            </a:lvl3pPr>
            <a:lvl4pPr marL="514350" indent="0">
              <a:buNone/>
              <a:defRPr/>
            </a:lvl4pPr>
            <a:lvl5pPr marL="514350" indent="0">
              <a:buNone/>
              <a:defRPr/>
            </a:lvl5pPr>
          </a:lstStyle>
          <a:p>
            <a:pPr lvl="0"/>
            <a:r>
              <a:rPr lang="en-US" dirty="0"/>
              <a:t>Speaker name</a:t>
            </a:r>
          </a:p>
        </p:txBody>
      </p:sp>
      <p:sp>
        <p:nvSpPr>
          <p:cNvPr id="6" name="Text Placeholder 5">
            <a:extLst>
              <a:ext uri="{FF2B5EF4-FFF2-40B4-BE49-F238E27FC236}">
                <a16:creationId xmlns:a16="http://schemas.microsoft.com/office/drawing/2014/main" id="{79AE8770-95C8-4BFC-8D8E-818B753038EA}"/>
              </a:ext>
            </a:extLst>
          </p:cNvPr>
          <p:cNvSpPr>
            <a:spLocks noGrp="1"/>
          </p:cNvSpPr>
          <p:nvPr>
            <p:ph type="body" sz="quarter" idx="14" hasCustomPrompt="1"/>
          </p:nvPr>
        </p:nvSpPr>
        <p:spPr>
          <a:xfrm>
            <a:off x="3342575" y="3800180"/>
            <a:ext cx="2776747" cy="590931"/>
          </a:xfrm>
        </p:spPr>
        <p:txBody>
          <a:bodyPr/>
          <a:lstStyle>
            <a:lvl1pPr marL="0" indent="0">
              <a:spcAft>
                <a:spcPts val="225"/>
              </a:spcAft>
              <a:buNone/>
              <a:defRPr sz="1200"/>
            </a:lvl1pPr>
          </a:lstStyle>
          <a:p>
            <a:pPr lvl="0"/>
            <a:r>
              <a:rPr lang="en-US" dirty="0"/>
              <a:t>(pronouns)</a:t>
            </a:r>
            <a:br>
              <a:rPr lang="en-US" dirty="0"/>
            </a:br>
            <a:r>
              <a:rPr lang="en-US" dirty="0"/>
              <a:t>Job title</a:t>
            </a:r>
            <a:br>
              <a:rPr lang="en-US" dirty="0"/>
            </a:br>
            <a:r>
              <a:rPr lang="en-US" dirty="0"/>
              <a:t>Company</a:t>
            </a:r>
          </a:p>
        </p:txBody>
      </p:sp>
      <p:pic>
        <p:nvPicPr>
          <p:cNvPr id="13" name="Picture 12">
            <a:extLst>
              <a:ext uri="{FF2B5EF4-FFF2-40B4-BE49-F238E27FC236}">
                <a16:creationId xmlns:a16="http://schemas.microsoft.com/office/drawing/2014/main" id="{BEAD6224-65DB-4349-8ABF-C9D9E063E265}"/>
              </a:ext>
            </a:extLst>
          </p:cNvPr>
          <p:cNvPicPr>
            <a:picLocks noChangeAspect="1"/>
          </p:cNvPicPr>
          <p:nvPr userDrawn="1"/>
        </p:nvPicPr>
        <p:blipFill>
          <a:blip r:embed="rId3"/>
          <a:srcRect/>
          <a:stretch/>
        </p:blipFill>
        <p:spPr>
          <a:xfrm>
            <a:off x="219376" y="4821496"/>
            <a:ext cx="291614" cy="164694"/>
          </a:xfrm>
          <a:prstGeom prst="rect">
            <a:avLst/>
          </a:prstGeom>
        </p:spPr>
      </p:pic>
      <p:pic>
        <p:nvPicPr>
          <p:cNvPr id="2" name="图片 8" descr="卡通画&#10;&#10;中度可信度描述已自动生成">
            <a:extLst>
              <a:ext uri="{FF2B5EF4-FFF2-40B4-BE49-F238E27FC236}">
                <a16:creationId xmlns:a16="http://schemas.microsoft.com/office/drawing/2014/main" id="{B7B55A3B-04C8-5D6F-6C04-628AD00A9F74}"/>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378357" y="341347"/>
            <a:ext cx="1324581" cy="401648"/>
          </a:xfrm>
          <a:prstGeom prst="rect">
            <a:avLst/>
          </a:prstGeom>
        </p:spPr>
      </p:pic>
    </p:spTree>
    <p:extLst>
      <p:ext uri="{BB962C8B-B14F-4D97-AF65-F5344CB8AC3E}">
        <p14:creationId xmlns:p14="http://schemas.microsoft.com/office/powerpoint/2010/main" val="2575603707"/>
      </p:ext>
    </p:extLst>
  </p:cSld>
  <p:clrMapOvr>
    <a:masterClrMapping/>
  </p:clrMapOvr>
  <p:transition>
    <p:fade/>
  </p:transition>
  <p:extLst>
    <p:ext uri="{DCECCB84-F9BA-43D5-87BE-67443E8EF086}">
      <p15:sldGuideLst xmlns:p15="http://schemas.microsoft.com/office/powerpoint/2012/main">
        <p15:guide id="1" pos="216">
          <p15:clr>
            <a:srgbClr val="FBAE40"/>
          </p15:clr>
        </p15:guide>
        <p15:guide id="2" orient="horz" pos="29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Three Speaker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1B77736-F964-9E03-7D10-969905EB76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Subtitle 2">
            <a:extLst>
              <a:ext uri="{FF2B5EF4-FFF2-40B4-BE49-F238E27FC236}">
                <a16:creationId xmlns:a16="http://schemas.microsoft.com/office/drawing/2014/main" id="{B24D4546-D701-4B35-9802-54E73AEB80B6}"/>
              </a:ext>
            </a:extLst>
          </p:cNvPr>
          <p:cNvSpPr>
            <a:spLocks noGrp="1"/>
          </p:cNvSpPr>
          <p:nvPr>
            <p:ph type="subTitle" idx="1" hasCustomPrompt="1"/>
          </p:nvPr>
        </p:nvSpPr>
        <p:spPr>
          <a:xfrm>
            <a:off x="242187" y="1493045"/>
            <a:ext cx="6205747" cy="216982"/>
          </a:xfrm>
        </p:spPr>
        <p:txBody>
          <a:bodyPr/>
          <a:lstStyle>
            <a:lvl1pPr marL="0" indent="0" algn="l">
              <a:buNone/>
              <a:defRPr sz="900" b="1" cap="all" spc="225" baseline="0">
                <a:solidFill>
                  <a:schemeClr val="accent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Legal text placeholder (editor use only)</a:t>
            </a:r>
          </a:p>
        </p:txBody>
      </p:sp>
      <p:sp>
        <p:nvSpPr>
          <p:cNvPr id="8" name="Title 7">
            <a:extLst>
              <a:ext uri="{FF2B5EF4-FFF2-40B4-BE49-F238E27FC236}">
                <a16:creationId xmlns:a16="http://schemas.microsoft.com/office/drawing/2014/main" id="{9E4CB04F-C9B8-4D74-A55A-0AC876E8A9C3}"/>
              </a:ext>
            </a:extLst>
          </p:cNvPr>
          <p:cNvSpPr>
            <a:spLocks noGrp="1"/>
          </p:cNvSpPr>
          <p:nvPr>
            <p:ph type="title" hasCustomPrompt="1"/>
          </p:nvPr>
        </p:nvSpPr>
        <p:spPr>
          <a:xfrm>
            <a:off x="242187" y="1800225"/>
            <a:ext cx="6205747" cy="1399131"/>
          </a:xfrm>
        </p:spPr>
        <p:txBody>
          <a:bodyPr tIns="146304" bIns="146304"/>
          <a:lstStyle>
            <a:lvl1pPr>
              <a:defRPr sz="3300"/>
            </a:lvl1pPr>
          </a:lstStyle>
          <a:p>
            <a:r>
              <a:rPr lang="en-US" dirty="0"/>
              <a:t>Enter session title</a:t>
            </a:r>
          </a:p>
        </p:txBody>
      </p:sp>
      <p:sp>
        <p:nvSpPr>
          <p:cNvPr id="10" name="TextBox 3">
            <a:extLst>
              <a:ext uri="{FF2B5EF4-FFF2-40B4-BE49-F238E27FC236}">
                <a16:creationId xmlns:a16="http://schemas.microsoft.com/office/drawing/2014/main" id="{759EA25C-F220-44E9-8D3E-368B78EE07DB}"/>
              </a:ext>
            </a:extLst>
          </p:cNvPr>
          <p:cNvSpPr txBox="1">
            <a:spLocks noChangeArrowheads="1"/>
          </p:cNvSpPr>
          <p:nvPr userDrawn="1"/>
        </p:nvSpPr>
        <p:spPr bwMode="white">
          <a:xfrm>
            <a:off x="826155" y="4857640"/>
            <a:ext cx="2971800" cy="80791"/>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822909" eaLnBrk="1" fontAlgn="auto" hangingPunct="1">
              <a:spcBef>
                <a:spcPts val="0"/>
              </a:spcBef>
              <a:spcAft>
                <a:spcPts val="0"/>
              </a:spcAft>
              <a:defRPr/>
            </a:pPr>
            <a:r>
              <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sp>
        <p:nvSpPr>
          <p:cNvPr id="12" name="Text Placeholder 11">
            <a:extLst>
              <a:ext uri="{FF2B5EF4-FFF2-40B4-BE49-F238E27FC236}">
                <a16:creationId xmlns:a16="http://schemas.microsoft.com/office/drawing/2014/main" id="{F1C6DF77-859A-4968-8301-C7FA52E8E0A2}"/>
              </a:ext>
            </a:extLst>
          </p:cNvPr>
          <p:cNvSpPr>
            <a:spLocks noGrp="1"/>
          </p:cNvSpPr>
          <p:nvPr>
            <p:ph type="body" sz="quarter" idx="10" hasCustomPrompt="1"/>
          </p:nvPr>
        </p:nvSpPr>
        <p:spPr>
          <a:xfrm>
            <a:off x="242188" y="3519635"/>
            <a:ext cx="1996027" cy="300082"/>
          </a:xfrm>
        </p:spPr>
        <p:txBody>
          <a:bodyPr/>
          <a:lstStyle>
            <a:lvl1pPr marL="0" indent="0">
              <a:buNone/>
              <a:defRPr sz="1500" b="1" cap="none" spc="0" baseline="0"/>
            </a:lvl1pPr>
          </a:lstStyle>
          <a:p>
            <a:pPr lvl="0"/>
            <a:r>
              <a:rPr lang="en-US" dirty="0"/>
              <a:t>Speaker name</a:t>
            </a:r>
          </a:p>
        </p:txBody>
      </p:sp>
      <p:sp>
        <p:nvSpPr>
          <p:cNvPr id="14" name="Text Placeholder 13">
            <a:extLst>
              <a:ext uri="{FF2B5EF4-FFF2-40B4-BE49-F238E27FC236}">
                <a16:creationId xmlns:a16="http://schemas.microsoft.com/office/drawing/2014/main" id="{1D8DDED4-39D2-4F36-B877-72364957F970}"/>
              </a:ext>
            </a:extLst>
          </p:cNvPr>
          <p:cNvSpPr>
            <a:spLocks noGrp="1"/>
          </p:cNvSpPr>
          <p:nvPr>
            <p:ph type="body" sz="quarter" idx="11" hasCustomPrompt="1"/>
          </p:nvPr>
        </p:nvSpPr>
        <p:spPr>
          <a:xfrm>
            <a:off x="242187" y="1119670"/>
            <a:ext cx="2619375" cy="216982"/>
          </a:xfrm>
        </p:spPr>
        <p:txBody>
          <a:bodyPr/>
          <a:lstStyle>
            <a:lvl1pPr marL="0" indent="0">
              <a:buNone/>
              <a:defRPr sz="900" b="1" cap="all" spc="225" baseline="0">
                <a:solidFill>
                  <a:schemeClr val="accent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171450" indent="0">
              <a:buNone/>
              <a:defRPr/>
            </a:lvl2pPr>
            <a:lvl3pPr marL="342900" indent="0">
              <a:buNone/>
              <a:defRPr/>
            </a:lvl3pPr>
            <a:lvl4pPr marL="514350" indent="0">
              <a:buNone/>
              <a:defRPr/>
            </a:lvl4pPr>
            <a:lvl5pPr marL="514350" indent="0">
              <a:buNone/>
              <a:defRPr/>
            </a:lvl5pPr>
          </a:lstStyle>
          <a:p>
            <a:pPr lvl="0"/>
            <a:r>
              <a:rPr lang="en-US" dirty="0"/>
              <a:t>Enter session ID</a:t>
            </a:r>
          </a:p>
        </p:txBody>
      </p:sp>
      <p:sp>
        <p:nvSpPr>
          <p:cNvPr id="16" name="Text Placeholder 15">
            <a:extLst>
              <a:ext uri="{FF2B5EF4-FFF2-40B4-BE49-F238E27FC236}">
                <a16:creationId xmlns:a16="http://schemas.microsoft.com/office/drawing/2014/main" id="{069FE2D1-0188-4BD9-97B7-CA795447E4F4}"/>
              </a:ext>
            </a:extLst>
          </p:cNvPr>
          <p:cNvSpPr>
            <a:spLocks noGrp="1"/>
          </p:cNvSpPr>
          <p:nvPr>
            <p:ph type="body" sz="quarter" idx="12" hasCustomPrompt="1"/>
          </p:nvPr>
        </p:nvSpPr>
        <p:spPr>
          <a:xfrm>
            <a:off x="242188" y="3800180"/>
            <a:ext cx="1996027" cy="590931"/>
          </a:xfrm>
        </p:spPr>
        <p:txBody>
          <a:bodyPr/>
          <a:lstStyle>
            <a:lvl1pPr marL="0" indent="0">
              <a:spcAft>
                <a:spcPts val="225"/>
              </a:spcAft>
              <a:buNone/>
              <a:defRPr sz="1200"/>
            </a:lvl1pPr>
            <a:lvl2pPr marL="171450" indent="0">
              <a:buNone/>
              <a:defRPr/>
            </a:lvl2pPr>
            <a:lvl3pPr marL="342900" indent="0">
              <a:buNone/>
              <a:defRPr/>
            </a:lvl3pPr>
            <a:lvl4pPr marL="514350" indent="0">
              <a:buNone/>
              <a:defRPr/>
            </a:lvl4pPr>
            <a:lvl5pPr marL="514350" indent="0">
              <a:buNone/>
              <a:defRPr/>
            </a:lvl5pPr>
          </a:lstStyle>
          <a:p>
            <a:pPr lvl="0"/>
            <a:r>
              <a:rPr lang="en-US" dirty="0"/>
              <a:t>(pronouns)</a:t>
            </a:r>
            <a:br>
              <a:rPr lang="en-US" dirty="0"/>
            </a:br>
            <a:r>
              <a:rPr lang="en-US" dirty="0"/>
              <a:t>Job title</a:t>
            </a:r>
            <a:br>
              <a:rPr lang="en-US" dirty="0"/>
            </a:br>
            <a:r>
              <a:rPr lang="en-US" dirty="0"/>
              <a:t>Company</a:t>
            </a:r>
          </a:p>
        </p:txBody>
      </p:sp>
      <p:sp>
        <p:nvSpPr>
          <p:cNvPr id="4" name="Text Placeholder 3">
            <a:extLst>
              <a:ext uri="{FF2B5EF4-FFF2-40B4-BE49-F238E27FC236}">
                <a16:creationId xmlns:a16="http://schemas.microsoft.com/office/drawing/2014/main" id="{1069ABB5-4D60-42A3-815E-56E31E1F18A3}"/>
              </a:ext>
            </a:extLst>
          </p:cNvPr>
          <p:cNvSpPr>
            <a:spLocks noGrp="1"/>
          </p:cNvSpPr>
          <p:nvPr>
            <p:ph type="body" sz="quarter" idx="13" hasCustomPrompt="1"/>
          </p:nvPr>
        </p:nvSpPr>
        <p:spPr>
          <a:xfrm>
            <a:off x="2347293" y="3519635"/>
            <a:ext cx="1996027" cy="300082"/>
          </a:xfrm>
        </p:spPr>
        <p:txBody>
          <a:bodyPr/>
          <a:lstStyle>
            <a:lvl1pPr marL="0" indent="0">
              <a:buNone/>
              <a:defRPr sz="1500" b="1"/>
            </a:lvl1pPr>
            <a:lvl2pPr marL="171450" indent="0">
              <a:buNone/>
              <a:defRPr/>
            </a:lvl2pPr>
            <a:lvl3pPr marL="342900" indent="0">
              <a:buNone/>
              <a:defRPr/>
            </a:lvl3pPr>
            <a:lvl4pPr marL="514350" indent="0">
              <a:buNone/>
              <a:defRPr/>
            </a:lvl4pPr>
            <a:lvl5pPr marL="514350" indent="0">
              <a:buNone/>
              <a:defRPr/>
            </a:lvl5pPr>
          </a:lstStyle>
          <a:p>
            <a:pPr lvl="0"/>
            <a:r>
              <a:rPr lang="en-US" dirty="0"/>
              <a:t>Speaker name</a:t>
            </a:r>
          </a:p>
        </p:txBody>
      </p:sp>
      <p:sp>
        <p:nvSpPr>
          <p:cNvPr id="5" name="Text Placeholder 4">
            <a:extLst>
              <a:ext uri="{FF2B5EF4-FFF2-40B4-BE49-F238E27FC236}">
                <a16:creationId xmlns:a16="http://schemas.microsoft.com/office/drawing/2014/main" id="{A98773FF-A575-4D5D-AC30-DAFFB441F795}"/>
              </a:ext>
            </a:extLst>
          </p:cNvPr>
          <p:cNvSpPr>
            <a:spLocks noGrp="1"/>
          </p:cNvSpPr>
          <p:nvPr>
            <p:ph type="body" sz="quarter" idx="15" hasCustomPrompt="1"/>
          </p:nvPr>
        </p:nvSpPr>
        <p:spPr>
          <a:xfrm>
            <a:off x="4452399" y="3519635"/>
            <a:ext cx="1996027" cy="300082"/>
          </a:xfrm>
        </p:spPr>
        <p:txBody>
          <a:bodyPr/>
          <a:lstStyle>
            <a:lvl1pPr marL="0" indent="0">
              <a:buNone/>
              <a:defRPr sz="1500" b="1"/>
            </a:lvl1pPr>
          </a:lstStyle>
          <a:p>
            <a:pPr lvl="0"/>
            <a:r>
              <a:rPr lang="en-US" dirty="0"/>
              <a:t>Speaker name</a:t>
            </a:r>
          </a:p>
        </p:txBody>
      </p:sp>
      <p:sp>
        <p:nvSpPr>
          <p:cNvPr id="17" name="Text Placeholder 15">
            <a:extLst>
              <a:ext uri="{FF2B5EF4-FFF2-40B4-BE49-F238E27FC236}">
                <a16:creationId xmlns:a16="http://schemas.microsoft.com/office/drawing/2014/main" id="{E8B14D59-1495-4288-ACD8-22C48054FD10}"/>
              </a:ext>
            </a:extLst>
          </p:cNvPr>
          <p:cNvSpPr>
            <a:spLocks noGrp="1"/>
          </p:cNvSpPr>
          <p:nvPr>
            <p:ph type="body" sz="quarter" idx="16" hasCustomPrompt="1"/>
          </p:nvPr>
        </p:nvSpPr>
        <p:spPr>
          <a:xfrm>
            <a:off x="2347293" y="3800180"/>
            <a:ext cx="1996027" cy="590931"/>
          </a:xfrm>
        </p:spPr>
        <p:txBody>
          <a:bodyPr/>
          <a:lstStyle>
            <a:lvl1pPr marL="0" indent="0">
              <a:spcAft>
                <a:spcPts val="225"/>
              </a:spcAft>
              <a:buNone/>
              <a:defRPr sz="1200"/>
            </a:lvl1pPr>
            <a:lvl2pPr marL="171450" indent="0">
              <a:buNone/>
              <a:defRPr/>
            </a:lvl2pPr>
            <a:lvl3pPr marL="342900" indent="0">
              <a:buNone/>
              <a:defRPr/>
            </a:lvl3pPr>
            <a:lvl4pPr marL="514350" indent="0">
              <a:buNone/>
              <a:defRPr/>
            </a:lvl4pPr>
            <a:lvl5pPr marL="514350" indent="0">
              <a:buNone/>
              <a:defRPr/>
            </a:lvl5pPr>
          </a:lstStyle>
          <a:p>
            <a:pPr lvl="0"/>
            <a:r>
              <a:rPr lang="en-US" dirty="0"/>
              <a:t>(pronouns)</a:t>
            </a:r>
            <a:br>
              <a:rPr lang="en-US" dirty="0"/>
            </a:br>
            <a:r>
              <a:rPr lang="en-US" dirty="0"/>
              <a:t>Job title</a:t>
            </a:r>
            <a:br>
              <a:rPr lang="en-US" dirty="0"/>
            </a:br>
            <a:r>
              <a:rPr lang="en-US" dirty="0"/>
              <a:t>Company</a:t>
            </a:r>
          </a:p>
        </p:txBody>
      </p:sp>
      <p:sp>
        <p:nvSpPr>
          <p:cNvPr id="18" name="Text Placeholder 15">
            <a:extLst>
              <a:ext uri="{FF2B5EF4-FFF2-40B4-BE49-F238E27FC236}">
                <a16:creationId xmlns:a16="http://schemas.microsoft.com/office/drawing/2014/main" id="{ACBDE7C4-64AF-4CA5-A203-DC58B71673A5}"/>
              </a:ext>
            </a:extLst>
          </p:cNvPr>
          <p:cNvSpPr>
            <a:spLocks noGrp="1"/>
          </p:cNvSpPr>
          <p:nvPr>
            <p:ph type="body" sz="quarter" idx="17" hasCustomPrompt="1"/>
          </p:nvPr>
        </p:nvSpPr>
        <p:spPr>
          <a:xfrm>
            <a:off x="4452399" y="3800180"/>
            <a:ext cx="1996027" cy="590931"/>
          </a:xfrm>
        </p:spPr>
        <p:txBody>
          <a:bodyPr/>
          <a:lstStyle>
            <a:lvl1pPr marL="0" indent="0">
              <a:spcAft>
                <a:spcPts val="225"/>
              </a:spcAft>
              <a:buNone/>
              <a:defRPr sz="1200"/>
            </a:lvl1pPr>
            <a:lvl2pPr marL="171450" indent="0">
              <a:buNone/>
              <a:defRPr/>
            </a:lvl2pPr>
            <a:lvl3pPr marL="342900" indent="0">
              <a:buNone/>
              <a:defRPr/>
            </a:lvl3pPr>
            <a:lvl4pPr marL="514350" indent="0">
              <a:buNone/>
              <a:defRPr/>
            </a:lvl4pPr>
            <a:lvl5pPr marL="514350" indent="0">
              <a:buNone/>
              <a:defRPr/>
            </a:lvl5pPr>
          </a:lstStyle>
          <a:p>
            <a:pPr lvl="0"/>
            <a:r>
              <a:rPr lang="en-US" dirty="0"/>
              <a:t>(pronouns)</a:t>
            </a:r>
            <a:br>
              <a:rPr lang="en-US" dirty="0"/>
            </a:br>
            <a:r>
              <a:rPr lang="en-US" dirty="0"/>
              <a:t>Job title</a:t>
            </a:r>
            <a:br>
              <a:rPr lang="en-US" dirty="0"/>
            </a:br>
            <a:r>
              <a:rPr lang="en-US" dirty="0"/>
              <a:t>Company</a:t>
            </a:r>
          </a:p>
        </p:txBody>
      </p:sp>
      <p:pic>
        <p:nvPicPr>
          <p:cNvPr id="15" name="Picture 14">
            <a:extLst>
              <a:ext uri="{FF2B5EF4-FFF2-40B4-BE49-F238E27FC236}">
                <a16:creationId xmlns:a16="http://schemas.microsoft.com/office/drawing/2014/main" id="{A06CB43E-FDA1-4D97-9EDD-CEF236C9633A}"/>
              </a:ext>
            </a:extLst>
          </p:cNvPr>
          <p:cNvPicPr>
            <a:picLocks noChangeAspect="1"/>
          </p:cNvPicPr>
          <p:nvPr userDrawn="1"/>
        </p:nvPicPr>
        <p:blipFill>
          <a:blip r:embed="rId3"/>
          <a:srcRect/>
          <a:stretch/>
        </p:blipFill>
        <p:spPr>
          <a:xfrm>
            <a:off x="219376" y="4821496"/>
            <a:ext cx="291614" cy="164694"/>
          </a:xfrm>
          <a:prstGeom prst="rect">
            <a:avLst/>
          </a:prstGeom>
        </p:spPr>
      </p:pic>
    </p:spTree>
    <p:extLst>
      <p:ext uri="{BB962C8B-B14F-4D97-AF65-F5344CB8AC3E}">
        <p14:creationId xmlns:p14="http://schemas.microsoft.com/office/powerpoint/2010/main" val="2430526534"/>
      </p:ext>
    </p:extLst>
  </p:cSld>
  <p:clrMapOvr>
    <a:masterClrMapping/>
  </p:clrMapOvr>
  <p:transition>
    <p:fade/>
  </p:transition>
  <p:extLst>
    <p:ext uri="{DCECCB84-F9BA-43D5-87BE-67443E8EF086}">
      <p15:sldGuideLst xmlns:p15="http://schemas.microsoft.com/office/powerpoint/2012/main">
        <p15:guide id="1" pos="216">
          <p15:clr>
            <a:srgbClr val="FBAE40"/>
          </p15:clr>
        </p15:guide>
        <p15:guide id="2" orient="horz" pos="2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9E09F29F-FB70-4479-9632-85DE314617E2}"/>
              </a:ext>
            </a:extLst>
          </p:cNvPr>
          <p:cNvSpPr>
            <a:spLocks noGrp="1"/>
          </p:cNvSpPr>
          <p:nvPr>
            <p:ph type="body" sz="quarter" idx="10" hasCustomPrompt="1"/>
          </p:nvPr>
        </p:nvSpPr>
        <p:spPr>
          <a:xfrm>
            <a:off x="228600" y="1114426"/>
            <a:ext cx="8686800" cy="2726387"/>
          </a:xfrm>
        </p:spPr>
        <p:txBody>
          <a:bodyPr vert="horz" lIns="0" tIns="45720" rIns="0" bIns="45720" rtlCol="0">
            <a:spAutoFit/>
          </a:bodyPr>
          <a:lstStyle>
            <a:lvl1pPr marL="0" indent="0">
              <a:spcAft>
                <a:spcPts val="2250"/>
              </a:spcAft>
              <a:buNone/>
              <a:defRPr lang="en-US" smtClean="0"/>
            </a:lvl1pPr>
            <a:lvl2pPr marL="0" indent="0">
              <a:spcAft>
                <a:spcPts val="2250"/>
              </a:spcAft>
              <a:buNone/>
              <a:defRPr lang="en-US" sz="2100" smtClean="0"/>
            </a:lvl2pPr>
            <a:lvl3pPr marL="0" indent="0">
              <a:spcAft>
                <a:spcPts val="2250"/>
              </a:spcAft>
              <a:buNone/>
              <a:defRPr lang="en-US" sz="2100" smtClean="0"/>
            </a:lvl3pPr>
            <a:lvl4pPr marL="0" indent="0">
              <a:spcAft>
                <a:spcPts val="2250"/>
              </a:spcAft>
              <a:buNone/>
              <a:defRPr lang="en-US" sz="2100" smtClean="0"/>
            </a:lvl4pPr>
            <a:lvl5pPr marL="0" indent="0">
              <a:spcAft>
                <a:spcPts val="2250"/>
              </a:spcAft>
              <a:buNone/>
              <a:defRPr lang="en-US" sz="2100"/>
            </a:lvl5pPr>
          </a:lstStyle>
          <a:p>
            <a:pPr marL="171450" lvl="0" indent="-171450">
              <a:spcAft>
                <a:spcPts val="2250"/>
              </a:spcAft>
              <a:buClr>
                <a:schemeClr val="tx1"/>
              </a:buClr>
            </a:pPr>
            <a:r>
              <a:rPr lang="en-US" dirty="0"/>
              <a:t>Enter agenda items</a:t>
            </a:r>
          </a:p>
          <a:p>
            <a:pPr marL="342900" lvl="1" indent="-342900">
              <a:spcAft>
                <a:spcPts val="2250"/>
              </a:spcAft>
              <a:buClr>
                <a:schemeClr val="tx1"/>
              </a:buClr>
            </a:pPr>
            <a:r>
              <a:rPr lang="en-US" dirty="0"/>
              <a:t>Second level</a:t>
            </a:r>
          </a:p>
          <a:p>
            <a:pPr marL="342900" lvl="2" indent="-342900">
              <a:spcAft>
                <a:spcPts val="2250"/>
              </a:spcAft>
              <a:buClr>
                <a:schemeClr val="tx1"/>
              </a:buClr>
            </a:pPr>
            <a:r>
              <a:rPr lang="en-US" dirty="0"/>
              <a:t>Third level</a:t>
            </a:r>
          </a:p>
          <a:p>
            <a:pPr marL="342900" lvl="3" indent="-342900">
              <a:spcAft>
                <a:spcPts val="2250"/>
              </a:spcAft>
              <a:buClr>
                <a:schemeClr val="tx1"/>
              </a:buClr>
            </a:pPr>
            <a:r>
              <a:rPr lang="en-US" dirty="0"/>
              <a:t>Fourth level</a:t>
            </a:r>
          </a:p>
          <a:p>
            <a:pPr marL="342900" lvl="4" indent="-342900">
              <a:spcAft>
                <a:spcPts val="2250"/>
              </a:spcAft>
              <a:buClr>
                <a:schemeClr val="tx1"/>
              </a:buClr>
            </a:pPr>
            <a:r>
              <a:rPr lang="en-US" dirty="0"/>
              <a:t>Fifth level</a:t>
            </a:r>
          </a:p>
        </p:txBody>
      </p:sp>
      <p:sp>
        <p:nvSpPr>
          <p:cNvPr id="5" name="Title 1">
            <a:extLst>
              <a:ext uri="{FF2B5EF4-FFF2-40B4-BE49-F238E27FC236}">
                <a16:creationId xmlns:a16="http://schemas.microsoft.com/office/drawing/2014/main" id="{A175166B-DC8C-4D02-820A-E0D358716306}"/>
              </a:ext>
            </a:extLst>
          </p:cNvPr>
          <p:cNvSpPr>
            <a:spLocks noGrp="1"/>
          </p:cNvSpPr>
          <p:nvPr>
            <p:ph type="title" hasCustomPrompt="1"/>
          </p:nvPr>
        </p:nvSpPr>
        <p:spPr>
          <a:xfrm>
            <a:off x="228600" y="228601"/>
            <a:ext cx="8686800" cy="478631"/>
          </a:xfrm>
        </p:spPr>
        <p:txBody>
          <a:bodyPr/>
          <a:lstStyle>
            <a:lvl1pPr>
              <a:defRPr/>
            </a:lvl1pPr>
          </a:lstStyle>
          <a:p>
            <a:r>
              <a:rPr lang="en-US" dirty="0"/>
              <a:t>Agenda layout</a:t>
            </a:r>
          </a:p>
        </p:txBody>
      </p:sp>
      <p:pic>
        <p:nvPicPr>
          <p:cNvPr id="7" name="Picture 6">
            <a:extLst>
              <a:ext uri="{FF2B5EF4-FFF2-40B4-BE49-F238E27FC236}">
                <a16:creationId xmlns:a16="http://schemas.microsoft.com/office/drawing/2014/main" id="{D4BF8F3F-C59D-447F-A18C-4F458C5EF4A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3491395800"/>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p:txBody>
          <a:bodyPr/>
          <a:lstStyle>
            <a:lvl1pPr>
              <a:defRPr/>
            </a:lvl1pPr>
          </a:lstStyle>
          <a:p>
            <a:r>
              <a:rPr lang="en-US" dirty="0"/>
              <a:t>Title only layout</a:t>
            </a:r>
          </a:p>
        </p:txBody>
      </p:sp>
      <p:pic>
        <p:nvPicPr>
          <p:cNvPr id="5" name="Picture 4">
            <a:extLst>
              <a:ext uri="{FF2B5EF4-FFF2-40B4-BE49-F238E27FC236}">
                <a16:creationId xmlns:a16="http://schemas.microsoft.com/office/drawing/2014/main" id="{402F0F9B-4E5D-4C0C-B506-59FB29965EB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187865916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with Ar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85508CC-A87F-2A21-7F3F-FB806711076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p:txBody>
          <a:bodyPr/>
          <a:lstStyle>
            <a:lvl1pPr>
              <a:defRPr/>
            </a:lvl1pPr>
          </a:lstStyle>
          <a:p>
            <a:r>
              <a:rPr lang="en-US" dirty="0"/>
              <a:t>Title only layout with art</a:t>
            </a:r>
          </a:p>
        </p:txBody>
      </p:sp>
      <p:sp>
        <p:nvSpPr>
          <p:cNvPr id="5" name="TextBox 3">
            <a:extLst>
              <a:ext uri="{FF2B5EF4-FFF2-40B4-BE49-F238E27FC236}">
                <a16:creationId xmlns:a16="http://schemas.microsoft.com/office/drawing/2014/main" id="{84A0FAA4-F370-4554-963C-0621DBAE900C}"/>
              </a:ext>
            </a:extLst>
          </p:cNvPr>
          <p:cNvSpPr txBox="1">
            <a:spLocks noChangeArrowheads="1"/>
          </p:cNvSpPr>
          <p:nvPr userDrawn="1"/>
        </p:nvSpPr>
        <p:spPr bwMode="white">
          <a:xfrm>
            <a:off x="826155" y="4857640"/>
            <a:ext cx="2971800" cy="80791"/>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822909" eaLnBrk="1" fontAlgn="auto" hangingPunct="1">
              <a:spcBef>
                <a:spcPts val="0"/>
              </a:spcBef>
              <a:spcAft>
                <a:spcPts val="0"/>
              </a:spcAft>
              <a:defRPr/>
            </a:pPr>
            <a:r>
              <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pic>
        <p:nvPicPr>
          <p:cNvPr id="6" name="Picture 5">
            <a:extLst>
              <a:ext uri="{FF2B5EF4-FFF2-40B4-BE49-F238E27FC236}">
                <a16:creationId xmlns:a16="http://schemas.microsoft.com/office/drawing/2014/main" id="{8DD82C82-FAA4-4457-8019-A527148D48D6}"/>
              </a:ext>
            </a:extLst>
          </p:cNvPr>
          <p:cNvPicPr>
            <a:picLocks noChangeAspect="1"/>
          </p:cNvPicPr>
          <p:nvPr userDrawn="1"/>
        </p:nvPicPr>
        <p:blipFill>
          <a:blip r:embed="rId3"/>
          <a:srcRect/>
          <a:stretch/>
        </p:blipFill>
        <p:spPr>
          <a:xfrm>
            <a:off x="219376" y="4821496"/>
            <a:ext cx="291614" cy="164694"/>
          </a:xfrm>
          <a:prstGeom prst="rect">
            <a:avLst/>
          </a:prstGeom>
        </p:spPr>
      </p:pic>
    </p:spTree>
    <p:extLst>
      <p:ext uri="{BB962C8B-B14F-4D97-AF65-F5344CB8AC3E}">
        <p14:creationId xmlns:p14="http://schemas.microsoft.com/office/powerpoint/2010/main" val="209565099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p:txBody>
          <a:bodyPr/>
          <a:lstStyle>
            <a:lvl1pPr>
              <a:defRPr/>
            </a:lvl1pPr>
          </a:lstStyle>
          <a:p>
            <a:r>
              <a:rPr lang="en-US" dirty="0"/>
              <a:t>Title and subtitle layout</a:t>
            </a:r>
          </a:p>
        </p:txBody>
      </p:sp>
      <p:sp>
        <p:nvSpPr>
          <p:cNvPr id="4" name="Text Placeholder 3">
            <a:extLst>
              <a:ext uri="{FF2B5EF4-FFF2-40B4-BE49-F238E27FC236}">
                <a16:creationId xmlns:a16="http://schemas.microsoft.com/office/drawing/2014/main" id="{A602579A-F003-4256-9071-88F3CD2BA3E7}"/>
              </a:ext>
            </a:extLst>
          </p:cNvPr>
          <p:cNvSpPr>
            <a:spLocks noGrp="1"/>
          </p:cNvSpPr>
          <p:nvPr>
            <p:ph type="body" sz="quarter" idx="10" hasCustomPrompt="1"/>
          </p:nvPr>
        </p:nvSpPr>
        <p:spPr>
          <a:xfrm>
            <a:off x="228600" y="750094"/>
            <a:ext cx="8686800" cy="230832"/>
          </a:xfrm>
        </p:spPr>
        <p:txBody>
          <a:bodyPr/>
          <a:lstStyle>
            <a:lvl1pPr marL="0" indent="0">
              <a:lnSpc>
                <a:spcPct val="100000"/>
              </a:lnSpc>
              <a:spcAft>
                <a:spcPts val="900"/>
              </a:spcAft>
              <a:buNone/>
              <a:defRPr sz="900" b="1" cap="all" spc="225" baseline="0">
                <a:solidFill>
                  <a:schemeClr val="accent1"/>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pic>
        <p:nvPicPr>
          <p:cNvPr id="6" name="Picture 5">
            <a:extLst>
              <a:ext uri="{FF2B5EF4-FFF2-40B4-BE49-F238E27FC236}">
                <a16:creationId xmlns:a16="http://schemas.microsoft.com/office/drawing/2014/main" id="{EAC6A24E-644A-47D1-A743-FAAB09271A7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1326272359"/>
      </p:ext>
    </p:extLst>
  </p:cSld>
  <p:clrMapOvr>
    <a:masterClrMapping/>
  </p:clrMapOvr>
  <p:transition>
    <p:fade/>
  </p:transition>
  <p:extLst>
    <p:ext uri="{DCECCB84-F9BA-43D5-87BE-67443E8EF086}">
      <p15:sldGuideLst xmlns:p15="http://schemas.microsoft.com/office/powerpoint/2012/main">
        <p15:guide id="1" pos="216">
          <p15:clr>
            <a:srgbClr val="FBAE40"/>
          </p15:clr>
        </p15:guide>
        <p15:guide id="2" orient="horz" pos="62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F73FA-018C-42B4-99E2-A1521E83ABDD}"/>
              </a:ext>
            </a:extLst>
          </p:cNvPr>
          <p:cNvSpPr>
            <a:spLocks noGrp="1"/>
          </p:cNvSpPr>
          <p:nvPr>
            <p:ph type="title" hasCustomPrompt="1"/>
          </p:nvPr>
        </p:nvSpPr>
        <p:spPr>
          <a:xfrm>
            <a:off x="0" y="-485775"/>
            <a:ext cx="8943975" cy="478631"/>
          </a:xfrm>
        </p:spPr>
        <p:txBody>
          <a:bodyPr/>
          <a:lstStyle>
            <a:lvl1pPr>
              <a:defRPr sz="2700">
                <a:solidFill>
                  <a:schemeClr val="bg1">
                    <a:lumMod val="65000"/>
                    <a:lumOff val="35000"/>
                  </a:schemeClr>
                </a:solidFill>
              </a:defRPr>
            </a:lvl1pPr>
          </a:lstStyle>
          <a:p>
            <a:r>
              <a:rPr lang="en-US" dirty="0"/>
              <a:t>Blank layout (enter descriptive title here for accessibility)</a:t>
            </a:r>
          </a:p>
        </p:txBody>
      </p:sp>
      <p:pic>
        <p:nvPicPr>
          <p:cNvPr id="4" name="Picture 3">
            <a:extLst>
              <a:ext uri="{FF2B5EF4-FFF2-40B4-BE49-F238E27FC236}">
                <a16:creationId xmlns:a16="http://schemas.microsoft.com/office/drawing/2014/main" id="{28547A17-167C-4B7C-9EB3-78A50E0839D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142385664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F9B2D-B36B-40AC-9254-12739BCD5930}"/>
              </a:ext>
            </a:extLst>
          </p:cNvPr>
          <p:cNvSpPr>
            <a:spLocks noGrp="1"/>
          </p:cNvSpPr>
          <p:nvPr>
            <p:ph type="title" hasCustomPrompt="1"/>
          </p:nvPr>
        </p:nvSpPr>
        <p:spPr/>
        <p:txBody>
          <a:bodyPr/>
          <a:lstStyle>
            <a:lvl1pPr>
              <a:defRPr/>
            </a:lvl1pPr>
          </a:lstStyle>
          <a:p>
            <a:r>
              <a:rPr lang="en-US" dirty="0"/>
              <a:t>Title and content layout</a:t>
            </a:r>
          </a:p>
        </p:txBody>
      </p:sp>
      <p:sp>
        <p:nvSpPr>
          <p:cNvPr id="3" name="Content Placeholder 2">
            <a:extLst>
              <a:ext uri="{FF2B5EF4-FFF2-40B4-BE49-F238E27FC236}">
                <a16:creationId xmlns:a16="http://schemas.microsoft.com/office/drawing/2014/main" id="{704FFD8E-0DC3-4B8E-8C49-6A0F23E3D239}"/>
              </a:ext>
            </a:extLst>
          </p:cNvPr>
          <p:cNvSpPr>
            <a:spLocks noGrp="1"/>
          </p:cNvSpPr>
          <p:nvPr>
            <p:ph idx="1" hasCustomPrompt="1"/>
          </p:nvPr>
        </p:nvSpPr>
        <p:spPr/>
        <p:txBody>
          <a:bodyPr/>
          <a:lstStyle>
            <a:lvl1pPr marL="0" indent="0">
              <a:buNone/>
              <a:defRPr/>
            </a:lvl1pPr>
            <a:lvl2pPr marL="171450" indent="0">
              <a:buNone/>
              <a:defRPr/>
            </a:lvl2pPr>
            <a:lvl3pPr marL="342900" indent="0">
              <a:buNone/>
              <a:defRPr/>
            </a:lvl3pPr>
            <a:lvl4pPr marL="514350" indent="0">
              <a:buNone/>
              <a:defRPr/>
            </a:lvl4pPr>
            <a:lvl5pPr marL="51435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0D7547C9-19DE-47C5-B92E-D961CE0CDE7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2221402132"/>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DEF8F-3F3F-4176-AAC6-6F214D9A9558}"/>
              </a:ext>
            </a:extLst>
          </p:cNvPr>
          <p:cNvSpPr>
            <a:spLocks noGrp="1"/>
          </p:cNvSpPr>
          <p:nvPr>
            <p:ph type="title" hasCustomPrompt="1"/>
          </p:nvPr>
        </p:nvSpPr>
        <p:spPr>
          <a:xfrm>
            <a:off x="228600" y="228601"/>
            <a:ext cx="4229100" cy="478631"/>
          </a:xfrm>
        </p:spPr>
        <p:txBody>
          <a:bodyPr/>
          <a:lstStyle>
            <a:lvl1pPr>
              <a:defRPr/>
            </a:lvl1pPr>
          </a:lstStyle>
          <a:p>
            <a:r>
              <a:rPr lang="en-US" dirty="0"/>
              <a:t>Title, content, image</a:t>
            </a:r>
          </a:p>
        </p:txBody>
      </p:sp>
      <p:sp>
        <p:nvSpPr>
          <p:cNvPr id="9" name="Picture Placeholder 8">
            <a:extLst>
              <a:ext uri="{FF2B5EF4-FFF2-40B4-BE49-F238E27FC236}">
                <a16:creationId xmlns:a16="http://schemas.microsoft.com/office/drawing/2014/main" id="{14F48D58-FFF9-4D88-86EA-5381B3B4300A}"/>
              </a:ext>
            </a:extLst>
          </p:cNvPr>
          <p:cNvSpPr>
            <a:spLocks noGrp="1"/>
          </p:cNvSpPr>
          <p:nvPr>
            <p:ph type="pic" sz="quarter" idx="14" hasCustomPrompt="1"/>
          </p:nvPr>
        </p:nvSpPr>
        <p:spPr>
          <a:xfrm>
            <a:off x="4686300" y="0"/>
            <a:ext cx="4457700" cy="5143500"/>
          </a:xfrm>
        </p:spPr>
        <p:txBody>
          <a:bodyPr anchor="ctr">
            <a:noAutofit/>
          </a:bodyPr>
          <a:lstStyle>
            <a:lvl1pPr marL="0" indent="0" algn="ctr">
              <a:buNone/>
              <a:defRPr sz="1350"/>
            </a:lvl1pPr>
          </a:lstStyle>
          <a:p>
            <a:r>
              <a:rPr lang="en-US" dirty="0"/>
              <a:t>Click icon to insert image, </a:t>
            </a:r>
            <a:br>
              <a:rPr lang="en-US" dirty="0"/>
            </a:br>
            <a:r>
              <a:rPr lang="en-US" dirty="0"/>
              <a:t>or select placeholder </a:t>
            </a:r>
            <a:br>
              <a:rPr lang="en-US" dirty="0"/>
            </a:br>
            <a:r>
              <a:rPr lang="en-US" dirty="0"/>
              <a:t>and paste image</a:t>
            </a:r>
          </a:p>
          <a:p>
            <a:endParaRPr lang="en-US" dirty="0"/>
          </a:p>
          <a:p>
            <a:endParaRPr lang="en-US" dirty="0"/>
          </a:p>
          <a:p>
            <a:endParaRPr lang="en-US" dirty="0"/>
          </a:p>
        </p:txBody>
      </p:sp>
      <p:sp>
        <p:nvSpPr>
          <p:cNvPr id="11" name="Content Placeholder 10">
            <a:extLst>
              <a:ext uri="{FF2B5EF4-FFF2-40B4-BE49-F238E27FC236}">
                <a16:creationId xmlns:a16="http://schemas.microsoft.com/office/drawing/2014/main" id="{815FDEA2-616E-44F0-9C9D-8C4D782AA50E}"/>
              </a:ext>
            </a:extLst>
          </p:cNvPr>
          <p:cNvSpPr>
            <a:spLocks noGrp="1"/>
          </p:cNvSpPr>
          <p:nvPr>
            <p:ph sz="quarter" idx="15" hasCustomPrompt="1"/>
          </p:nvPr>
        </p:nvSpPr>
        <p:spPr>
          <a:xfrm>
            <a:off x="228600" y="1114425"/>
            <a:ext cx="4229100" cy="3543300"/>
          </a:xfrm>
        </p:spPr>
        <p:txBody>
          <a:bodyPr>
            <a:noAutofit/>
          </a:bodyPr>
          <a:lstStyle>
            <a:lvl1pPr>
              <a:defRPr/>
            </a:lvl1pPr>
          </a:lstStyle>
          <a:p>
            <a:pPr lvl="0"/>
            <a:r>
              <a:rPr lang="en-US" dirty="0"/>
              <a:t>Enter slide content</a:t>
            </a:r>
          </a:p>
          <a:p>
            <a:pPr lvl="1"/>
            <a:r>
              <a:rPr lang="en-US" dirty="0"/>
              <a:t>Second level</a:t>
            </a:r>
          </a:p>
          <a:p>
            <a:pPr lvl="2"/>
            <a:r>
              <a:rPr lang="en-US" dirty="0"/>
              <a:t>Third level</a:t>
            </a:r>
          </a:p>
        </p:txBody>
      </p:sp>
      <p:pic>
        <p:nvPicPr>
          <p:cNvPr id="6" name="Picture 5">
            <a:extLst>
              <a:ext uri="{FF2B5EF4-FFF2-40B4-BE49-F238E27FC236}">
                <a16:creationId xmlns:a16="http://schemas.microsoft.com/office/drawing/2014/main" id="{692A2F1A-4E48-4381-8802-9890CF36A3A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2329130553"/>
      </p:ext>
    </p:extLst>
  </p:cSld>
  <p:clrMapOvr>
    <a:masterClrMapping/>
  </p:clrMapOvr>
  <p:transition>
    <p:fade/>
  </p:transition>
  <p:extLst>
    <p:ext uri="{DCECCB84-F9BA-43D5-87BE-67443E8EF086}">
      <p15:sldGuideLst xmlns:p15="http://schemas.microsoft.com/office/powerpoint/2012/main">
        <p15:guide id="1" pos="3744">
          <p15:clr>
            <a:srgbClr val="FBAE40"/>
          </p15:clr>
        </p15:guide>
        <p15:guide id="2" pos="39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17D87-D3C3-4EBC-8F18-A1178903C794}"/>
              </a:ext>
            </a:extLst>
          </p:cNvPr>
          <p:cNvSpPr>
            <a:spLocks noGrp="1"/>
          </p:cNvSpPr>
          <p:nvPr>
            <p:ph type="title" hasCustomPrompt="1"/>
          </p:nvPr>
        </p:nvSpPr>
        <p:spPr/>
        <p:txBody>
          <a:bodyPr/>
          <a:lstStyle>
            <a:lvl1pPr>
              <a:defRPr/>
            </a:lvl1pPr>
          </a:lstStyle>
          <a:p>
            <a:r>
              <a:rPr lang="en-US" dirty="0"/>
              <a:t>Title and bulleted content layout</a:t>
            </a:r>
          </a:p>
        </p:txBody>
      </p:sp>
      <p:sp>
        <p:nvSpPr>
          <p:cNvPr id="7" name="Content Placeholder 6">
            <a:extLst>
              <a:ext uri="{FF2B5EF4-FFF2-40B4-BE49-F238E27FC236}">
                <a16:creationId xmlns:a16="http://schemas.microsoft.com/office/drawing/2014/main" id="{EA6700F0-47BA-4878-9AD3-6E38759C53FE}"/>
              </a:ext>
            </a:extLst>
          </p:cNvPr>
          <p:cNvSpPr>
            <a:spLocks noGrp="1"/>
          </p:cNvSpPr>
          <p:nvPr>
            <p:ph sz="quarter" idx="13" hasCustomPrompt="1"/>
          </p:nvPr>
        </p:nvSpPr>
        <p:spPr>
          <a:xfrm>
            <a:off x="228600" y="1114425"/>
            <a:ext cx="8686800" cy="1573251"/>
          </a:xfrm>
        </p:spPr>
        <p:txBody>
          <a:bodyPr/>
          <a:lstStyle>
            <a:lvl1pPr>
              <a:defRPr/>
            </a:lvl1pPr>
          </a:lstStyle>
          <a:p>
            <a:pPr lvl="0"/>
            <a:r>
              <a:rPr lang="en-US" dirty="0"/>
              <a:t>Enter bulleted slide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77B27E33-F9A1-4B7E-98F2-95DDFC9626B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25731511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a:xfrm>
            <a:off x="228600" y="228601"/>
            <a:ext cx="8686800" cy="478631"/>
          </a:xfrm>
        </p:spPr>
        <p:txBody>
          <a:bodyPr/>
          <a:lstStyle>
            <a:lvl1pPr>
              <a:defRPr/>
            </a:lvl1pPr>
          </a:lstStyle>
          <a:p>
            <a:r>
              <a:rPr lang="en-US" dirty="0"/>
              <a:t>Title, subtitle, and content layout</a:t>
            </a:r>
          </a:p>
        </p:txBody>
      </p:sp>
      <p:sp>
        <p:nvSpPr>
          <p:cNvPr id="4" name="Text Placeholder 3">
            <a:extLst>
              <a:ext uri="{FF2B5EF4-FFF2-40B4-BE49-F238E27FC236}">
                <a16:creationId xmlns:a16="http://schemas.microsoft.com/office/drawing/2014/main" id="{A602579A-F003-4256-9071-88F3CD2BA3E7}"/>
              </a:ext>
            </a:extLst>
          </p:cNvPr>
          <p:cNvSpPr>
            <a:spLocks noGrp="1"/>
          </p:cNvSpPr>
          <p:nvPr>
            <p:ph type="body" sz="quarter" idx="10" hasCustomPrompt="1"/>
          </p:nvPr>
        </p:nvSpPr>
        <p:spPr>
          <a:xfrm>
            <a:off x="228600" y="750094"/>
            <a:ext cx="8686800" cy="230832"/>
          </a:xfrm>
        </p:spPr>
        <p:txBody>
          <a:bodyPr/>
          <a:lstStyle>
            <a:lvl1pPr marL="0" indent="0">
              <a:lnSpc>
                <a:spcPct val="100000"/>
              </a:lnSpc>
              <a:spcAft>
                <a:spcPts val="900"/>
              </a:spcAft>
              <a:buNone/>
              <a:defRPr sz="900" b="1" cap="all" spc="225" baseline="0">
                <a:solidFill>
                  <a:schemeClr val="accent1"/>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5" name="Content Placeholder 4">
            <a:extLst>
              <a:ext uri="{FF2B5EF4-FFF2-40B4-BE49-F238E27FC236}">
                <a16:creationId xmlns:a16="http://schemas.microsoft.com/office/drawing/2014/main" id="{DF57A7C1-7536-4D4B-BE66-71930AD49764}"/>
              </a:ext>
            </a:extLst>
          </p:cNvPr>
          <p:cNvSpPr>
            <a:spLocks noGrp="1"/>
          </p:cNvSpPr>
          <p:nvPr>
            <p:ph sz="quarter" idx="11" hasCustomPrompt="1"/>
          </p:nvPr>
        </p:nvSpPr>
        <p:spPr>
          <a:xfrm>
            <a:off x="228600" y="1285875"/>
            <a:ext cx="8686800" cy="1573251"/>
          </a:xfrm>
        </p:spPr>
        <p:txBody>
          <a:bodyPr/>
          <a:lstStyle>
            <a:lvl1pPr marL="0" indent="0">
              <a:buNone/>
              <a:defRPr/>
            </a:lvl1pPr>
            <a:lvl2pPr marL="171450" indent="0">
              <a:buNone/>
              <a:defRPr/>
            </a:lvl2pPr>
            <a:lvl3pPr marL="342900" indent="0">
              <a:buNone/>
              <a:defRPr/>
            </a:lvl3pPr>
            <a:lvl4pPr marL="514350" indent="0">
              <a:buNone/>
              <a:defRPr/>
            </a:lvl4pPr>
            <a:lvl5pPr marL="51435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a:extLst>
              <a:ext uri="{FF2B5EF4-FFF2-40B4-BE49-F238E27FC236}">
                <a16:creationId xmlns:a16="http://schemas.microsoft.com/office/drawing/2014/main" id="{12F640AB-C306-447F-B13B-6F1737B84D2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2497368228"/>
      </p:ext>
    </p:extLst>
  </p:cSld>
  <p:clrMapOvr>
    <a:masterClrMapping/>
  </p:clrMapOvr>
  <p:transition>
    <p:fade/>
  </p:transition>
  <p:extLst>
    <p:ext uri="{DCECCB84-F9BA-43D5-87BE-67443E8EF086}">
      <p15:sldGuideLst xmlns:p15="http://schemas.microsoft.com/office/powerpoint/2012/main">
        <p15:guide id="1" pos="216">
          <p15:clr>
            <a:srgbClr val="FBAE40"/>
          </p15:clr>
        </p15:guide>
        <p15:guide id="2" orient="horz" pos="624">
          <p15:clr>
            <a:srgbClr val="FBAE40"/>
          </p15:clr>
        </p15:guide>
        <p15:guide id="3" orient="horz" pos="1272">
          <p15:clr>
            <a:srgbClr val="9FCC3B"/>
          </p15:clr>
        </p15:guide>
        <p15:guide id="4" orient="horz" pos="10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a:xfrm>
            <a:off x="228600" y="228601"/>
            <a:ext cx="8686800" cy="478631"/>
          </a:xfrm>
        </p:spPr>
        <p:txBody>
          <a:bodyPr/>
          <a:lstStyle>
            <a:lvl1pPr>
              <a:defRPr/>
            </a:lvl1pPr>
          </a:lstStyle>
          <a:p>
            <a:r>
              <a:rPr lang="en-US" dirty="0"/>
              <a:t>Title, subtitle, and bulleted content layout</a:t>
            </a:r>
          </a:p>
        </p:txBody>
      </p:sp>
      <p:sp>
        <p:nvSpPr>
          <p:cNvPr id="4" name="Text Placeholder 3">
            <a:extLst>
              <a:ext uri="{FF2B5EF4-FFF2-40B4-BE49-F238E27FC236}">
                <a16:creationId xmlns:a16="http://schemas.microsoft.com/office/drawing/2014/main" id="{A602579A-F003-4256-9071-88F3CD2BA3E7}"/>
              </a:ext>
            </a:extLst>
          </p:cNvPr>
          <p:cNvSpPr>
            <a:spLocks noGrp="1"/>
          </p:cNvSpPr>
          <p:nvPr>
            <p:ph type="body" sz="quarter" idx="10" hasCustomPrompt="1"/>
          </p:nvPr>
        </p:nvSpPr>
        <p:spPr>
          <a:xfrm>
            <a:off x="228600" y="750094"/>
            <a:ext cx="8686800" cy="230832"/>
          </a:xfrm>
        </p:spPr>
        <p:txBody>
          <a:bodyPr/>
          <a:lstStyle>
            <a:lvl1pPr marL="0" indent="0">
              <a:lnSpc>
                <a:spcPct val="100000"/>
              </a:lnSpc>
              <a:spcAft>
                <a:spcPts val="900"/>
              </a:spcAft>
              <a:buNone/>
              <a:defRPr sz="900" b="1" cap="all" spc="225" baseline="0">
                <a:solidFill>
                  <a:schemeClr val="accent1"/>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6" name="Content Placeholder 5">
            <a:extLst>
              <a:ext uri="{FF2B5EF4-FFF2-40B4-BE49-F238E27FC236}">
                <a16:creationId xmlns:a16="http://schemas.microsoft.com/office/drawing/2014/main" id="{7434AC24-E85E-407F-973E-699BC706DC81}"/>
              </a:ext>
            </a:extLst>
          </p:cNvPr>
          <p:cNvSpPr>
            <a:spLocks noGrp="1"/>
          </p:cNvSpPr>
          <p:nvPr>
            <p:ph sz="quarter" idx="11" hasCustomPrompt="1"/>
          </p:nvPr>
        </p:nvSpPr>
        <p:spPr>
          <a:xfrm>
            <a:off x="228600" y="1285875"/>
            <a:ext cx="8686800" cy="1573251"/>
          </a:xfrm>
        </p:spPr>
        <p:txBody>
          <a:bodyPr/>
          <a:lstStyle>
            <a:lvl1pPr>
              <a:defRPr/>
            </a:lvl1pPr>
          </a:lstStyle>
          <a:p>
            <a:pPr lvl="0"/>
            <a:r>
              <a:rPr lang="en-US" dirty="0"/>
              <a:t>Enter bulleted slide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a:extLst>
              <a:ext uri="{FF2B5EF4-FFF2-40B4-BE49-F238E27FC236}">
                <a16:creationId xmlns:a16="http://schemas.microsoft.com/office/drawing/2014/main" id="{54BF271B-9304-419B-B9A2-7C100288685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195775886"/>
      </p:ext>
    </p:extLst>
  </p:cSld>
  <p:clrMapOvr>
    <a:masterClrMapping/>
  </p:clrMapOvr>
  <p:transition>
    <p:fade/>
  </p:transition>
  <p:extLst>
    <p:ext uri="{DCECCB84-F9BA-43D5-87BE-67443E8EF086}">
      <p15:sldGuideLst xmlns:p15="http://schemas.microsoft.com/office/powerpoint/2012/main">
        <p15:guide id="1" pos="216">
          <p15:clr>
            <a:srgbClr val="FBAE40"/>
          </p15:clr>
        </p15:guide>
        <p15:guide id="2" orient="horz" pos="624">
          <p15:clr>
            <a:srgbClr val="FBAE40"/>
          </p15:clr>
        </p15:guide>
        <p15:guide id="3" orient="horz" pos="1272">
          <p15:clr>
            <a:srgbClr val="9FCC3B"/>
          </p15:clr>
        </p15:guide>
        <p15:guide id="4" orient="horz" pos="10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FE80-980F-4BC9-94C9-A90DD04139E5}"/>
              </a:ext>
            </a:extLst>
          </p:cNvPr>
          <p:cNvSpPr>
            <a:spLocks noGrp="1"/>
          </p:cNvSpPr>
          <p:nvPr>
            <p:ph type="title" hasCustomPrompt="1"/>
          </p:nvPr>
        </p:nvSpPr>
        <p:spPr/>
        <p:txBody>
          <a:bodyPr/>
          <a:lstStyle>
            <a:lvl1pPr>
              <a:defRPr/>
            </a:lvl1pPr>
          </a:lstStyle>
          <a:p>
            <a:r>
              <a:rPr lang="en-US" dirty="0"/>
              <a:t>Two-column layout</a:t>
            </a:r>
          </a:p>
        </p:txBody>
      </p:sp>
      <p:sp>
        <p:nvSpPr>
          <p:cNvPr id="3" name="Content Placeholder 2">
            <a:extLst>
              <a:ext uri="{FF2B5EF4-FFF2-40B4-BE49-F238E27FC236}">
                <a16:creationId xmlns:a16="http://schemas.microsoft.com/office/drawing/2014/main" id="{A62328A3-F00F-4DC0-B02A-392A2AB97F8A}"/>
              </a:ext>
            </a:extLst>
          </p:cNvPr>
          <p:cNvSpPr>
            <a:spLocks noGrp="1"/>
          </p:cNvSpPr>
          <p:nvPr>
            <p:ph sz="half" idx="1" hasCustomPrompt="1"/>
          </p:nvPr>
        </p:nvSpPr>
        <p:spPr>
          <a:xfrm>
            <a:off x="228600" y="1114425"/>
            <a:ext cx="4257675" cy="1573251"/>
          </a:xfrm>
        </p:spPr>
        <p:txBody>
          <a:bodyPr/>
          <a:lstStyle>
            <a:lvl1pPr marL="0" indent="0">
              <a:buNone/>
              <a:defRPr/>
            </a:lvl1pPr>
            <a:lvl2pPr marL="171450" indent="0">
              <a:buNone/>
              <a:defRPr/>
            </a:lvl2pPr>
            <a:lvl3pPr marL="342900" indent="0">
              <a:buNone/>
              <a:defRPr/>
            </a:lvl3pPr>
            <a:lvl4pPr marL="514350" indent="0">
              <a:buNone/>
              <a:defRPr/>
            </a:lvl4pPr>
            <a:lvl5pPr marL="51435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2E00FB0-23B9-4CB2-8C87-2533F333654B}"/>
              </a:ext>
            </a:extLst>
          </p:cNvPr>
          <p:cNvSpPr>
            <a:spLocks noGrp="1"/>
          </p:cNvSpPr>
          <p:nvPr>
            <p:ph sz="half" idx="2" hasCustomPrompt="1"/>
          </p:nvPr>
        </p:nvSpPr>
        <p:spPr>
          <a:xfrm>
            <a:off x="4657725" y="1114425"/>
            <a:ext cx="4257675" cy="1573251"/>
          </a:xfrm>
        </p:spPr>
        <p:txBody>
          <a:bodyPr/>
          <a:lstStyle>
            <a:lvl1pPr marL="0" indent="0">
              <a:buNone/>
              <a:defRPr/>
            </a:lvl1pPr>
            <a:lvl2pPr marL="171450" indent="0">
              <a:buNone/>
              <a:defRPr/>
            </a:lvl2pPr>
            <a:lvl3pPr marL="342900" indent="0">
              <a:buNone/>
              <a:defRPr/>
            </a:lvl3pPr>
            <a:lvl4pPr marL="514350" indent="0">
              <a:buNone/>
              <a:defRPr/>
            </a:lvl4pPr>
            <a:lvl5pPr marL="51435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a:extLst>
              <a:ext uri="{FF2B5EF4-FFF2-40B4-BE49-F238E27FC236}">
                <a16:creationId xmlns:a16="http://schemas.microsoft.com/office/drawing/2014/main" id="{7B403FA8-4F51-4E88-9613-94CE32CA377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899753792"/>
      </p:ext>
    </p:extLst>
  </p:cSld>
  <p:clrMapOvr>
    <a:masterClrMapping/>
  </p:clrMapOvr>
  <p:transition>
    <p:fade/>
  </p:transition>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a:xfrm>
            <a:off x="228600" y="228601"/>
            <a:ext cx="8686800" cy="478631"/>
          </a:xfrm>
        </p:spPr>
        <p:txBody>
          <a:bodyPr/>
          <a:lstStyle>
            <a:lvl1pPr>
              <a:defRPr/>
            </a:lvl1pPr>
          </a:lstStyle>
          <a:p>
            <a:r>
              <a:rPr lang="en-US" dirty="0"/>
              <a:t>Two-column with subtitle layout</a:t>
            </a:r>
          </a:p>
        </p:txBody>
      </p:sp>
      <p:sp>
        <p:nvSpPr>
          <p:cNvPr id="4" name="Text Placeholder 3">
            <a:extLst>
              <a:ext uri="{FF2B5EF4-FFF2-40B4-BE49-F238E27FC236}">
                <a16:creationId xmlns:a16="http://schemas.microsoft.com/office/drawing/2014/main" id="{A602579A-F003-4256-9071-88F3CD2BA3E7}"/>
              </a:ext>
            </a:extLst>
          </p:cNvPr>
          <p:cNvSpPr>
            <a:spLocks noGrp="1"/>
          </p:cNvSpPr>
          <p:nvPr>
            <p:ph type="body" sz="quarter" idx="10" hasCustomPrompt="1"/>
          </p:nvPr>
        </p:nvSpPr>
        <p:spPr>
          <a:xfrm>
            <a:off x="228600" y="750094"/>
            <a:ext cx="8686800" cy="230832"/>
          </a:xfrm>
        </p:spPr>
        <p:txBody>
          <a:bodyPr/>
          <a:lstStyle>
            <a:lvl1pPr marL="0" indent="0">
              <a:lnSpc>
                <a:spcPct val="100000"/>
              </a:lnSpc>
              <a:spcAft>
                <a:spcPts val="900"/>
              </a:spcAft>
              <a:buNone/>
              <a:defRPr sz="900" b="1" cap="all" spc="225" baseline="0">
                <a:solidFill>
                  <a:schemeClr val="accent1"/>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6" name="Content Placeholder 5">
            <a:extLst>
              <a:ext uri="{FF2B5EF4-FFF2-40B4-BE49-F238E27FC236}">
                <a16:creationId xmlns:a16="http://schemas.microsoft.com/office/drawing/2014/main" id="{7434AC24-E85E-407F-973E-699BC706DC81}"/>
              </a:ext>
            </a:extLst>
          </p:cNvPr>
          <p:cNvSpPr>
            <a:spLocks noGrp="1"/>
          </p:cNvSpPr>
          <p:nvPr>
            <p:ph sz="quarter" idx="11" hasCustomPrompt="1"/>
          </p:nvPr>
        </p:nvSpPr>
        <p:spPr>
          <a:xfrm>
            <a:off x="228600" y="1285875"/>
            <a:ext cx="4257675" cy="1573251"/>
          </a:xfrm>
        </p:spPr>
        <p:txBody>
          <a:bodyPr/>
          <a:lstStyle>
            <a:lvl1pPr marL="0" indent="0">
              <a:buNone/>
              <a:defRPr/>
            </a:lvl1pPr>
            <a:lvl2pPr marL="171450" indent="0">
              <a:buNone/>
              <a:defRPr/>
            </a:lvl2pPr>
            <a:lvl3pPr marL="342900" indent="0">
              <a:buNone/>
              <a:defRPr/>
            </a:lvl3pPr>
            <a:lvl4pPr marL="514350" indent="0">
              <a:buNone/>
              <a:defRPr/>
            </a:lvl4pPr>
            <a:lvl5pPr marL="51435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a:extLst>
              <a:ext uri="{FF2B5EF4-FFF2-40B4-BE49-F238E27FC236}">
                <a16:creationId xmlns:a16="http://schemas.microsoft.com/office/drawing/2014/main" id="{004959F6-41EE-4D17-B71F-BB0F4BB3DB42}"/>
              </a:ext>
            </a:extLst>
          </p:cNvPr>
          <p:cNvSpPr>
            <a:spLocks noGrp="1"/>
          </p:cNvSpPr>
          <p:nvPr>
            <p:ph sz="quarter" idx="12" hasCustomPrompt="1"/>
          </p:nvPr>
        </p:nvSpPr>
        <p:spPr>
          <a:xfrm>
            <a:off x="4657725" y="1285875"/>
            <a:ext cx="4257675" cy="1573251"/>
          </a:xfrm>
        </p:spPr>
        <p:txBody>
          <a:bodyPr/>
          <a:lstStyle>
            <a:lvl1pPr marL="0" indent="0">
              <a:buNone/>
              <a:defRPr/>
            </a:lvl1pPr>
            <a:lvl2pPr marL="171450" indent="0">
              <a:buNone/>
              <a:defRPr/>
            </a:lvl2pPr>
            <a:lvl3pPr marL="342900" indent="0">
              <a:buNone/>
              <a:defRPr/>
            </a:lvl3pPr>
            <a:lvl4pPr marL="514350" indent="0">
              <a:buNone/>
              <a:defRPr/>
            </a:lvl4pPr>
            <a:lvl5pPr marL="51435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a:extLst>
              <a:ext uri="{FF2B5EF4-FFF2-40B4-BE49-F238E27FC236}">
                <a16:creationId xmlns:a16="http://schemas.microsoft.com/office/drawing/2014/main" id="{1430D0AE-4901-4B7C-8638-4A6638176FF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1953317109"/>
      </p:ext>
    </p:extLst>
  </p:cSld>
  <p:clrMapOvr>
    <a:masterClrMapping/>
  </p:clrMapOvr>
  <p:transition>
    <p:fade/>
  </p:transition>
  <p:extLst>
    <p:ext uri="{DCECCB84-F9BA-43D5-87BE-67443E8EF086}">
      <p15:sldGuideLst xmlns:p15="http://schemas.microsoft.com/office/powerpoint/2012/main">
        <p15:guide id="1" pos="216">
          <p15:clr>
            <a:srgbClr val="FBAE40"/>
          </p15:clr>
        </p15:guide>
        <p15:guide id="2" orient="horz" pos="624">
          <p15:clr>
            <a:srgbClr val="FBAE40"/>
          </p15:clr>
        </p15:guide>
        <p15:guide id="3" orient="horz" pos="1272">
          <p15:clr>
            <a:srgbClr val="9FCC3B"/>
          </p15:clr>
        </p15:guide>
        <p15:guide id="4" orient="horz" pos="1080">
          <p15:clr>
            <a:srgbClr val="FBAE40"/>
          </p15:clr>
        </p15:guide>
        <p15:guide id="5" pos="3768">
          <p15:clr>
            <a:srgbClr val="FBAE40"/>
          </p15:clr>
        </p15:guide>
        <p15:guide id="6" pos="391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with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FE80-980F-4BC9-94C9-A90DD04139E5}"/>
              </a:ext>
            </a:extLst>
          </p:cNvPr>
          <p:cNvSpPr>
            <a:spLocks noGrp="1"/>
          </p:cNvSpPr>
          <p:nvPr>
            <p:ph type="title" hasCustomPrompt="1"/>
          </p:nvPr>
        </p:nvSpPr>
        <p:spPr/>
        <p:txBody>
          <a:bodyPr/>
          <a:lstStyle>
            <a:lvl1pPr>
              <a:defRPr/>
            </a:lvl1pPr>
          </a:lstStyle>
          <a:p>
            <a:r>
              <a:rPr lang="en-US" dirty="0"/>
              <a:t>Two-column with bullets layout</a:t>
            </a:r>
          </a:p>
        </p:txBody>
      </p:sp>
      <p:sp>
        <p:nvSpPr>
          <p:cNvPr id="3" name="Content Placeholder 2">
            <a:extLst>
              <a:ext uri="{FF2B5EF4-FFF2-40B4-BE49-F238E27FC236}">
                <a16:creationId xmlns:a16="http://schemas.microsoft.com/office/drawing/2014/main" id="{A62328A3-F00F-4DC0-B02A-392A2AB97F8A}"/>
              </a:ext>
            </a:extLst>
          </p:cNvPr>
          <p:cNvSpPr>
            <a:spLocks noGrp="1"/>
          </p:cNvSpPr>
          <p:nvPr>
            <p:ph sz="half" idx="1" hasCustomPrompt="1"/>
          </p:nvPr>
        </p:nvSpPr>
        <p:spPr>
          <a:xfrm>
            <a:off x="228600" y="1114425"/>
            <a:ext cx="4257675" cy="1573251"/>
          </a:xfrm>
        </p:spPr>
        <p:txBody>
          <a:bodyPr/>
          <a:lstStyle>
            <a:lvl1pPr>
              <a:defRPr/>
            </a:lvl1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2E00FB0-23B9-4CB2-8C87-2533F333654B}"/>
              </a:ext>
            </a:extLst>
          </p:cNvPr>
          <p:cNvSpPr>
            <a:spLocks noGrp="1"/>
          </p:cNvSpPr>
          <p:nvPr>
            <p:ph sz="half" idx="2" hasCustomPrompt="1"/>
          </p:nvPr>
        </p:nvSpPr>
        <p:spPr>
          <a:xfrm>
            <a:off x="4657725" y="1114426"/>
            <a:ext cx="4257675" cy="1573251"/>
          </a:xfrm>
        </p:spPr>
        <p:txBody>
          <a:bodyPr/>
          <a:lstStyle>
            <a:lvl1pPr>
              <a:defRPr/>
            </a:lvl1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a:extLst>
              <a:ext uri="{FF2B5EF4-FFF2-40B4-BE49-F238E27FC236}">
                <a16:creationId xmlns:a16="http://schemas.microsoft.com/office/drawing/2014/main" id="{EDE09516-EAD8-4522-97B6-D67B82BDA58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464309756"/>
      </p:ext>
    </p:extLst>
  </p:cSld>
  <p:clrMapOvr>
    <a:masterClrMapping/>
  </p:clrMapOvr>
  <p:transition>
    <p:fade/>
  </p:transition>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Subtitle, and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a:xfrm>
            <a:off x="228600" y="228601"/>
            <a:ext cx="8686800" cy="478631"/>
          </a:xfrm>
        </p:spPr>
        <p:txBody>
          <a:bodyPr/>
          <a:lstStyle>
            <a:lvl1pPr>
              <a:defRPr/>
            </a:lvl1pPr>
          </a:lstStyle>
          <a:p>
            <a:r>
              <a:rPr lang="en-US" dirty="0"/>
              <a:t>Two-column with subtitle layout</a:t>
            </a:r>
          </a:p>
        </p:txBody>
      </p:sp>
      <p:sp>
        <p:nvSpPr>
          <p:cNvPr id="4" name="Text Placeholder 3">
            <a:extLst>
              <a:ext uri="{FF2B5EF4-FFF2-40B4-BE49-F238E27FC236}">
                <a16:creationId xmlns:a16="http://schemas.microsoft.com/office/drawing/2014/main" id="{A602579A-F003-4256-9071-88F3CD2BA3E7}"/>
              </a:ext>
            </a:extLst>
          </p:cNvPr>
          <p:cNvSpPr>
            <a:spLocks noGrp="1"/>
          </p:cNvSpPr>
          <p:nvPr>
            <p:ph type="body" sz="quarter" idx="10" hasCustomPrompt="1"/>
          </p:nvPr>
        </p:nvSpPr>
        <p:spPr>
          <a:xfrm>
            <a:off x="228600" y="750094"/>
            <a:ext cx="8686800" cy="230832"/>
          </a:xfrm>
        </p:spPr>
        <p:txBody>
          <a:bodyPr/>
          <a:lstStyle>
            <a:lvl1pPr marL="0" indent="0">
              <a:lnSpc>
                <a:spcPct val="100000"/>
              </a:lnSpc>
              <a:spcAft>
                <a:spcPts val="900"/>
              </a:spcAft>
              <a:buNone/>
              <a:defRPr sz="900" b="1" cap="all" spc="225" baseline="0">
                <a:solidFill>
                  <a:schemeClr val="accent1"/>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
        <p:nvSpPr>
          <p:cNvPr id="7" name="Content Placeholder 6">
            <a:extLst>
              <a:ext uri="{FF2B5EF4-FFF2-40B4-BE49-F238E27FC236}">
                <a16:creationId xmlns:a16="http://schemas.microsoft.com/office/drawing/2014/main" id="{F3117784-3939-47DC-817E-56BA8ACDF9B6}"/>
              </a:ext>
            </a:extLst>
          </p:cNvPr>
          <p:cNvSpPr>
            <a:spLocks noGrp="1"/>
          </p:cNvSpPr>
          <p:nvPr>
            <p:ph sz="quarter" idx="11" hasCustomPrompt="1"/>
          </p:nvPr>
        </p:nvSpPr>
        <p:spPr>
          <a:xfrm>
            <a:off x="228600" y="1285876"/>
            <a:ext cx="4257675" cy="1573251"/>
          </a:xfrm>
        </p:spPr>
        <p:txBody>
          <a:bodyPr/>
          <a:lstStyle>
            <a:lvl1pPr>
              <a:defRPr/>
            </a:lvl1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a:extLst>
              <a:ext uri="{FF2B5EF4-FFF2-40B4-BE49-F238E27FC236}">
                <a16:creationId xmlns:a16="http://schemas.microsoft.com/office/drawing/2014/main" id="{3DD8E906-2D5C-440E-979E-D7FE653CDD23}"/>
              </a:ext>
            </a:extLst>
          </p:cNvPr>
          <p:cNvSpPr>
            <a:spLocks noGrp="1"/>
          </p:cNvSpPr>
          <p:nvPr>
            <p:ph sz="quarter" idx="12" hasCustomPrompt="1"/>
          </p:nvPr>
        </p:nvSpPr>
        <p:spPr>
          <a:xfrm>
            <a:off x="4657725" y="1285876"/>
            <a:ext cx="4257675" cy="1573251"/>
          </a:xfrm>
        </p:spPr>
        <p:txBody>
          <a:bodyPr/>
          <a:lstStyle>
            <a:lvl1pPr>
              <a:defRPr/>
            </a:lvl1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a:extLst>
              <a:ext uri="{FF2B5EF4-FFF2-40B4-BE49-F238E27FC236}">
                <a16:creationId xmlns:a16="http://schemas.microsoft.com/office/drawing/2014/main" id="{B8024B1D-018E-457E-ADB0-0510A867321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3293670832"/>
      </p:ext>
    </p:extLst>
  </p:cSld>
  <p:clrMapOvr>
    <a:masterClrMapping/>
  </p:clrMapOvr>
  <p:transition>
    <p:fade/>
  </p:transition>
  <p:extLst>
    <p:ext uri="{DCECCB84-F9BA-43D5-87BE-67443E8EF086}">
      <p15:sldGuideLst xmlns:p15="http://schemas.microsoft.com/office/powerpoint/2012/main">
        <p15:guide id="1" pos="216">
          <p15:clr>
            <a:srgbClr val="FBAE40"/>
          </p15:clr>
        </p15:guide>
        <p15:guide id="2" orient="horz" pos="624">
          <p15:clr>
            <a:srgbClr val="FBAE40"/>
          </p15:clr>
        </p15:guide>
        <p15:guide id="3" orient="horz" pos="1272">
          <p15:clr>
            <a:srgbClr val="9FCC3B"/>
          </p15:clr>
        </p15:guide>
        <p15:guide id="4" orient="horz" pos="1080">
          <p15:clr>
            <a:srgbClr val="FBAE40"/>
          </p15:clr>
        </p15:guide>
        <p15:guide id="5" pos="3768">
          <p15:clr>
            <a:srgbClr val="FBAE40"/>
          </p15:clr>
        </p15:guide>
        <p15:guide id="6" pos="391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5B641-AA35-4952-8BD0-57A5E6BAC6C0}"/>
              </a:ext>
            </a:extLst>
          </p:cNvPr>
          <p:cNvSpPr>
            <a:spLocks noGrp="1"/>
          </p:cNvSpPr>
          <p:nvPr>
            <p:ph type="title" hasCustomPrompt="1"/>
          </p:nvPr>
        </p:nvSpPr>
        <p:spPr/>
        <p:txBody>
          <a:bodyPr/>
          <a:lstStyle>
            <a:lvl1pPr>
              <a:defRPr/>
            </a:lvl1pPr>
          </a:lstStyle>
          <a:p>
            <a:r>
              <a:rPr lang="en-US" dirty="0"/>
              <a:t>Code layout</a:t>
            </a:r>
          </a:p>
        </p:txBody>
      </p:sp>
      <p:sp>
        <p:nvSpPr>
          <p:cNvPr id="7" name="Content Placeholder 6">
            <a:extLst>
              <a:ext uri="{FF2B5EF4-FFF2-40B4-BE49-F238E27FC236}">
                <a16:creationId xmlns:a16="http://schemas.microsoft.com/office/drawing/2014/main" id="{BBBB28F6-ED88-4F6C-98C2-239A1B8050D8}"/>
              </a:ext>
            </a:extLst>
          </p:cNvPr>
          <p:cNvSpPr>
            <a:spLocks noGrp="1"/>
          </p:cNvSpPr>
          <p:nvPr>
            <p:ph sz="quarter" idx="10" hasCustomPrompt="1"/>
          </p:nvPr>
        </p:nvSpPr>
        <p:spPr>
          <a:xfrm>
            <a:off x="228600" y="1114425"/>
            <a:ext cx="8686800" cy="1283685"/>
          </a:xfrm>
        </p:spPr>
        <p:txBody>
          <a:bodyPr/>
          <a:lstStyle>
            <a:lvl1pPr marL="0" indent="0">
              <a:spcAft>
                <a:spcPts val="450"/>
              </a:spcAft>
              <a:buNone/>
              <a:defRPr sz="1350">
                <a:latin typeface="Lucida Console" panose="020B0609040504020204" pitchFamily="49" charset="0"/>
              </a:defRPr>
            </a:lvl1pPr>
            <a:lvl2pPr marL="171450" indent="0">
              <a:spcAft>
                <a:spcPts val="450"/>
              </a:spcAft>
              <a:buNone/>
              <a:defRPr sz="1350">
                <a:latin typeface="Lucida Console" panose="020B0609040504020204" pitchFamily="49" charset="0"/>
              </a:defRPr>
            </a:lvl2pPr>
            <a:lvl3pPr marL="342900" indent="0">
              <a:spcAft>
                <a:spcPts val="450"/>
              </a:spcAft>
              <a:buNone/>
              <a:defRPr sz="1350">
                <a:latin typeface="Lucida Console" panose="020B0609040504020204" pitchFamily="49" charset="0"/>
              </a:defRPr>
            </a:lvl3pPr>
            <a:lvl4pPr marL="514350" indent="0">
              <a:spcAft>
                <a:spcPts val="450"/>
              </a:spcAft>
              <a:buNone/>
              <a:defRPr sz="1350">
                <a:latin typeface="Lucida Console" panose="020B0609040504020204" pitchFamily="49" charset="0"/>
              </a:defRPr>
            </a:lvl4pPr>
            <a:lvl5pPr marL="685800" indent="0">
              <a:spcAft>
                <a:spcPts val="450"/>
              </a:spcAft>
              <a:buNone/>
              <a:defRPr sz="1350">
                <a:latin typeface="Lucida Console" panose="020B0609040504020204" pitchFamily="49" charset="0"/>
              </a:defRPr>
            </a:lvl5pPr>
          </a:lstStyle>
          <a:p>
            <a:pPr lvl="0"/>
            <a:r>
              <a:rPr lang="en-US" dirty="0"/>
              <a:t>Type or paste plain-text code here, or click icon to add image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17BC4998-72A6-4E94-81BD-41A15112595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368631288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Code -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7FE80-980F-4BC9-94C9-A90DD04139E5}"/>
              </a:ext>
            </a:extLst>
          </p:cNvPr>
          <p:cNvSpPr>
            <a:spLocks noGrp="1"/>
          </p:cNvSpPr>
          <p:nvPr>
            <p:ph type="title" hasCustomPrompt="1"/>
          </p:nvPr>
        </p:nvSpPr>
        <p:spPr/>
        <p:txBody>
          <a:bodyPr/>
          <a:lstStyle>
            <a:lvl1pPr>
              <a:defRPr/>
            </a:lvl1pPr>
          </a:lstStyle>
          <a:p>
            <a:r>
              <a:rPr lang="en-US" dirty="0"/>
              <a:t>Code layout, two columns</a:t>
            </a:r>
          </a:p>
        </p:txBody>
      </p:sp>
      <p:sp>
        <p:nvSpPr>
          <p:cNvPr id="3" name="Content Placeholder 2">
            <a:extLst>
              <a:ext uri="{FF2B5EF4-FFF2-40B4-BE49-F238E27FC236}">
                <a16:creationId xmlns:a16="http://schemas.microsoft.com/office/drawing/2014/main" id="{A62328A3-F00F-4DC0-B02A-392A2AB97F8A}"/>
              </a:ext>
            </a:extLst>
          </p:cNvPr>
          <p:cNvSpPr>
            <a:spLocks noGrp="1"/>
          </p:cNvSpPr>
          <p:nvPr>
            <p:ph sz="half" idx="1" hasCustomPrompt="1"/>
          </p:nvPr>
        </p:nvSpPr>
        <p:spPr>
          <a:xfrm>
            <a:off x="228600" y="1114425"/>
            <a:ext cx="4257675" cy="1283685"/>
          </a:xfrm>
        </p:spPr>
        <p:txBody>
          <a:bodyPr/>
          <a:lstStyle>
            <a:lvl1pPr marL="0" indent="0">
              <a:spcAft>
                <a:spcPts val="450"/>
              </a:spcAft>
              <a:buNone/>
              <a:defRPr sz="1350">
                <a:latin typeface="Lucida Console" panose="020B0609040504020204" pitchFamily="49" charset="0"/>
              </a:defRPr>
            </a:lvl1pPr>
            <a:lvl2pPr marL="171450" indent="0">
              <a:spcAft>
                <a:spcPts val="450"/>
              </a:spcAft>
              <a:buNone/>
              <a:defRPr sz="1350">
                <a:latin typeface="Lucida Console" panose="020B0609040504020204" pitchFamily="49" charset="0"/>
              </a:defRPr>
            </a:lvl2pPr>
            <a:lvl3pPr marL="342900" indent="0">
              <a:spcAft>
                <a:spcPts val="450"/>
              </a:spcAft>
              <a:buNone/>
              <a:defRPr sz="1350">
                <a:latin typeface="Lucida Console" panose="020B0609040504020204" pitchFamily="49" charset="0"/>
              </a:defRPr>
            </a:lvl3pPr>
            <a:lvl4pPr marL="514350" indent="0">
              <a:spcAft>
                <a:spcPts val="450"/>
              </a:spcAft>
              <a:buNone/>
              <a:defRPr sz="1350">
                <a:latin typeface="Lucida Console" panose="020B0609040504020204" pitchFamily="49" charset="0"/>
              </a:defRPr>
            </a:lvl4pPr>
            <a:lvl5pPr marL="685800" indent="0">
              <a:spcAft>
                <a:spcPts val="450"/>
              </a:spcAft>
              <a:buNone/>
              <a:defRPr sz="1350">
                <a:latin typeface="Lucida Console" panose="020B0609040504020204" pitchFamily="49" charset="0"/>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2E00FB0-23B9-4CB2-8C87-2533F333654B}"/>
              </a:ext>
            </a:extLst>
          </p:cNvPr>
          <p:cNvSpPr>
            <a:spLocks noGrp="1"/>
          </p:cNvSpPr>
          <p:nvPr>
            <p:ph sz="half" idx="2" hasCustomPrompt="1"/>
          </p:nvPr>
        </p:nvSpPr>
        <p:spPr>
          <a:xfrm>
            <a:off x="4657725" y="1114425"/>
            <a:ext cx="4257675" cy="1283685"/>
          </a:xfrm>
        </p:spPr>
        <p:txBody>
          <a:bodyPr/>
          <a:lstStyle>
            <a:lvl1pPr marL="0" indent="0">
              <a:spcAft>
                <a:spcPts val="450"/>
              </a:spcAft>
              <a:buNone/>
              <a:defRPr sz="1350">
                <a:latin typeface="Lucida Console" panose="020B0609040504020204" pitchFamily="49" charset="0"/>
              </a:defRPr>
            </a:lvl1pPr>
            <a:lvl2pPr marL="171450" indent="0">
              <a:spcAft>
                <a:spcPts val="450"/>
              </a:spcAft>
              <a:buNone/>
              <a:defRPr sz="1350">
                <a:latin typeface="Lucida Console" panose="020B0609040504020204" pitchFamily="49" charset="0"/>
              </a:defRPr>
            </a:lvl2pPr>
            <a:lvl3pPr marL="342900" indent="0">
              <a:spcAft>
                <a:spcPts val="450"/>
              </a:spcAft>
              <a:buNone/>
              <a:defRPr sz="1350">
                <a:latin typeface="Lucida Console" panose="020B0609040504020204" pitchFamily="49" charset="0"/>
              </a:defRPr>
            </a:lvl3pPr>
            <a:lvl4pPr marL="514350" indent="0">
              <a:spcAft>
                <a:spcPts val="450"/>
              </a:spcAft>
              <a:buNone/>
              <a:defRPr sz="1350">
                <a:latin typeface="Lucida Console" panose="020B0609040504020204" pitchFamily="49" charset="0"/>
              </a:defRPr>
            </a:lvl4pPr>
            <a:lvl5pPr marL="685800" indent="0">
              <a:spcAft>
                <a:spcPts val="450"/>
              </a:spcAft>
              <a:buNone/>
              <a:defRPr sz="1350">
                <a:latin typeface="Lucida Console" panose="020B0609040504020204" pitchFamily="49" charset="0"/>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a:extLst>
              <a:ext uri="{FF2B5EF4-FFF2-40B4-BE49-F238E27FC236}">
                <a16:creationId xmlns:a16="http://schemas.microsoft.com/office/drawing/2014/main" id="{8A5EFA6F-B759-42B9-9EC8-88192431FA3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2826988606"/>
      </p:ext>
    </p:extLst>
  </p:cSld>
  <p:clrMapOvr>
    <a:masterClrMapping/>
  </p:clrMapOvr>
  <p:transition>
    <p:fade/>
  </p:transition>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90A961-DBEA-44D4-E1FD-7DD7B71122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1F3ABFD6-0A7E-4C17-A0CF-15563DCD4BE8}"/>
              </a:ext>
            </a:extLst>
          </p:cNvPr>
          <p:cNvSpPr>
            <a:spLocks noGrp="1"/>
          </p:cNvSpPr>
          <p:nvPr>
            <p:ph type="title" hasCustomPrompt="1"/>
          </p:nvPr>
        </p:nvSpPr>
        <p:spPr>
          <a:xfrm>
            <a:off x="857250" y="1114425"/>
            <a:ext cx="6142436" cy="1925308"/>
          </a:xfrm>
        </p:spPr>
        <p:txBody>
          <a:bodyPr/>
          <a:lstStyle>
            <a:lvl1pPr>
              <a:defRPr sz="3300"/>
            </a:lvl1pPr>
          </a:lstStyle>
          <a:p>
            <a:r>
              <a:rPr lang="en-US" dirty="0"/>
              <a:t>Enter quote here. Omit quote marks on the text.</a:t>
            </a:r>
          </a:p>
        </p:txBody>
      </p:sp>
      <p:sp>
        <p:nvSpPr>
          <p:cNvPr id="9" name="Text Placeholder 8">
            <a:extLst>
              <a:ext uri="{FF2B5EF4-FFF2-40B4-BE49-F238E27FC236}">
                <a16:creationId xmlns:a16="http://schemas.microsoft.com/office/drawing/2014/main" id="{0C139DB6-EAA5-478D-8B47-73B28F478C40}"/>
              </a:ext>
            </a:extLst>
          </p:cNvPr>
          <p:cNvSpPr>
            <a:spLocks noGrp="1"/>
          </p:cNvSpPr>
          <p:nvPr>
            <p:ph type="body" sz="quarter" idx="14" hasCustomPrompt="1"/>
          </p:nvPr>
        </p:nvSpPr>
        <p:spPr>
          <a:xfrm>
            <a:off x="857250" y="3457575"/>
            <a:ext cx="6143625" cy="341632"/>
          </a:xfrm>
        </p:spPr>
        <p:txBody>
          <a:bodyPr/>
          <a:lstStyle>
            <a:lvl1pPr marL="0" indent="0">
              <a:buNone/>
              <a:defRPr sz="1800" b="1"/>
            </a:lvl1pPr>
          </a:lstStyle>
          <a:p>
            <a:pPr lvl="0"/>
            <a:r>
              <a:rPr lang="en-US" dirty="0"/>
              <a:t>Enter quoted person’s name</a:t>
            </a:r>
          </a:p>
        </p:txBody>
      </p:sp>
      <p:sp>
        <p:nvSpPr>
          <p:cNvPr id="11" name="Text Placeholder 10">
            <a:extLst>
              <a:ext uri="{FF2B5EF4-FFF2-40B4-BE49-F238E27FC236}">
                <a16:creationId xmlns:a16="http://schemas.microsoft.com/office/drawing/2014/main" id="{C4D58212-E366-46B6-A286-ED11216920C0}"/>
              </a:ext>
            </a:extLst>
          </p:cNvPr>
          <p:cNvSpPr>
            <a:spLocks noGrp="1"/>
          </p:cNvSpPr>
          <p:nvPr>
            <p:ph type="body" sz="quarter" idx="15" hasCustomPrompt="1"/>
          </p:nvPr>
        </p:nvSpPr>
        <p:spPr>
          <a:xfrm>
            <a:off x="857250" y="3783853"/>
            <a:ext cx="6132740" cy="300082"/>
          </a:xfrm>
        </p:spPr>
        <p:txBody>
          <a:bodyPr/>
          <a:lstStyle>
            <a:lvl1pPr marL="0" indent="0">
              <a:buNone/>
              <a:defRPr sz="1500"/>
            </a:lvl1pPr>
          </a:lstStyle>
          <a:p>
            <a:pPr lvl="0"/>
            <a:r>
              <a:rPr lang="en-US" dirty="0"/>
              <a:t>Enter quoted person’s affiliation</a:t>
            </a:r>
          </a:p>
        </p:txBody>
      </p:sp>
      <p:sp>
        <p:nvSpPr>
          <p:cNvPr id="13" name="TextBox 3">
            <a:extLst>
              <a:ext uri="{FF2B5EF4-FFF2-40B4-BE49-F238E27FC236}">
                <a16:creationId xmlns:a16="http://schemas.microsoft.com/office/drawing/2014/main" id="{8ACB3D16-6816-4239-9D78-8C8607D990F1}"/>
              </a:ext>
            </a:extLst>
          </p:cNvPr>
          <p:cNvSpPr txBox="1">
            <a:spLocks noChangeArrowheads="1"/>
          </p:cNvSpPr>
          <p:nvPr userDrawn="1"/>
        </p:nvSpPr>
        <p:spPr bwMode="white">
          <a:xfrm>
            <a:off x="826155" y="4857640"/>
            <a:ext cx="2971800" cy="80791"/>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822909" eaLnBrk="1" fontAlgn="auto" hangingPunct="1">
              <a:spcBef>
                <a:spcPts val="0"/>
              </a:spcBef>
              <a:spcAft>
                <a:spcPts val="0"/>
              </a:spcAft>
              <a:defRPr/>
            </a:pPr>
            <a:r>
              <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pic>
        <p:nvPicPr>
          <p:cNvPr id="14" name="Picture 13">
            <a:extLst>
              <a:ext uri="{FF2B5EF4-FFF2-40B4-BE49-F238E27FC236}">
                <a16:creationId xmlns:a16="http://schemas.microsoft.com/office/drawing/2014/main" id="{C4453ABE-4B3B-4785-801A-97113C7EBAE1}"/>
              </a:ext>
            </a:extLst>
          </p:cNvPr>
          <p:cNvPicPr>
            <a:picLocks noChangeAspect="1"/>
          </p:cNvPicPr>
          <p:nvPr userDrawn="1"/>
        </p:nvPicPr>
        <p:blipFill>
          <a:blip r:embed="rId3"/>
          <a:srcRect/>
          <a:stretch/>
        </p:blipFill>
        <p:spPr>
          <a:xfrm>
            <a:off x="219376" y="4821496"/>
            <a:ext cx="291614" cy="164694"/>
          </a:xfrm>
          <a:prstGeom prst="rect">
            <a:avLst/>
          </a:prstGeom>
        </p:spPr>
      </p:pic>
      <p:pic>
        <p:nvPicPr>
          <p:cNvPr id="6" name="Picture 5">
            <a:extLst>
              <a:ext uri="{FF2B5EF4-FFF2-40B4-BE49-F238E27FC236}">
                <a16:creationId xmlns:a16="http://schemas.microsoft.com/office/drawing/2014/main" id="{D61735F0-6B63-48CA-B727-F1A6A472C23D}"/>
              </a:ext>
            </a:extLst>
          </p:cNvPr>
          <p:cNvPicPr>
            <a:picLocks noChangeAspect="1"/>
          </p:cNvPicPr>
          <p:nvPr userDrawn="1"/>
        </p:nvPicPr>
        <p:blipFill rotWithShape="1">
          <a:blip r:embed="rId4"/>
          <a:srcRect l="35444" t="25279" r="36166" b="58334"/>
          <a:stretch/>
        </p:blipFill>
        <p:spPr>
          <a:xfrm>
            <a:off x="228600" y="687654"/>
            <a:ext cx="641360" cy="438981"/>
          </a:xfrm>
          <a:prstGeom prst="rect">
            <a:avLst/>
          </a:prstGeom>
        </p:spPr>
      </p:pic>
    </p:spTree>
    <p:extLst>
      <p:ext uri="{BB962C8B-B14F-4D97-AF65-F5344CB8AC3E}">
        <p14:creationId xmlns:p14="http://schemas.microsoft.com/office/powerpoint/2010/main" val="3224334207"/>
      </p:ext>
    </p:extLst>
  </p:cSld>
  <p:clrMapOvr>
    <a:masterClrMapping/>
  </p:clrMapOvr>
  <p:transition>
    <p:fade/>
  </p:transition>
  <p:extLst>
    <p:ext uri="{DCECCB84-F9BA-43D5-87BE-67443E8EF086}">
      <p15:sldGuideLst xmlns:p15="http://schemas.microsoft.com/office/powerpoint/2012/main">
        <p15:guide id="1" pos="720">
          <p15:clr>
            <a:srgbClr val="FBAE40"/>
          </p15:clr>
        </p15:guide>
        <p15:guide id="2" pos="5880">
          <p15:clr>
            <a:srgbClr val="FBAE40"/>
          </p15:clr>
        </p15:guide>
        <p15:guide id="3" orient="horz" pos="290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3FA8EB-0600-F8CB-1D5D-ADAF85CCDB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B28D0138-670A-478D-BCC5-48A85ECF1D46}"/>
              </a:ext>
            </a:extLst>
          </p:cNvPr>
          <p:cNvSpPr>
            <a:spLocks noGrp="1"/>
          </p:cNvSpPr>
          <p:nvPr>
            <p:ph type="title" hasCustomPrompt="1"/>
          </p:nvPr>
        </p:nvSpPr>
        <p:spPr>
          <a:xfrm>
            <a:off x="228600" y="2030866"/>
            <a:ext cx="6143625" cy="1081766"/>
          </a:xfrm>
        </p:spPr>
        <p:txBody>
          <a:bodyPr anchor="ctr"/>
          <a:lstStyle>
            <a:lvl1pPr>
              <a:defRPr sz="3300"/>
            </a:lvl1pPr>
          </a:lstStyle>
          <a:p>
            <a:r>
              <a:rPr lang="en-US" dirty="0"/>
              <a:t>Section divider – </a:t>
            </a:r>
            <a:br>
              <a:rPr lang="en-US" dirty="0"/>
            </a:br>
            <a:r>
              <a:rPr lang="en-US" dirty="0"/>
              <a:t>Enter section name here</a:t>
            </a:r>
          </a:p>
        </p:txBody>
      </p:sp>
      <p:sp>
        <p:nvSpPr>
          <p:cNvPr id="3" name="TextBox 3">
            <a:extLst>
              <a:ext uri="{FF2B5EF4-FFF2-40B4-BE49-F238E27FC236}">
                <a16:creationId xmlns:a16="http://schemas.microsoft.com/office/drawing/2014/main" id="{EA44BFD1-E9ED-8F97-A9BC-66C9AA47111C}"/>
              </a:ext>
            </a:extLst>
          </p:cNvPr>
          <p:cNvSpPr txBox="1">
            <a:spLocks noChangeArrowheads="1"/>
          </p:cNvSpPr>
          <p:nvPr userDrawn="1"/>
        </p:nvSpPr>
        <p:spPr bwMode="white">
          <a:xfrm>
            <a:off x="826155" y="4972709"/>
            <a:ext cx="7768611" cy="80791"/>
          </a:xfrm>
          <a:prstGeom prst="rect">
            <a:avLst/>
          </a:prstGeom>
          <a:noFill/>
          <a:ln>
            <a:noFill/>
          </a:ln>
        </p:spPr>
        <p:txBody>
          <a:bodyPr wrap="square"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822909" eaLnBrk="1" fontAlgn="auto" hangingPunct="1">
              <a:spcBef>
                <a:spcPts val="0"/>
              </a:spcBef>
              <a:spcAft>
                <a:spcPts val="0"/>
              </a:spcAft>
              <a:defRPr/>
            </a:pPr>
            <a:r>
              <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a:t>
            </a:r>
            <a:r>
              <a:rPr lang="en-US" altLang="zh-CN"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5</a:t>
            </a:r>
            <a:r>
              <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Amazon Web Services, Inc. or its affiliates. All rights reserved.</a:t>
            </a:r>
            <a:r>
              <a:rPr lang="zh-CN" altLang="en-US" sz="525" b="0" i="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zh-CN" altLang="en-US" sz="525" i="0">
                <a:effectLst/>
                <a:latin typeface="Source Han Sans SC" panose="020B0500000000000000" pitchFamily="34" charset="-128"/>
                <a:ea typeface="Source Han Sans SC" panose="020B0500000000000000" pitchFamily="34" charset="-128"/>
              </a:rPr>
              <a:t>此内容特定亚马逊云科技生成式人工智能相关的服务仅在亚马逊云科技海外区域可用，亚马逊云科技中国仅为帮助您了解行业前沿技术和发展海外业务选择推介该服务。</a:t>
            </a:r>
            <a:endPar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pic>
        <p:nvPicPr>
          <p:cNvPr id="6" name="图片 5">
            <a:extLst>
              <a:ext uri="{FF2B5EF4-FFF2-40B4-BE49-F238E27FC236}">
                <a16:creationId xmlns:a16="http://schemas.microsoft.com/office/drawing/2014/main" id="{4CDA4572-DDA8-4F38-8F4C-A76BE10A630B}"/>
              </a:ext>
            </a:extLst>
          </p:cNvPr>
          <p:cNvPicPr>
            <a:picLocks noChangeAspect="1"/>
          </p:cNvPicPr>
          <p:nvPr userDrawn="1"/>
        </p:nvPicPr>
        <p:blipFill>
          <a:blip r:embed="rId3"/>
          <a:stretch>
            <a:fillRect/>
          </a:stretch>
        </p:blipFill>
        <p:spPr>
          <a:xfrm>
            <a:off x="269600" y="4946612"/>
            <a:ext cx="452801" cy="160388"/>
          </a:xfrm>
          <a:prstGeom prst="rect">
            <a:avLst/>
          </a:prstGeom>
        </p:spPr>
      </p:pic>
    </p:spTree>
    <p:extLst>
      <p:ext uri="{BB962C8B-B14F-4D97-AF65-F5344CB8AC3E}">
        <p14:creationId xmlns:p14="http://schemas.microsoft.com/office/powerpoint/2010/main" val="2717684913"/>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7282940-4CB7-443C-9F56-FCA13ED5692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746004" y="1745754"/>
            <a:ext cx="1651992" cy="1651992"/>
          </a:xfrm>
          <a:prstGeom prst="rect">
            <a:avLst/>
          </a:prstGeom>
        </p:spPr>
      </p:pic>
      <p:sp>
        <p:nvSpPr>
          <p:cNvPr id="7" name="Media Placeholder 6">
            <a:extLst>
              <a:ext uri="{FF2B5EF4-FFF2-40B4-BE49-F238E27FC236}">
                <a16:creationId xmlns:a16="http://schemas.microsoft.com/office/drawing/2014/main" id="{02268E66-E2A6-42E7-9D25-CF980511A875}"/>
              </a:ext>
            </a:extLst>
          </p:cNvPr>
          <p:cNvSpPr>
            <a:spLocks noGrp="1"/>
          </p:cNvSpPr>
          <p:nvPr>
            <p:ph type="media" sz="quarter" idx="10" hasCustomPrompt="1"/>
          </p:nvPr>
        </p:nvSpPr>
        <p:spPr>
          <a:xfrm>
            <a:off x="0" y="0"/>
            <a:ext cx="9144000" cy="5143500"/>
          </a:xfrm>
        </p:spPr>
        <p:txBody>
          <a:bodyPr anchor="ctr">
            <a:noAutofit/>
          </a:bodyPr>
          <a:lstStyle>
            <a:lvl1pPr marL="600075" indent="0">
              <a:buNone/>
              <a:defRPr/>
            </a:lvl1pPr>
          </a:lstStyle>
          <a:p>
            <a:r>
              <a:rPr lang="en-US" dirty="0"/>
              <a:t>Click icon to add video</a:t>
            </a:r>
          </a:p>
        </p:txBody>
      </p:sp>
      <p:sp>
        <p:nvSpPr>
          <p:cNvPr id="3" name="Title 2">
            <a:extLst>
              <a:ext uri="{FF2B5EF4-FFF2-40B4-BE49-F238E27FC236}">
                <a16:creationId xmlns:a16="http://schemas.microsoft.com/office/drawing/2014/main" id="{33CFD226-D826-41A8-94B2-5E84F7FD8BFB}"/>
              </a:ext>
            </a:extLst>
          </p:cNvPr>
          <p:cNvSpPr>
            <a:spLocks noGrp="1"/>
          </p:cNvSpPr>
          <p:nvPr>
            <p:ph type="title" hasCustomPrompt="1"/>
          </p:nvPr>
        </p:nvSpPr>
        <p:spPr>
          <a:xfrm>
            <a:off x="0" y="-485775"/>
            <a:ext cx="9144000" cy="478631"/>
          </a:xfrm>
        </p:spPr>
        <p:txBody>
          <a:bodyPr/>
          <a:lstStyle>
            <a:lvl1pPr>
              <a:defRPr sz="2700">
                <a:solidFill>
                  <a:schemeClr val="bg1">
                    <a:lumMod val="65000"/>
                    <a:lumOff val="35000"/>
                  </a:schemeClr>
                </a:solidFill>
              </a:defRPr>
            </a:lvl1pPr>
          </a:lstStyle>
          <a:p>
            <a:r>
              <a:rPr lang="en-US" dirty="0"/>
              <a:t>Video layout (enter descriptive title here for accessibility)</a:t>
            </a:r>
          </a:p>
        </p:txBody>
      </p:sp>
      <p:pic>
        <p:nvPicPr>
          <p:cNvPr id="6" name="Picture 5">
            <a:extLst>
              <a:ext uri="{FF2B5EF4-FFF2-40B4-BE49-F238E27FC236}">
                <a16:creationId xmlns:a16="http://schemas.microsoft.com/office/drawing/2014/main" id="{2ECA4397-C1FB-44F1-9E3B-33384D2CDD1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389090890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10167-6731-422B-AAF3-3DCD022FDA3A}"/>
              </a:ext>
            </a:extLst>
          </p:cNvPr>
          <p:cNvSpPr>
            <a:spLocks noGrp="1"/>
          </p:cNvSpPr>
          <p:nvPr>
            <p:ph type="title" hasCustomPrompt="1"/>
          </p:nvPr>
        </p:nvSpPr>
        <p:spPr>
          <a:xfrm>
            <a:off x="228600" y="228601"/>
            <a:ext cx="8686800" cy="478631"/>
          </a:xfrm>
        </p:spPr>
        <p:txBody>
          <a:bodyPr/>
          <a:lstStyle>
            <a:lvl1pPr>
              <a:defRPr/>
            </a:lvl1pPr>
          </a:lstStyle>
          <a:p>
            <a:r>
              <a:rPr lang="en-US" dirty="0"/>
              <a:t>Comparison layout</a:t>
            </a:r>
          </a:p>
        </p:txBody>
      </p:sp>
      <p:sp>
        <p:nvSpPr>
          <p:cNvPr id="3" name="Text Placeholder 2">
            <a:extLst>
              <a:ext uri="{FF2B5EF4-FFF2-40B4-BE49-F238E27FC236}">
                <a16:creationId xmlns:a16="http://schemas.microsoft.com/office/drawing/2014/main" id="{4447F764-8D3D-4D65-9DEE-EB4D76A91939}"/>
              </a:ext>
            </a:extLst>
          </p:cNvPr>
          <p:cNvSpPr>
            <a:spLocks noGrp="1"/>
          </p:cNvSpPr>
          <p:nvPr>
            <p:ph type="body" idx="1" hasCustomPrompt="1"/>
          </p:nvPr>
        </p:nvSpPr>
        <p:spPr>
          <a:xfrm>
            <a:off x="228600" y="1099146"/>
            <a:ext cx="4257673" cy="383182"/>
          </a:xfrm>
        </p:spPr>
        <p:txBody>
          <a:bodyPr anchor="b"/>
          <a:lstStyle>
            <a:lvl1pPr marL="0" indent="0">
              <a:buNone/>
              <a:defRPr sz="21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heading</a:t>
            </a:r>
          </a:p>
        </p:txBody>
      </p:sp>
      <p:sp>
        <p:nvSpPr>
          <p:cNvPr id="4" name="Content Placeholder 3">
            <a:extLst>
              <a:ext uri="{FF2B5EF4-FFF2-40B4-BE49-F238E27FC236}">
                <a16:creationId xmlns:a16="http://schemas.microsoft.com/office/drawing/2014/main" id="{1FFD69C2-FBB8-4670-938B-F05693537C12}"/>
              </a:ext>
            </a:extLst>
          </p:cNvPr>
          <p:cNvSpPr>
            <a:spLocks noGrp="1"/>
          </p:cNvSpPr>
          <p:nvPr>
            <p:ph sz="half" idx="2" hasCustomPrompt="1"/>
          </p:nvPr>
        </p:nvSpPr>
        <p:spPr>
          <a:xfrm>
            <a:off x="228600" y="1491853"/>
            <a:ext cx="4257673" cy="1427827"/>
          </a:xfrm>
        </p:spPr>
        <p:txBody>
          <a:bodyPr/>
          <a:lstStyle>
            <a:lvl1pPr marL="0" indent="0">
              <a:buNone/>
              <a:defRPr sz="1800"/>
            </a:lvl1pPr>
            <a:lvl2pPr marL="171450" indent="0">
              <a:buNone/>
              <a:defRPr sz="1500"/>
            </a:lvl2pPr>
            <a:lvl3pPr marL="342900" indent="0">
              <a:buNone/>
              <a:defRPr sz="1350"/>
            </a:lvl3pPr>
            <a:lvl4pPr marL="514350" indent="0">
              <a:buNone/>
              <a:defRPr sz="1200"/>
            </a:lvl4pPr>
            <a:lvl5pPr marL="514350" indent="0">
              <a:buNone/>
              <a:defRPr sz="1200"/>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122A0D-CA84-4D80-B7CB-26EC3C0607BA}"/>
              </a:ext>
            </a:extLst>
          </p:cNvPr>
          <p:cNvSpPr>
            <a:spLocks noGrp="1"/>
          </p:cNvSpPr>
          <p:nvPr>
            <p:ph type="body" sz="quarter" idx="3" hasCustomPrompt="1"/>
          </p:nvPr>
        </p:nvSpPr>
        <p:spPr>
          <a:xfrm>
            <a:off x="4657728" y="1099146"/>
            <a:ext cx="4257673" cy="383182"/>
          </a:xfrm>
        </p:spPr>
        <p:txBody>
          <a:bodyPr anchor="b"/>
          <a:lstStyle>
            <a:lvl1pPr marL="0" indent="0">
              <a:buNone/>
              <a:defRPr sz="21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Enter heading</a:t>
            </a:r>
          </a:p>
        </p:txBody>
      </p:sp>
      <p:sp>
        <p:nvSpPr>
          <p:cNvPr id="6" name="Content Placeholder 5">
            <a:extLst>
              <a:ext uri="{FF2B5EF4-FFF2-40B4-BE49-F238E27FC236}">
                <a16:creationId xmlns:a16="http://schemas.microsoft.com/office/drawing/2014/main" id="{7521A746-02E0-4C53-AAE0-D0AE61EBDA6B}"/>
              </a:ext>
            </a:extLst>
          </p:cNvPr>
          <p:cNvSpPr>
            <a:spLocks noGrp="1"/>
          </p:cNvSpPr>
          <p:nvPr>
            <p:ph sz="quarter" idx="4" hasCustomPrompt="1"/>
          </p:nvPr>
        </p:nvSpPr>
        <p:spPr>
          <a:xfrm>
            <a:off x="4657727" y="1491853"/>
            <a:ext cx="4257672" cy="1427827"/>
          </a:xfrm>
        </p:spPr>
        <p:txBody>
          <a:bodyPr/>
          <a:lstStyle>
            <a:lvl1pPr marL="0" indent="0">
              <a:buNone/>
              <a:defRPr sz="1800"/>
            </a:lvl1pPr>
            <a:lvl2pPr marL="171450" indent="0">
              <a:buNone/>
              <a:defRPr sz="1500"/>
            </a:lvl2pPr>
            <a:lvl3pPr marL="342900" indent="0">
              <a:buNone/>
              <a:defRPr sz="1350"/>
            </a:lvl3pPr>
            <a:lvl4pPr marL="514350" indent="0">
              <a:buNone/>
              <a:defRPr sz="1200"/>
            </a:lvl4pPr>
            <a:lvl5pPr marL="514350" indent="0">
              <a:buNone/>
              <a:defRPr sz="1200"/>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a:extLst>
              <a:ext uri="{FF2B5EF4-FFF2-40B4-BE49-F238E27FC236}">
                <a16:creationId xmlns:a16="http://schemas.microsoft.com/office/drawing/2014/main" id="{209C08B5-408C-4416-9897-9FC5594CC68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2956513622"/>
      </p:ext>
    </p:extLst>
  </p:cSld>
  <p:clrMapOvr>
    <a:masterClrMapping/>
  </p:clrMapOvr>
  <p:transition>
    <p:fade/>
  </p:transition>
  <p:extLst>
    <p:ext uri="{DCECCB84-F9BA-43D5-87BE-67443E8EF086}">
      <p15:sldGuideLst xmlns:p15="http://schemas.microsoft.com/office/powerpoint/2012/main">
        <p15:guide id="1" pos="3768">
          <p15:clr>
            <a:srgbClr val="FBAE40"/>
          </p15:clr>
        </p15:guide>
        <p15:guide id="2" pos="391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EC130-06E7-4370-BE1F-6B09EE729241}"/>
              </a:ext>
            </a:extLst>
          </p:cNvPr>
          <p:cNvSpPr>
            <a:spLocks noGrp="1"/>
          </p:cNvSpPr>
          <p:nvPr>
            <p:ph type="title" hasCustomPrompt="1"/>
          </p:nvPr>
        </p:nvSpPr>
        <p:spPr>
          <a:xfrm>
            <a:off x="228600" y="228600"/>
            <a:ext cx="3114675" cy="885825"/>
          </a:xfrm>
        </p:spPr>
        <p:txBody>
          <a:bodyPr anchor="t"/>
          <a:lstStyle>
            <a:lvl1pPr>
              <a:defRPr sz="3000"/>
            </a:lvl1pPr>
          </a:lstStyle>
          <a:p>
            <a:r>
              <a:rPr lang="en-US" dirty="0"/>
              <a:t>Content with caption layout</a:t>
            </a:r>
          </a:p>
        </p:txBody>
      </p:sp>
      <p:sp>
        <p:nvSpPr>
          <p:cNvPr id="3" name="Content Placeholder 2">
            <a:extLst>
              <a:ext uri="{FF2B5EF4-FFF2-40B4-BE49-F238E27FC236}">
                <a16:creationId xmlns:a16="http://schemas.microsoft.com/office/drawing/2014/main" id="{BD4425BD-017D-469D-AB54-06E3E3BCCBA6}"/>
              </a:ext>
            </a:extLst>
          </p:cNvPr>
          <p:cNvSpPr>
            <a:spLocks noGrp="1"/>
          </p:cNvSpPr>
          <p:nvPr>
            <p:ph idx="1" hasCustomPrompt="1"/>
          </p:nvPr>
        </p:nvSpPr>
        <p:spPr>
          <a:xfrm>
            <a:off x="3771900" y="228599"/>
            <a:ext cx="5143500" cy="4429126"/>
          </a:xfrm>
        </p:spPr>
        <p:txBody>
          <a:bodyPr>
            <a:noAutofit/>
          </a:bodyPr>
          <a:lstStyle>
            <a:lvl1pPr marL="0" indent="0">
              <a:buNone/>
              <a:defRPr sz="2100"/>
            </a:lvl1pPr>
            <a:lvl2pPr marL="171450" indent="0">
              <a:buNone/>
              <a:defRPr sz="1800"/>
            </a:lvl2pPr>
            <a:lvl3pPr marL="342900" indent="0">
              <a:buNone/>
              <a:defRPr sz="1500"/>
            </a:lvl3pPr>
            <a:lvl4pPr marL="514350" indent="0">
              <a:buNone/>
              <a:defRPr sz="1350"/>
            </a:lvl4pPr>
            <a:lvl5pPr marL="514350" indent="0">
              <a:buNone/>
              <a:defRPr sz="1350"/>
            </a:lvl5pPr>
            <a:lvl6pPr>
              <a:defRPr sz="1500"/>
            </a:lvl6pPr>
            <a:lvl7pPr>
              <a:defRPr sz="1500"/>
            </a:lvl7pPr>
            <a:lvl8pPr>
              <a:defRPr sz="1500"/>
            </a:lvl8pPr>
            <a:lvl9pPr>
              <a:defRPr sz="1500"/>
            </a:lvl9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24C1E26-36AF-47C4-ABA4-2D427A11BDAC}"/>
              </a:ext>
            </a:extLst>
          </p:cNvPr>
          <p:cNvSpPr>
            <a:spLocks noGrp="1"/>
          </p:cNvSpPr>
          <p:nvPr>
            <p:ph type="body" sz="half" idx="2" hasCustomPrompt="1"/>
          </p:nvPr>
        </p:nvSpPr>
        <p:spPr>
          <a:xfrm>
            <a:off x="228600" y="1635919"/>
            <a:ext cx="3114675" cy="25853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Enter description</a:t>
            </a:r>
          </a:p>
        </p:txBody>
      </p:sp>
      <p:pic>
        <p:nvPicPr>
          <p:cNvPr id="6" name="Picture 5">
            <a:extLst>
              <a:ext uri="{FF2B5EF4-FFF2-40B4-BE49-F238E27FC236}">
                <a16:creationId xmlns:a16="http://schemas.microsoft.com/office/drawing/2014/main" id="{AFC44287-B2A7-4C95-A779-3F4151ACF3F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2139446897"/>
      </p:ext>
    </p:extLst>
  </p:cSld>
  <p:clrMapOvr>
    <a:masterClrMapping/>
  </p:clrMapOvr>
  <p:transition>
    <p:fade/>
  </p:transition>
  <p:extLst>
    <p:ext uri="{DCECCB84-F9BA-43D5-87BE-67443E8EF086}">
      <p15:sldGuideLst xmlns:p15="http://schemas.microsoft.com/office/powerpoint/2012/main">
        <p15:guide id="1" pos="2808">
          <p15:clr>
            <a:srgbClr val="FBAE40"/>
          </p15:clr>
        </p15:guide>
        <p15:guide id="2" orient="horz" pos="1368">
          <p15:clr>
            <a:srgbClr val="FBAE40"/>
          </p15:clr>
        </p15:guide>
        <p15:guide id="3" pos="316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988CF-49CB-49EE-AEAE-AF86931C7892}"/>
              </a:ext>
            </a:extLst>
          </p:cNvPr>
          <p:cNvSpPr>
            <a:spLocks noGrp="1"/>
          </p:cNvSpPr>
          <p:nvPr>
            <p:ph type="title" hasCustomPrompt="1"/>
          </p:nvPr>
        </p:nvSpPr>
        <p:spPr>
          <a:xfrm>
            <a:off x="228600" y="228600"/>
            <a:ext cx="3114675" cy="885825"/>
          </a:xfrm>
        </p:spPr>
        <p:txBody>
          <a:bodyPr anchor="t"/>
          <a:lstStyle>
            <a:lvl1pPr>
              <a:defRPr sz="3000"/>
            </a:lvl1pPr>
          </a:lstStyle>
          <a:p>
            <a:r>
              <a:rPr lang="en-US" dirty="0"/>
              <a:t>Picture with caption layout</a:t>
            </a:r>
          </a:p>
        </p:txBody>
      </p:sp>
      <p:sp>
        <p:nvSpPr>
          <p:cNvPr id="3" name="Picture Placeholder 2">
            <a:extLst>
              <a:ext uri="{FF2B5EF4-FFF2-40B4-BE49-F238E27FC236}">
                <a16:creationId xmlns:a16="http://schemas.microsoft.com/office/drawing/2014/main" id="{C4FCFB70-4D2B-4A5F-B5F1-1904D4D48BFB}"/>
              </a:ext>
            </a:extLst>
          </p:cNvPr>
          <p:cNvSpPr>
            <a:spLocks noGrp="1"/>
          </p:cNvSpPr>
          <p:nvPr>
            <p:ph type="pic" idx="1" hasCustomPrompt="1"/>
          </p:nvPr>
        </p:nvSpPr>
        <p:spPr>
          <a:xfrm>
            <a:off x="3771900" y="228599"/>
            <a:ext cx="5143500" cy="4429126"/>
          </a:xfrm>
        </p:spPr>
        <p:txBody>
          <a:bodyPr anchor="ctr">
            <a:noAutofit/>
          </a:bodyPr>
          <a:lstStyle>
            <a:lvl1pPr marL="0" indent="0" algn="ctr">
              <a:buNone/>
              <a:defRPr sz="18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image</a:t>
            </a:r>
            <a:br>
              <a:rPr lang="en-US" dirty="0"/>
            </a:br>
            <a:br>
              <a:rPr lang="en-US" dirty="0"/>
            </a:br>
            <a:endParaRPr lang="en-US" dirty="0"/>
          </a:p>
        </p:txBody>
      </p:sp>
      <p:sp>
        <p:nvSpPr>
          <p:cNvPr id="4" name="Text Placeholder 3">
            <a:extLst>
              <a:ext uri="{FF2B5EF4-FFF2-40B4-BE49-F238E27FC236}">
                <a16:creationId xmlns:a16="http://schemas.microsoft.com/office/drawing/2014/main" id="{5334DB1E-5222-413E-A157-09D2D7B06BED}"/>
              </a:ext>
            </a:extLst>
          </p:cNvPr>
          <p:cNvSpPr>
            <a:spLocks noGrp="1"/>
          </p:cNvSpPr>
          <p:nvPr>
            <p:ph type="body" sz="half" idx="2" hasCustomPrompt="1"/>
          </p:nvPr>
        </p:nvSpPr>
        <p:spPr>
          <a:xfrm>
            <a:off x="228600" y="1635918"/>
            <a:ext cx="3114675" cy="25853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Enter description</a:t>
            </a:r>
          </a:p>
        </p:txBody>
      </p:sp>
      <p:pic>
        <p:nvPicPr>
          <p:cNvPr id="6" name="Picture 5">
            <a:extLst>
              <a:ext uri="{FF2B5EF4-FFF2-40B4-BE49-F238E27FC236}">
                <a16:creationId xmlns:a16="http://schemas.microsoft.com/office/drawing/2014/main" id="{793D827A-089B-4E08-84DA-CE974B5C540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3794463964"/>
      </p:ext>
    </p:extLst>
  </p:cSld>
  <p:clrMapOvr>
    <a:masterClrMapping/>
  </p:clrMapOvr>
  <p:transition>
    <p:fade/>
  </p:transition>
  <p:extLst>
    <p:ext uri="{DCECCB84-F9BA-43D5-87BE-67443E8EF086}">
      <p15:sldGuideLst xmlns:p15="http://schemas.microsoft.com/office/powerpoint/2012/main">
        <p15:guide id="1" pos="2808">
          <p15:clr>
            <a:srgbClr val="FBAE40"/>
          </p15:clr>
        </p15:guide>
        <p15:guide id="2" orient="horz" pos="1368">
          <p15:clr>
            <a:srgbClr val="FBAE40"/>
          </p15:clr>
        </p15:guide>
        <p15:guide id="3" pos="316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B277E4-9A69-4767-9CF4-47951F1853B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19" name="Picture 18">
            <a:extLst>
              <a:ext uri="{FF2B5EF4-FFF2-40B4-BE49-F238E27FC236}">
                <a16:creationId xmlns:a16="http://schemas.microsoft.com/office/drawing/2014/main" id="{4176C295-EE16-47C5-A918-84875C58174D}"/>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0" y="0"/>
            <a:ext cx="118385" cy="5143500"/>
          </a:xfrm>
          <a:prstGeom prst="rect">
            <a:avLst/>
          </a:prstGeom>
        </p:spPr>
      </p:pic>
      <p:sp>
        <p:nvSpPr>
          <p:cNvPr id="6" name="TextBox 5">
            <a:extLst>
              <a:ext uri="{FF2B5EF4-FFF2-40B4-BE49-F238E27FC236}">
                <a16:creationId xmlns:a16="http://schemas.microsoft.com/office/drawing/2014/main" id="{EA4B92D1-BD95-4ACC-9E97-FE9B372B651C}"/>
              </a:ext>
            </a:extLst>
          </p:cNvPr>
          <p:cNvSpPr txBox="1"/>
          <p:nvPr userDrawn="1"/>
        </p:nvSpPr>
        <p:spPr bwMode="white">
          <a:xfrm>
            <a:off x="100013" y="1285435"/>
            <a:ext cx="6310313" cy="846365"/>
          </a:xfrm>
          <a:prstGeom prst="rect">
            <a:avLst/>
          </a:prstGeom>
          <a:noFill/>
        </p:spPr>
        <p:txBody>
          <a:bodyPr lIns="137160" tIns="68580" rIns="109728" bIns="68580"/>
          <a:lstStyle>
            <a:lvl1pPr defTabSz="1097278">
              <a:lnSpc>
                <a:spcPct val="90000"/>
              </a:lnSpc>
              <a:spcBef>
                <a:spcPct val="0"/>
              </a:spcBef>
              <a:buNone/>
              <a:defRPr lang="en-US" sz="6600" b="0" cap="none" spc="-118" baseline="0" dirty="0" smtClean="0">
                <a:ln w="3175">
                  <a:noFill/>
                </a:ln>
                <a:solidFill>
                  <a:schemeClr val="bg1"/>
                </a:solidFill>
                <a:effectLst/>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eaLnBrk="1" fontAlgn="auto" hangingPunct="1">
              <a:spcAft>
                <a:spcPts val="0"/>
              </a:spcAft>
              <a:defRPr/>
            </a:pPr>
            <a:r>
              <a:rPr sz="5400" b="1" i="0" spc="-225" dirty="0">
                <a:solidFill>
                  <a:schemeClr val="tx1"/>
                </a:solidFill>
                <a:latin typeface="+mn-lt"/>
                <a:ea typeface="Amazon Ember Display" panose="020F0603020204020204" pitchFamily="34" charset="0"/>
                <a:cs typeface="Amazon Ember Display" panose="020F0603020204020204" pitchFamily="34" charset="0"/>
              </a:rPr>
              <a:t>Thank you!</a:t>
            </a:r>
          </a:p>
        </p:txBody>
      </p:sp>
      <p:sp>
        <p:nvSpPr>
          <p:cNvPr id="9" name="TextBox 3">
            <a:extLst>
              <a:ext uri="{FF2B5EF4-FFF2-40B4-BE49-F238E27FC236}">
                <a16:creationId xmlns:a16="http://schemas.microsoft.com/office/drawing/2014/main" id="{408A370D-82D9-46EE-9BFE-A0195797ED61}"/>
              </a:ext>
            </a:extLst>
          </p:cNvPr>
          <p:cNvSpPr txBox="1">
            <a:spLocks noChangeArrowheads="1"/>
          </p:cNvSpPr>
          <p:nvPr userDrawn="1"/>
        </p:nvSpPr>
        <p:spPr bwMode="white">
          <a:xfrm>
            <a:off x="826155" y="4857640"/>
            <a:ext cx="2971800" cy="80791"/>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822909" eaLnBrk="1" fontAlgn="auto" hangingPunct="1">
              <a:spcBef>
                <a:spcPts val="0"/>
              </a:spcBef>
              <a:spcAft>
                <a:spcPts val="0"/>
              </a:spcAft>
              <a:defRPr/>
            </a:pPr>
            <a:r>
              <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sp>
        <p:nvSpPr>
          <p:cNvPr id="11" name="Text Placeholder 10">
            <a:extLst>
              <a:ext uri="{FF2B5EF4-FFF2-40B4-BE49-F238E27FC236}">
                <a16:creationId xmlns:a16="http://schemas.microsoft.com/office/drawing/2014/main" id="{71881157-0DF8-49E6-B684-3E8FD245EE8E}"/>
              </a:ext>
            </a:extLst>
          </p:cNvPr>
          <p:cNvSpPr>
            <a:spLocks noGrp="1"/>
          </p:cNvSpPr>
          <p:nvPr>
            <p:ph type="body" sz="quarter" idx="10" hasCustomPrompt="1"/>
          </p:nvPr>
        </p:nvSpPr>
        <p:spPr>
          <a:xfrm>
            <a:off x="323850" y="2566943"/>
            <a:ext cx="2571750" cy="300082"/>
          </a:xfrm>
        </p:spPr>
        <p:txBody>
          <a:bodyPr anchor="b"/>
          <a:lstStyle>
            <a:lvl1pPr marL="0" indent="0">
              <a:buNone/>
              <a:defRPr sz="1500" b="1"/>
            </a:lvl1pPr>
          </a:lstStyle>
          <a:p>
            <a:pPr lvl="0"/>
            <a:r>
              <a:rPr lang="en-US" dirty="0"/>
              <a:t>Speaker name</a:t>
            </a:r>
          </a:p>
        </p:txBody>
      </p:sp>
      <p:sp>
        <p:nvSpPr>
          <p:cNvPr id="13" name="Text Placeholder 12">
            <a:extLst>
              <a:ext uri="{FF2B5EF4-FFF2-40B4-BE49-F238E27FC236}">
                <a16:creationId xmlns:a16="http://schemas.microsoft.com/office/drawing/2014/main" id="{EA2927B3-63A9-43F6-91E9-B153F0DF34DC}"/>
              </a:ext>
            </a:extLst>
          </p:cNvPr>
          <p:cNvSpPr>
            <a:spLocks noGrp="1"/>
          </p:cNvSpPr>
          <p:nvPr>
            <p:ph type="body" sz="quarter" idx="11" hasCustomPrompt="1"/>
          </p:nvPr>
        </p:nvSpPr>
        <p:spPr>
          <a:xfrm>
            <a:off x="323850" y="2876550"/>
            <a:ext cx="2571750" cy="846365"/>
          </a:xfrm>
        </p:spPr>
        <p:txBody>
          <a:bodyPr>
            <a:noAutofit/>
          </a:bodyPr>
          <a:lstStyle>
            <a:lvl1pPr marL="0" indent="0">
              <a:spcAft>
                <a:spcPts val="450"/>
              </a:spcAft>
              <a:buNone/>
              <a:defRPr sz="1350"/>
            </a:lvl1pPr>
          </a:lstStyle>
          <a:p>
            <a:pPr lvl="0"/>
            <a:r>
              <a:rPr lang="en-US" dirty="0"/>
              <a:t>Speaker contact info (such as email or socials)</a:t>
            </a:r>
          </a:p>
        </p:txBody>
      </p:sp>
      <p:sp>
        <p:nvSpPr>
          <p:cNvPr id="14" name="Text Placeholder 10">
            <a:extLst>
              <a:ext uri="{FF2B5EF4-FFF2-40B4-BE49-F238E27FC236}">
                <a16:creationId xmlns:a16="http://schemas.microsoft.com/office/drawing/2014/main" id="{25647617-D370-4344-8A52-A50356181DAE}"/>
              </a:ext>
            </a:extLst>
          </p:cNvPr>
          <p:cNvSpPr>
            <a:spLocks noGrp="1"/>
          </p:cNvSpPr>
          <p:nvPr>
            <p:ph type="body" sz="quarter" idx="12" hasCustomPrompt="1"/>
          </p:nvPr>
        </p:nvSpPr>
        <p:spPr>
          <a:xfrm>
            <a:off x="3056962" y="2566943"/>
            <a:ext cx="2571750" cy="300082"/>
          </a:xfrm>
        </p:spPr>
        <p:txBody>
          <a:bodyPr anchor="b"/>
          <a:lstStyle>
            <a:lvl1pPr marL="0" indent="0">
              <a:buNone/>
              <a:defRPr sz="1500" b="1"/>
            </a:lvl1pPr>
          </a:lstStyle>
          <a:p>
            <a:pPr lvl="0"/>
            <a:r>
              <a:rPr lang="en-US" dirty="0"/>
              <a:t>Speaker name</a:t>
            </a:r>
          </a:p>
        </p:txBody>
      </p:sp>
      <p:sp>
        <p:nvSpPr>
          <p:cNvPr id="15" name="Text Placeholder 10">
            <a:extLst>
              <a:ext uri="{FF2B5EF4-FFF2-40B4-BE49-F238E27FC236}">
                <a16:creationId xmlns:a16="http://schemas.microsoft.com/office/drawing/2014/main" id="{901E06BA-A855-4482-AB73-94B5EFBA8420}"/>
              </a:ext>
            </a:extLst>
          </p:cNvPr>
          <p:cNvSpPr>
            <a:spLocks noGrp="1"/>
          </p:cNvSpPr>
          <p:nvPr>
            <p:ph type="body" sz="quarter" idx="13" hasCustomPrompt="1"/>
          </p:nvPr>
        </p:nvSpPr>
        <p:spPr>
          <a:xfrm>
            <a:off x="5790075" y="2566943"/>
            <a:ext cx="2571750" cy="300082"/>
          </a:xfrm>
        </p:spPr>
        <p:txBody>
          <a:bodyPr anchor="b"/>
          <a:lstStyle>
            <a:lvl1pPr marL="0" indent="0">
              <a:buNone/>
              <a:defRPr sz="1500" b="1"/>
            </a:lvl1pPr>
          </a:lstStyle>
          <a:p>
            <a:pPr lvl="0"/>
            <a:r>
              <a:rPr lang="en-US" dirty="0"/>
              <a:t>Speaker name</a:t>
            </a:r>
          </a:p>
        </p:txBody>
      </p:sp>
      <p:sp>
        <p:nvSpPr>
          <p:cNvPr id="16" name="Text Placeholder 12">
            <a:extLst>
              <a:ext uri="{FF2B5EF4-FFF2-40B4-BE49-F238E27FC236}">
                <a16:creationId xmlns:a16="http://schemas.microsoft.com/office/drawing/2014/main" id="{167C7A81-0FAF-4B91-8CE3-3CB926ABA277}"/>
              </a:ext>
            </a:extLst>
          </p:cNvPr>
          <p:cNvSpPr>
            <a:spLocks noGrp="1"/>
          </p:cNvSpPr>
          <p:nvPr>
            <p:ph type="body" sz="quarter" idx="14" hasCustomPrompt="1"/>
          </p:nvPr>
        </p:nvSpPr>
        <p:spPr>
          <a:xfrm>
            <a:off x="3056962" y="2876550"/>
            <a:ext cx="2571750" cy="846365"/>
          </a:xfrm>
        </p:spPr>
        <p:txBody>
          <a:bodyPr>
            <a:noAutofit/>
          </a:bodyPr>
          <a:lstStyle>
            <a:lvl1pPr marL="0" indent="0">
              <a:spcAft>
                <a:spcPts val="450"/>
              </a:spcAft>
              <a:buNone/>
              <a:defRPr sz="1350"/>
            </a:lvl1pPr>
          </a:lstStyle>
          <a:p>
            <a:pPr lvl="0"/>
            <a:r>
              <a:rPr lang="en-US" dirty="0"/>
              <a:t>Speaker contact info (such as email or socials)</a:t>
            </a:r>
          </a:p>
        </p:txBody>
      </p:sp>
      <p:sp>
        <p:nvSpPr>
          <p:cNvPr id="17" name="Text Placeholder 12">
            <a:extLst>
              <a:ext uri="{FF2B5EF4-FFF2-40B4-BE49-F238E27FC236}">
                <a16:creationId xmlns:a16="http://schemas.microsoft.com/office/drawing/2014/main" id="{69E66DAE-B2A2-4775-9B21-0BED6B9C887E}"/>
              </a:ext>
            </a:extLst>
          </p:cNvPr>
          <p:cNvSpPr>
            <a:spLocks noGrp="1"/>
          </p:cNvSpPr>
          <p:nvPr>
            <p:ph type="body" sz="quarter" idx="15" hasCustomPrompt="1"/>
          </p:nvPr>
        </p:nvSpPr>
        <p:spPr>
          <a:xfrm>
            <a:off x="5790075" y="2876550"/>
            <a:ext cx="2571750" cy="846365"/>
          </a:xfrm>
        </p:spPr>
        <p:txBody>
          <a:bodyPr>
            <a:noAutofit/>
          </a:bodyPr>
          <a:lstStyle>
            <a:lvl1pPr marL="0" indent="0">
              <a:spcAft>
                <a:spcPts val="450"/>
              </a:spcAft>
              <a:buNone/>
              <a:defRPr sz="1350"/>
            </a:lvl1pPr>
          </a:lstStyle>
          <a:p>
            <a:pPr lvl="0"/>
            <a:r>
              <a:rPr lang="en-US" dirty="0"/>
              <a:t>Speaker contact info (such as email or socials)</a:t>
            </a:r>
          </a:p>
        </p:txBody>
      </p:sp>
      <p:sp>
        <p:nvSpPr>
          <p:cNvPr id="43" name="Title 42">
            <a:extLst>
              <a:ext uri="{FF2B5EF4-FFF2-40B4-BE49-F238E27FC236}">
                <a16:creationId xmlns:a16="http://schemas.microsoft.com/office/drawing/2014/main" id="{0D9B8DBA-78C6-4788-90BB-271D175CD3A8}"/>
              </a:ext>
            </a:extLst>
          </p:cNvPr>
          <p:cNvSpPr>
            <a:spLocks noGrp="1"/>
          </p:cNvSpPr>
          <p:nvPr>
            <p:ph type="title" hasCustomPrompt="1"/>
          </p:nvPr>
        </p:nvSpPr>
        <p:spPr>
          <a:xfrm>
            <a:off x="0" y="-495651"/>
            <a:ext cx="9144000" cy="478631"/>
          </a:xfrm>
        </p:spPr>
        <p:txBody>
          <a:bodyPr/>
          <a:lstStyle>
            <a:lvl1pPr>
              <a:defRPr>
                <a:solidFill>
                  <a:schemeClr val="bg1">
                    <a:lumMod val="65000"/>
                    <a:lumOff val="35000"/>
                  </a:schemeClr>
                </a:solidFill>
              </a:defRPr>
            </a:lvl1pPr>
          </a:lstStyle>
          <a:p>
            <a:r>
              <a:rPr lang="en-US" dirty="0"/>
              <a:t>Thank you layout</a:t>
            </a:r>
          </a:p>
        </p:txBody>
      </p:sp>
      <p:grpSp>
        <p:nvGrpSpPr>
          <p:cNvPr id="24" name="Group 23">
            <a:extLst>
              <a:ext uri="{FF2B5EF4-FFF2-40B4-BE49-F238E27FC236}">
                <a16:creationId xmlns:a16="http://schemas.microsoft.com/office/drawing/2014/main" id="{84C7E06E-CA3B-4922-B6C2-10A3255541E3}"/>
              </a:ext>
            </a:extLst>
          </p:cNvPr>
          <p:cNvGrpSpPr/>
          <p:nvPr userDrawn="1"/>
        </p:nvGrpSpPr>
        <p:grpSpPr>
          <a:xfrm>
            <a:off x="5424487" y="1318866"/>
            <a:ext cx="3720836" cy="779502"/>
            <a:chOff x="7232650" y="1769509"/>
            <a:chExt cx="4961114" cy="1039336"/>
          </a:xfrm>
        </p:grpSpPr>
        <p:sp>
          <p:nvSpPr>
            <p:cNvPr id="25" name="Oval 24">
              <a:extLst>
                <a:ext uri="{FF2B5EF4-FFF2-40B4-BE49-F238E27FC236}">
                  <a16:creationId xmlns:a16="http://schemas.microsoft.com/office/drawing/2014/main" id="{F4869B64-841D-4E69-A2A8-9AF625BE3A9B}"/>
                </a:ext>
              </a:extLst>
            </p:cNvPr>
            <p:cNvSpPr/>
            <p:nvPr userDrawn="1"/>
          </p:nvSpPr>
          <p:spPr bwMode="auto">
            <a:xfrm>
              <a:off x="7232650" y="1872748"/>
              <a:ext cx="832859" cy="832859"/>
            </a:xfrm>
            <a:prstGeom prst="ellipse">
              <a:avLst/>
            </a:prstGeom>
            <a:solidFill>
              <a:srgbClr val="20115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0" tIns="91440" rIns="0" bIns="0" anchor="ctr"/>
            <a:lstStyle/>
            <a:p>
              <a:pPr algn="ctr" defTabSz="699354" eaLnBrk="1" hangingPunct="1">
                <a:lnSpc>
                  <a:spcPct val="90000"/>
                </a:lnSpc>
                <a:defRPr/>
              </a:pPr>
              <a:endParaRPr lang="en-US" sz="4050" b="1" dirty="0">
                <a:solidFill>
                  <a:schemeClr val="tx1"/>
                </a:solidFill>
                <a:ea typeface="Amazon Ember Display" panose="020F0603020204020204" pitchFamily="34" charset="0"/>
                <a:cs typeface="Amazon Ember Display" panose="020F0603020204020204" pitchFamily="34" charset="0"/>
              </a:endParaRPr>
            </a:p>
          </p:txBody>
        </p:sp>
        <p:sp>
          <p:nvSpPr>
            <p:cNvPr id="26" name="Rectangle 25">
              <a:extLst>
                <a:ext uri="{FF2B5EF4-FFF2-40B4-BE49-F238E27FC236}">
                  <a16:creationId xmlns:a16="http://schemas.microsoft.com/office/drawing/2014/main" id="{8B6ADC72-224D-4A5A-870A-AEE582EDC5AA}"/>
                </a:ext>
              </a:extLst>
            </p:cNvPr>
            <p:cNvSpPr/>
            <p:nvPr userDrawn="1"/>
          </p:nvSpPr>
          <p:spPr>
            <a:xfrm>
              <a:off x="7637646" y="1872748"/>
              <a:ext cx="4556118" cy="832859"/>
            </a:xfrm>
            <a:prstGeom prst="rect">
              <a:avLst/>
            </a:prstGeom>
            <a:gradFill flip="none" rotWithShape="1">
              <a:gsLst>
                <a:gs pos="57000">
                  <a:schemeClr val="bg2">
                    <a:lumMod val="75000"/>
                    <a:lumOff val="25000"/>
                  </a:schemeClr>
                </a:gs>
                <a:gs pos="95000">
                  <a:srgbClr val="400656"/>
                </a:gs>
                <a:gs pos="16000">
                  <a:srgbClr val="20115F"/>
                </a:gs>
              </a:gsLst>
              <a:lin ang="1440000" scaled="0"/>
              <a:tileRect/>
            </a:gradFill>
            <a:ln>
              <a:noFill/>
            </a:ln>
            <a:effectLst/>
          </p:spPr>
          <p:style>
            <a:lnRef idx="1">
              <a:schemeClr val="accent1"/>
            </a:lnRef>
            <a:fillRef idx="3">
              <a:schemeClr val="accent1"/>
            </a:fillRef>
            <a:effectRef idx="2">
              <a:schemeClr val="accent1"/>
            </a:effectRef>
            <a:fontRef idx="minor">
              <a:schemeClr val="lt1"/>
            </a:fontRef>
          </p:style>
          <p:txBody>
            <a:bodyPr lIns="1828800" rIns="182880" rtlCol="0" anchor="ctr"/>
            <a:lstStyle/>
            <a:p>
              <a:pPr lvl="0">
                <a:lnSpc>
                  <a:spcPct val="80000"/>
                </a:lnSpc>
              </a:pPr>
              <a:endParaRPr lang="en-US" sz="1200" dirty="0">
                <a:solidFill>
                  <a:schemeClr val="bg1"/>
                </a:solidFill>
                <a:cs typeface="Amazon Ember Display" panose="020F0603020204020204" pitchFamily="34" charset="0"/>
              </a:endParaRPr>
            </a:p>
          </p:txBody>
        </p:sp>
        <p:sp>
          <p:nvSpPr>
            <p:cNvPr id="27" name="TextBox 26">
              <a:extLst>
                <a:ext uri="{FF2B5EF4-FFF2-40B4-BE49-F238E27FC236}">
                  <a16:creationId xmlns:a16="http://schemas.microsoft.com/office/drawing/2014/main" id="{FF86D94E-33EB-4D5B-9BA2-E558D513AC36}"/>
                </a:ext>
              </a:extLst>
            </p:cNvPr>
            <p:cNvSpPr txBox="1"/>
            <p:nvPr userDrawn="1"/>
          </p:nvSpPr>
          <p:spPr>
            <a:xfrm>
              <a:off x="8594726" y="1900796"/>
              <a:ext cx="3394181" cy="892552"/>
            </a:xfrm>
            <a:prstGeom prst="rect">
              <a:avLst/>
            </a:prstGeom>
            <a:noFill/>
          </p:spPr>
          <p:txBody>
            <a:bodyPr wrap="square" lIns="182880" tIns="146304" rIns="182880" bIns="146304" rtlCol="0">
              <a:spAutoFit/>
            </a:bodyPr>
            <a:lstStyle/>
            <a:p>
              <a:pPr algn="l">
                <a:lnSpc>
                  <a:spcPct val="90000"/>
                </a:lnSpc>
                <a:spcAft>
                  <a:spcPts val="1350"/>
                </a:spcAft>
              </a:pPr>
              <a:r>
                <a:rPr lang="en-US" sz="135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Please complete the session survey in the </a:t>
              </a:r>
              <a:r>
                <a:rPr lang="en-US" sz="1350" b="0" u="none"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mobile app</a:t>
              </a:r>
            </a:p>
          </p:txBody>
        </p:sp>
        <p:pic>
          <p:nvPicPr>
            <p:cNvPr id="28" name="Graphic 27">
              <a:extLst>
                <a:ext uri="{FF2B5EF4-FFF2-40B4-BE49-F238E27FC236}">
                  <a16:creationId xmlns:a16="http://schemas.microsoft.com/office/drawing/2014/main" id="{E0DF1074-5183-456A-A65A-F40ABF94198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511809" y="1769509"/>
              <a:ext cx="1039336" cy="1039336"/>
            </a:xfrm>
            <a:prstGeom prst="rect">
              <a:avLst/>
            </a:prstGeom>
          </p:spPr>
        </p:pic>
      </p:grpSp>
      <p:pic>
        <p:nvPicPr>
          <p:cNvPr id="18" name="Picture 17">
            <a:extLst>
              <a:ext uri="{FF2B5EF4-FFF2-40B4-BE49-F238E27FC236}">
                <a16:creationId xmlns:a16="http://schemas.microsoft.com/office/drawing/2014/main" id="{DBD2A98C-F1FC-4E4F-9A9B-56DDFDF98232}"/>
              </a:ext>
            </a:extLst>
          </p:cNvPr>
          <p:cNvPicPr>
            <a:picLocks noChangeAspect="1"/>
          </p:cNvPicPr>
          <p:nvPr userDrawn="1"/>
        </p:nvPicPr>
        <p:blipFill>
          <a:blip r:embed="rId5"/>
          <a:srcRect/>
          <a:stretch/>
        </p:blipFill>
        <p:spPr>
          <a:xfrm>
            <a:off x="219376" y="4821496"/>
            <a:ext cx="291614" cy="164694"/>
          </a:xfrm>
          <a:prstGeom prst="rect">
            <a:avLst/>
          </a:prstGeom>
        </p:spPr>
      </p:pic>
    </p:spTree>
    <p:extLst>
      <p:ext uri="{BB962C8B-B14F-4D97-AF65-F5344CB8AC3E}">
        <p14:creationId xmlns:p14="http://schemas.microsoft.com/office/powerpoint/2010/main" val="3536375964"/>
      </p:ext>
    </p:extLst>
  </p:cSld>
  <p:clrMapOvr>
    <a:masterClrMapping/>
  </p:clrMapOvr>
  <p:transition>
    <p:fade/>
  </p:transition>
  <p:extLst>
    <p:ext uri="{DCECCB84-F9BA-43D5-87BE-67443E8EF086}">
      <p15:sldGuideLst xmlns:p15="http://schemas.microsoft.com/office/powerpoint/2012/main">
        <p15:guide id="1" pos="26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75D63-DB02-47E2-8ABC-1CDE7351B5CE}"/>
              </a:ext>
            </a:extLst>
          </p:cNvPr>
          <p:cNvSpPr>
            <a:spLocks noGrp="1"/>
          </p:cNvSpPr>
          <p:nvPr>
            <p:ph type="title" hasCustomPrompt="1"/>
          </p:nvPr>
        </p:nvSpPr>
        <p:spPr/>
        <p:txBody>
          <a:bodyPr/>
          <a:lstStyle>
            <a:lvl1pPr>
              <a:defRPr/>
            </a:lvl1pPr>
          </a:lstStyle>
          <a:p>
            <a:r>
              <a:rPr lang="en-US" dirty="0"/>
              <a:t>Title vertical text layout (for global use)</a:t>
            </a:r>
          </a:p>
        </p:txBody>
      </p:sp>
      <p:sp>
        <p:nvSpPr>
          <p:cNvPr id="3" name="Vertical Text Placeholder 2">
            <a:extLst>
              <a:ext uri="{FF2B5EF4-FFF2-40B4-BE49-F238E27FC236}">
                <a16:creationId xmlns:a16="http://schemas.microsoft.com/office/drawing/2014/main" id="{3798635E-72DE-4F61-BE10-3EAC7D7834F6}"/>
              </a:ext>
            </a:extLst>
          </p:cNvPr>
          <p:cNvSpPr>
            <a:spLocks noGrp="1"/>
          </p:cNvSpPr>
          <p:nvPr>
            <p:ph type="body" orient="vert" idx="1" hasCustomPrompt="1"/>
          </p:nvPr>
        </p:nvSpPr>
        <p:spPr>
          <a:xfrm>
            <a:off x="228600" y="1114425"/>
            <a:ext cx="8686801" cy="3543300"/>
          </a:xfrm>
        </p:spPr>
        <p:txBody>
          <a:bodyPr vert="eaVert">
            <a:noAutofit/>
          </a:bodyPr>
          <a:lstStyle>
            <a:lvl1pPr>
              <a:defRPr/>
            </a:lvl1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942B27F6-70E9-4C1D-B876-3F56E6F0B83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4249705712"/>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5A6E2F-2A0D-41FD-98C9-E5EC67311CD7}"/>
              </a:ext>
            </a:extLst>
          </p:cNvPr>
          <p:cNvSpPr>
            <a:spLocks noGrp="1"/>
          </p:cNvSpPr>
          <p:nvPr>
            <p:ph type="title" orient="vert" hasCustomPrompt="1"/>
          </p:nvPr>
        </p:nvSpPr>
        <p:spPr>
          <a:xfrm>
            <a:off x="6943725" y="228600"/>
            <a:ext cx="1971675" cy="4358879"/>
          </a:xfrm>
        </p:spPr>
        <p:txBody>
          <a:bodyPr vert="eaVert"/>
          <a:lstStyle>
            <a:lvl1pPr>
              <a:defRPr/>
            </a:lvl1pPr>
          </a:lstStyle>
          <a:p>
            <a:r>
              <a:rPr lang="en-US" dirty="0"/>
              <a:t>Vertical title and text layout (for global use)</a:t>
            </a:r>
          </a:p>
        </p:txBody>
      </p:sp>
      <p:sp>
        <p:nvSpPr>
          <p:cNvPr id="3" name="Vertical Text Placeholder 2">
            <a:extLst>
              <a:ext uri="{FF2B5EF4-FFF2-40B4-BE49-F238E27FC236}">
                <a16:creationId xmlns:a16="http://schemas.microsoft.com/office/drawing/2014/main" id="{B304BEE4-73E5-478E-9908-4B1421AA9F89}"/>
              </a:ext>
            </a:extLst>
          </p:cNvPr>
          <p:cNvSpPr>
            <a:spLocks noGrp="1"/>
          </p:cNvSpPr>
          <p:nvPr>
            <p:ph type="body" orient="vert" idx="1" hasCustomPrompt="1"/>
          </p:nvPr>
        </p:nvSpPr>
        <p:spPr>
          <a:xfrm>
            <a:off x="228600" y="228600"/>
            <a:ext cx="6200775" cy="4429124"/>
          </a:xfrm>
        </p:spPr>
        <p:txBody>
          <a:bodyPr vert="eaVert">
            <a:noAutofit/>
          </a:bodyPr>
          <a:lstStyle>
            <a:lvl1pPr>
              <a:defRPr/>
            </a:lvl1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A9FA31B9-D512-49AE-BE72-FB74192BB55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210087711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nd of Templat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7570948-50D6-4C6C-89FC-1CF33457240B}"/>
              </a:ext>
            </a:extLst>
          </p:cNvPr>
          <p:cNvSpPr txBox="1"/>
          <p:nvPr userDrawn="1"/>
        </p:nvSpPr>
        <p:spPr>
          <a:xfrm>
            <a:off x="2614613" y="1813561"/>
            <a:ext cx="5838825" cy="1539460"/>
          </a:xfrm>
          <a:prstGeom prst="rect">
            <a:avLst/>
          </a:prstGeom>
          <a:noFill/>
        </p:spPr>
        <p:txBody>
          <a:bodyPr wrap="square" rtlCol="0">
            <a:spAutoFit/>
          </a:bodyPr>
          <a:lstStyle/>
          <a:p>
            <a:pPr algn="l">
              <a:lnSpc>
                <a:spcPct val="80000"/>
              </a:lnSpc>
            </a:pPr>
            <a:r>
              <a:rPr lang="en-US" sz="4950" b="1" i="0" dirty="0">
                <a:latin typeface="Amazon Ember Display" panose="020F0603020204020204" pitchFamily="34" charset="0"/>
                <a:ea typeface="Amazon Ember Display" panose="020F0603020204020204" pitchFamily="34" charset="0"/>
                <a:cs typeface="Amazon Ember Display" panose="020F0603020204020204" pitchFamily="34" charset="0"/>
              </a:rPr>
              <a:t>Do not use layouts after this slide.</a:t>
            </a:r>
            <a:br>
              <a:rPr lang="en-US" sz="4950" b="1" i="0" dirty="0">
                <a:latin typeface="Amazon Ember Display" panose="020F0603020204020204" pitchFamily="34" charset="0"/>
                <a:ea typeface="Amazon Ember Display" panose="020F0603020204020204" pitchFamily="34" charset="0"/>
                <a:cs typeface="Amazon Ember Display" panose="020F0603020204020204" pitchFamily="34" charset="0"/>
              </a:rPr>
            </a:br>
            <a:r>
              <a:rPr lang="en-US" sz="1800" b="1" i="0" dirty="0">
                <a:latin typeface="Amazon Ember Display" panose="020F0603020204020204" pitchFamily="34" charset="0"/>
                <a:ea typeface="Amazon Ember Display" panose="020F0603020204020204" pitchFamily="34" charset="0"/>
                <a:cs typeface="Amazon Ember Display" panose="020F0603020204020204" pitchFamily="34" charset="0"/>
              </a:rPr>
              <a:t>They are not part of the official template.</a:t>
            </a:r>
            <a:endParaRPr lang="en-US" sz="4950" b="1" i="0" dirty="0">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pic>
        <p:nvPicPr>
          <p:cNvPr id="7" name="Graphic 6" descr="Stop sign">
            <a:extLst>
              <a:ext uri="{FF2B5EF4-FFF2-40B4-BE49-F238E27FC236}">
                <a16:creationId xmlns:a16="http://schemas.microsoft.com/office/drawing/2014/main" id="{D8BDC3FF-1738-461C-B98B-AC108F0BBD7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42938" y="1585912"/>
            <a:ext cx="1971675" cy="1971675"/>
          </a:xfrm>
          <a:prstGeom prst="rect">
            <a:avLst/>
          </a:prstGeom>
        </p:spPr>
      </p:pic>
    </p:spTree>
    <p:extLst>
      <p:ext uri="{BB962C8B-B14F-4D97-AF65-F5344CB8AC3E}">
        <p14:creationId xmlns:p14="http://schemas.microsoft.com/office/powerpoint/2010/main" val="594076134"/>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B8DB0B3-FCB3-4783-A370-AE8163AE44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339"/>
            <a:ext cx="9144000" cy="5140823"/>
          </a:xfrm>
          <a:prstGeom prst="rect">
            <a:avLst/>
          </a:prstGeom>
        </p:spPr>
      </p:pic>
      <p:sp>
        <p:nvSpPr>
          <p:cNvPr id="3" name="TextBox 3">
            <a:extLst>
              <a:ext uri="{FF2B5EF4-FFF2-40B4-BE49-F238E27FC236}">
                <a16:creationId xmlns:a16="http://schemas.microsoft.com/office/drawing/2014/main" id="{4B3FA135-B564-4626-A1AE-A0336F265B86}"/>
              </a:ext>
            </a:extLst>
          </p:cNvPr>
          <p:cNvSpPr txBox="1">
            <a:spLocks noChangeArrowheads="1"/>
          </p:cNvSpPr>
          <p:nvPr userDrawn="1"/>
        </p:nvSpPr>
        <p:spPr bwMode="white">
          <a:xfrm>
            <a:off x="293426" y="4843813"/>
            <a:ext cx="2971800" cy="80791"/>
          </a:xfrm>
          <a:prstGeom prst="rect">
            <a:avLst/>
          </a:prstGeom>
          <a:noFill/>
          <a:ln>
            <a:noFill/>
          </a:ln>
        </p:spPr>
        <p:txBody>
          <a:bodyPr lIns="0" tIns="0" rIns="0" bIns="0">
            <a:spAutoFit/>
          </a:bodyPr>
          <a:lstStyle>
            <a:lvl1pPr>
              <a:defRPr>
                <a:solidFill>
                  <a:schemeClr val="tx1"/>
                </a:solidFill>
                <a:latin typeface="Amazon Ember" panose="020B0603020204020204" pitchFamily="34" charset="0"/>
              </a:defRPr>
            </a:lvl1pPr>
            <a:lvl2pPr marL="742950" indent="-285750">
              <a:defRPr>
                <a:solidFill>
                  <a:schemeClr val="tx1"/>
                </a:solidFill>
                <a:latin typeface="Amazon Ember" panose="020B0603020204020204" pitchFamily="34" charset="0"/>
              </a:defRPr>
            </a:lvl2pPr>
            <a:lvl3pPr marL="1143000" indent="-228600">
              <a:defRPr>
                <a:solidFill>
                  <a:schemeClr val="tx1"/>
                </a:solidFill>
                <a:latin typeface="Amazon Ember" panose="020B0603020204020204" pitchFamily="34" charset="0"/>
              </a:defRPr>
            </a:lvl3pPr>
            <a:lvl4pPr marL="1600200" indent="-228600">
              <a:defRPr>
                <a:solidFill>
                  <a:schemeClr val="tx1"/>
                </a:solidFill>
                <a:latin typeface="Amazon Ember" panose="020B0603020204020204" pitchFamily="34" charset="0"/>
              </a:defRPr>
            </a:lvl4pPr>
            <a:lvl5pPr marL="2057400" indent="-228600">
              <a:defRPr>
                <a:solidFill>
                  <a:schemeClr val="tx1"/>
                </a:solidFill>
                <a:latin typeface="Amazon Ember" panose="020B0603020204020204" pitchFamily="34" charset="0"/>
              </a:defRPr>
            </a:lvl5pPr>
            <a:lvl6pPr marL="2514600" indent="-228600" defTabSz="457200" fontAlgn="base">
              <a:spcBef>
                <a:spcPct val="0"/>
              </a:spcBef>
              <a:spcAft>
                <a:spcPct val="0"/>
              </a:spcAft>
              <a:defRPr>
                <a:solidFill>
                  <a:schemeClr val="tx1"/>
                </a:solidFill>
                <a:latin typeface="Amazon Ember" panose="020B0603020204020204" pitchFamily="34" charset="0"/>
              </a:defRPr>
            </a:lvl6pPr>
            <a:lvl7pPr marL="2971800" indent="-228600" defTabSz="457200" fontAlgn="base">
              <a:spcBef>
                <a:spcPct val="0"/>
              </a:spcBef>
              <a:spcAft>
                <a:spcPct val="0"/>
              </a:spcAft>
              <a:defRPr>
                <a:solidFill>
                  <a:schemeClr val="tx1"/>
                </a:solidFill>
                <a:latin typeface="Amazon Ember" panose="020B0603020204020204" pitchFamily="34" charset="0"/>
              </a:defRPr>
            </a:lvl7pPr>
            <a:lvl8pPr marL="3429000" indent="-228600" defTabSz="457200" fontAlgn="base">
              <a:spcBef>
                <a:spcPct val="0"/>
              </a:spcBef>
              <a:spcAft>
                <a:spcPct val="0"/>
              </a:spcAft>
              <a:defRPr>
                <a:solidFill>
                  <a:schemeClr val="tx1"/>
                </a:solidFill>
                <a:latin typeface="Amazon Ember" panose="020B0603020204020204" pitchFamily="34" charset="0"/>
              </a:defRPr>
            </a:lvl8pPr>
            <a:lvl9pPr marL="3886200" indent="-228600" defTabSz="457200" fontAlgn="base">
              <a:spcBef>
                <a:spcPct val="0"/>
              </a:spcBef>
              <a:spcAft>
                <a:spcPct val="0"/>
              </a:spcAft>
              <a:defRPr>
                <a:solidFill>
                  <a:schemeClr val="tx1"/>
                </a:solidFill>
                <a:latin typeface="Amazon Ember" panose="020B0603020204020204" pitchFamily="34" charset="0"/>
              </a:defRPr>
            </a:lvl9pPr>
          </a:lstStyle>
          <a:p>
            <a:pPr algn="l" defTabSz="822909" eaLnBrk="1" fontAlgn="auto" hangingPunct="1">
              <a:spcBef>
                <a:spcPts val="0"/>
              </a:spcBef>
              <a:spcAft>
                <a:spcPts val="0"/>
              </a:spcAft>
              <a:defRPr/>
            </a:pPr>
            <a:r>
              <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2025, Amazon Web Services, Inc. or its affiliates. All rights reserved.</a:t>
            </a:r>
          </a:p>
        </p:txBody>
      </p:sp>
      <p:pic>
        <p:nvPicPr>
          <p:cNvPr id="4" name="图片 3">
            <a:extLst>
              <a:ext uri="{FF2B5EF4-FFF2-40B4-BE49-F238E27FC236}">
                <a16:creationId xmlns:a16="http://schemas.microsoft.com/office/drawing/2014/main" id="{F1A43BDE-5D65-4155-8570-90780B44B3B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3426" y="218895"/>
            <a:ext cx="1543757" cy="172913"/>
          </a:xfrm>
          <a:prstGeom prst="rect">
            <a:avLst/>
          </a:prstGeom>
        </p:spPr>
      </p:pic>
    </p:spTree>
    <p:extLst>
      <p:ext uri="{BB962C8B-B14F-4D97-AF65-F5344CB8AC3E}">
        <p14:creationId xmlns:p14="http://schemas.microsoft.com/office/powerpoint/2010/main" val="3970623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68D05D-8C12-1859-9927-D2934A1EE9D7}"/>
              </a:ext>
            </a:extLst>
          </p:cNvPr>
          <p:cNvSpPr>
            <a:spLocks noGrp="1"/>
          </p:cNvSpPr>
          <p:nvPr>
            <p:ph type="dt" sz="half" idx="10"/>
          </p:nvPr>
        </p:nvSpPr>
        <p:spPr/>
        <p:txBody>
          <a:bodyPr/>
          <a:lstStyle/>
          <a:p>
            <a:fld id="{1D66148C-B7A1-B248-84FE-269D984E2E63}" type="datetimeFigureOut">
              <a:rPr lang="en-US" smtClean="0"/>
              <a:t>3/23/26</a:t>
            </a:fld>
            <a:endParaRPr lang="en-US" dirty="0"/>
          </a:p>
        </p:txBody>
      </p:sp>
      <p:sp>
        <p:nvSpPr>
          <p:cNvPr id="3" name="Footer Placeholder 2">
            <a:extLst>
              <a:ext uri="{FF2B5EF4-FFF2-40B4-BE49-F238E27FC236}">
                <a16:creationId xmlns:a16="http://schemas.microsoft.com/office/drawing/2014/main" id="{5C5C19D2-2D4E-4917-2614-299E7E99FF2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5685737-FDF0-BC37-EA10-696C327F9626}"/>
              </a:ext>
            </a:extLst>
          </p:cNvPr>
          <p:cNvSpPr>
            <a:spLocks noGrp="1"/>
          </p:cNvSpPr>
          <p:nvPr>
            <p:ph type="sldNum" sz="quarter" idx="12"/>
          </p:nvPr>
        </p:nvSpPr>
        <p:spPr/>
        <p:txBody>
          <a:bodyPr/>
          <a:lstStyle/>
          <a:p>
            <a:fld id="{DEA79619-09B7-9D4B-9D02-C4311C76E7EE}" type="slidenum">
              <a:rPr lang="en-US" smtClean="0"/>
              <a:t>‹#›</a:t>
            </a:fld>
            <a:endParaRPr lang="en-US" dirty="0"/>
          </a:p>
        </p:txBody>
      </p:sp>
    </p:spTree>
    <p:extLst>
      <p:ext uri="{BB962C8B-B14F-4D97-AF65-F5344CB8AC3E}">
        <p14:creationId xmlns:p14="http://schemas.microsoft.com/office/powerpoint/2010/main" val="33018371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5: Title only" preserve="1">
  <p:cSld name="B5: Title only">
    <p:spTree>
      <p:nvGrpSpPr>
        <p:cNvPr id="1" name="Shape 686"/>
        <p:cNvGrpSpPr/>
        <p:nvPr/>
      </p:nvGrpSpPr>
      <p:grpSpPr>
        <a:xfrm>
          <a:off x="0" y="0"/>
          <a:ext cx="0" cy="0"/>
          <a:chOff x="0" y="0"/>
          <a:chExt cx="0" cy="0"/>
        </a:xfrm>
      </p:grpSpPr>
      <p:sp>
        <p:nvSpPr>
          <p:cNvPr id="687" name="Google Shape;687;p77"/>
          <p:cNvSpPr txBox="1">
            <a:spLocks noGrp="1"/>
          </p:cNvSpPr>
          <p:nvPr>
            <p:ph type="title"/>
          </p:nvPr>
        </p:nvSpPr>
        <p:spPr>
          <a:xfrm>
            <a:off x="455775" y="445025"/>
            <a:ext cx="8238000" cy="8154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88" name="Google Shape;688;p77"/>
          <p:cNvSpPr txBox="1">
            <a:spLocks noGrp="1"/>
          </p:cNvSpPr>
          <p:nvPr>
            <p:ph type="sldNum" idx="12"/>
          </p:nvPr>
        </p:nvSpPr>
        <p:spPr>
          <a:xfrm>
            <a:off x="8256725" y="4708927"/>
            <a:ext cx="437100" cy="107400"/>
          </a:xfrm>
          <a:prstGeom prst="rect">
            <a:avLst/>
          </a:prstGeom>
        </p:spPr>
        <p:txBody>
          <a:bodyPr spcFirstLastPara="1" wrap="square" lIns="0" tIns="0" rIns="0" bIns="0" anchor="t" anchorCtr="0">
            <a:noAutofit/>
          </a:bodyPr>
          <a:lstStyle>
            <a:lvl1pPr lvl="0" algn="r">
              <a:lnSpc>
                <a:spcPct val="80000"/>
              </a:lnSpc>
              <a:buSzPts val="1018"/>
              <a:buNone/>
              <a:defRPr sz="825">
                <a:solidFill>
                  <a:schemeClr val="accent4"/>
                </a:solidFill>
                <a:latin typeface="Poppins"/>
                <a:ea typeface="Poppins"/>
                <a:cs typeface="Poppins"/>
                <a:sym typeface="Poppins"/>
              </a:defRPr>
            </a:lvl1pPr>
            <a:lvl2pPr lvl="1" algn="r">
              <a:lnSpc>
                <a:spcPct val="80000"/>
              </a:lnSpc>
              <a:buSzPts val="1018"/>
              <a:buNone/>
              <a:defRPr sz="825">
                <a:solidFill>
                  <a:schemeClr val="accent4"/>
                </a:solidFill>
                <a:latin typeface="Poppins"/>
                <a:ea typeface="Poppins"/>
                <a:cs typeface="Poppins"/>
                <a:sym typeface="Poppins"/>
              </a:defRPr>
            </a:lvl2pPr>
            <a:lvl3pPr lvl="2" algn="r">
              <a:lnSpc>
                <a:spcPct val="80000"/>
              </a:lnSpc>
              <a:buSzPts val="1018"/>
              <a:buNone/>
              <a:defRPr sz="825">
                <a:solidFill>
                  <a:schemeClr val="accent4"/>
                </a:solidFill>
                <a:latin typeface="Poppins"/>
                <a:ea typeface="Poppins"/>
                <a:cs typeface="Poppins"/>
                <a:sym typeface="Poppins"/>
              </a:defRPr>
            </a:lvl3pPr>
            <a:lvl4pPr lvl="3" algn="r">
              <a:lnSpc>
                <a:spcPct val="80000"/>
              </a:lnSpc>
              <a:buSzPts val="1018"/>
              <a:buNone/>
              <a:defRPr sz="825">
                <a:solidFill>
                  <a:schemeClr val="accent4"/>
                </a:solidFill>
                <a:latin typeface="Poppins"/>
                <a:ea typeface="Poppins"/>
                <a:cs typeface="Poppins"/>
                <a:sym typeface="Poppins"/>
              </a:defRPr>
            </a:lvl4pPr>
            <a:lvl5pPr lvl="4" algn="r">
              <a:lnSpc>
                <a:spcPct val="80000"/>
              </a:lnSpc>
              <a:buSzPts val="1018"/>
              <a:buNone/>
              <a:defRPr sz="825">
                <a:solidFill>
                  <a:schemeClr val="accent4"/>
                </a:solidFill>
                <a:latin typeface="Poppins"/>
                <a:ea typeface="Poppins"/>
                <a:cs typeface="Poppins"/>
                <a:sym typeface="Poppins"/>
              </a:defRPr>
            </a:lvl5pPr>
            <a:lvl6pPr lvl="5" algn="r">
              <a:lnSpc>
                <a:spcPct val="80000"/>
              </a:lnSpc>
              <a:buSzPts val="1018"/>
              <a:buNone/>
              <a:defRPr sz="825">
                <a:solidFill>
                  <a:schemeClr val="accent4"/>
                </a:solidFill>
                <a:latin typeface="Poppins"/>
                <a:ea typeface="Poppins"/>
                <a:cs typeface="Poppins"/>
                <a:sym typeface="Poppins"/>
              </a:defRPr>
            </a:lvl6pPr>
            <a:lvl7pPr lvl="6" algn="r">
              <a:lnSpc>
                <a:spcPct val="80000"/>
              </a:lnSpc>
              <a:buSzPts val="1018"/>
              <a:buNone/>
              <a:defRPr sz="825">
                <a:solidFill>
                  <a:schemeClr val="accent4"/>
                </a:solidFill>
                <a:latin typeface="Poppins"/>
                <a:ea typeface="Poppins"/>
                <a:cs typeface="Poppins"/>
                <a:sym typeface="Poppins"/>
              </a:defRPr>
            </a:lvl7pPr>
            <a:lvl8pPr lvl="7" algn="r">
              <a:lnSpc>
                <a:spcPct val="80000"/>
              </a:lnSpc>
              <a:buSzPts val="1018"/>
              <a:buNone/>
              <a:defRPr sz="825">
                <a:solidFill>
                  <a:schemeClr val="accent4"/>
                </a:solidFill>
                <a:latin typeface="Poppins"/>
                <a:ea typeface="Poppins"/>
                <a:cs typeface="Poppins"/>
                <a:sym typeface="Poppins"/>
              </a:defRPr>
            </a:lvl8pPr>
            <a:lvl9pPr lvl="8" algn="r">
              <a:lnSpc>
                <a:spcPct val="80000"/>
              </a:lnSpc>
              <a:buSzPts val="1018"/>
              <a:buNone/>
              <a:defRPr sz="825">
                <a:solidFill>
                  <a:schemeClr val="accent4"/>
                </a:solidFill>
                <a:latin typeface="Poppins"/>
                <a:ea typeface="Poppins"/>
                <a:cs typeface="Poppins"/>
                <a:sym typeface="Poppins"/>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0913240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Blac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276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10119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Walk-I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59CB63E-38B8-FE5B-666A-D9CAD75A243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705B96BE-BEFA-47C5-B5F6-07D5B53EFBEF}"/>
              </a:ext>
            </a:extLst>
          </p:cNvPr>
          <p:cNvSpPr>
            <a:spLocks noGrp="1"/>
          </p:cNvSpPr>
          <p:nvPr>
            <p:ph type="title" hasCustomPrompt="1"/>
          </p:nvPr>
        </p:nvSpPr>
        <p:spPr>
          <a:xfrm>
            <a:off x="304800" y="304800"/>
            <a:ext cx="11582400" cy="638175"/>
          </a:xfrm>
          <a:prstGeom prst="rect">
            <a:avLst/>
          </a:prstGeom>
        </p:spPr>
        <p:txBody>
          <a:bodyPr vert="horz" lIns="0" tIns="45720" rIns="0" bIns="45720" rtlCol="0" anchor="t">
            <a:noAutofit/>
          </a:bodyPr>
          <a:lstStyle>
            <a:lvl1pPr algn="l" defTabSz="914400" rtl="0" eaLnBrk="1" latinLnBrk="0" hangingPunct="1">
              <a:lnSpc>
                <a:spcPct val="90000"/>
              </a:lnSpc>
              <a:spcBef>
                <a:spcPct val="0"/>
              </a:spcBef>
              <a:buNone/>
              <a:defRPr sz="4000" b="1" kern="1200" spc="-100" baseline="0">
                <a:solidFill>
                  <a:schemeClr val="tx1"/>
                </a:solidFill>
                <a:latin typeface="+mj-lt"/>
                <a:ea typeface="+mj-ea"/>
                <a:cs typeface="+mj-cs"/>
              </a:defRPr>
            </a:lvl1pPr>
          </a:lstStyle>
          <a:p>
            <a:r>
              <a:rPr lang="en-US"/>
              <a:t>Click to edit Master title style</a:t>
            </a:r>
            <a:endParaRPr lang="en-US" dirty="0"/>
          </a:p>
        </p:txBody>
      </p:sp>
      <p:pic>
        <p:nvPicPr>
          <p:cNvPr id="6" name="Graphic 5">
            <a:extLst>
              <a:ext uri="{FF2B5EF4-FFF2-40B4-BE49-F238E27FC236}">
                <a16:creationId xmlns:a16="http://schemas.microsoft.com/office/drawing/2014/main" id="{8417F2A1-98C3-4830-9E59-A97205CFBCD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79135" y="2008507"/>
            <a:ext cx="2544020" cy="820418"/>
          </a:xfrm>
          <a:prstGeom prst="rect">
            <a:avLst/>
          </a:prstGeom>
        </p:spPr>
      </p:pic>
    </p:spTree>
    <p:extLst>
      <p:ext uri="{BB962C8B-B14F-4D97-AF65-F5344CB8AC3E}">
        <p14:creationId xmlns:p14="http://schemas.microsoft.com/office/powerpoint/2010/main" val="937720679"/>
      </p:ext>
    </p:extLst>
  </p:cSld>
  <p:clrMapOvr>
    <a:masterClrMapping/>
  </p:clrMapOvr>
  <p:transition>
    <p:fade/>
  </p:transition>
  <p:extLst>
    <p:ext uri="{DCECCB84-F9BA-43D5-87BE-67443E8EF086}">
      <p15:sldGuideLst xmlns:p15="http://schemas.microsoft.com/office/powerpoint/2012/main">
        <p15:guide id="1" orient="horz" pos="2376">
          <p15:clr>
            <a:srgbClr val="FBAE40"/>
          </p15:clr>
        </p15:guide>
        <p15:guide id="2" pos="38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6" name="Picture 4">
            <a:extLst>
              <a:ext uri="{FF2B5EF4-FFF2-40B4-BE49-F238E27FC236}">
                <a16:creationId xmlns:a16="http://schemas.microsoft.com/office/drawing/2014/main" id="{B0B710E9-A73D-6405-636B-C82EE24B2F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Subtitle 2">
            <a:extLst>
              <a:ext uri="{FF2B5EF4-FFF2-40B4-BE49-F238E27FC236}">
                <a16:creationId xmlns:a16="http://schemas.microsoft.com/office/drawing/2014/main" id="{B24D4546-D701-4B35-9802-54E73AEB80B6}"/>
              </a:ext>
            </a:extLst>
          </p:cNvPr>
          <p:cNvSpPr>
            <a:spLocks noGrp="1"/>
          </p:cNvSpPr>
          <p:nvPr>
            <p:ph type="subTitle" idx="1"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E4CB04F-C9B8-4D74-A55A-0AC876E8A9C3}"/>
              </a:ext>
            </a:extLst>
          </p:cNvPr>
          <p:cNvSpPr>
            <a:spLocks noGrp="1"/>
          </p:cNvSpPr>
          <p:nvPr>
            <p:ph type="title" hasCustomPrompt="1"/>
          </p:nvPr>
        </p:nvSpPr>
        <p:spPr>
          <a:xfrm>
            <a:off x="304800" y="304800"/>
            <a:ext cx="11582400" cy="638175"/>
          </a:xfrm>
          <a:prstGeom prst="rect">
            <a:avLst/>
          </a:prstGeom>
        </p:spPr>
        <p:txBody>
          <a:bodyPr vert="horz" lIns="0" tIns="45720" rIns="0" bIns="45720" rtlCol="0" anchor="t">
            <a:noAutofit/>
          </a:bodyPr>
          <a:lstStyle>
            <a:lvl1pPr algn="l" defTabSz="914400" rtl="0" eaLnBrk="1" latinLnBrk="0" hangingPunct="1">
              <a:lnSpc>
                <a:spcPct val="90000"/>
              </a:lnSpc>
              <a:spcBef>
                <a:spcPct val="0"/>
              </a:spcBef>
              <a:buNone/>
              <a:defRPr sz="4000" b="1" kern="1200" spc="-100" baseline="0">
                <a:solidFill>
                  <a:schemeClr val="tx1"/>
                </a:solidFill>
                <a:latin typeface="+mj-lt"/>
                <a:ea typeface="+mj-ea"/>
                <a:cs typeface="+mj-cs"/>
              </a:defRPr>
            </a:lvl1pPr>
          </a:lstStyle>
          <a:p>
            <a:r>
              <a:rPr lang="en-US"/>
              <a:t>Click to edit Master title style</a:t>
            </a:r>
            <a:endParaRPr lang="en-US" dirty="0"/>
          </a:p>
        </p:txBody>
      </p:sp>
      <p:sp>
        <p:nvSpPr>
          <p:cNvPr id="12" name="Text Placeholder 11">
            <a:extLst>
              <a:ext uri="{FF2B5EF4-FFF2-40B4-BE49-F238E27FC236}">
                <a16:creationId xmlns:a16="http://schemas.microsoft.com/office/drawing/2014/main" id="{F1C6DF77-859A-4968-8301-C7FA52E8E0A2}"/>
              </a:ext>
            </a:extLst>
          </p:cNvPr>
          <p:cNvSpPr>
            <a:spLocks noGrp="1"/>
          </p:cNvSpPr>
          <p:nvPr>
            <p:ph type="body" sz="quarter" idx="10"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1D8DDED4-39D2-4F36-B877-72364957F970}"/>
              </a:ext>
            </a:extLst>
          </p:cNvPr>
          <p:cNvSpPr>
            <a:spLocks noGrp="1"/>
          </p:cNvSpPr>
          <p:nvPr>
            <p:ph type="body" sz="quarter" idx="11"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a:extLst>
              <a:ext uri="{FF2B5EF4-FFF2-40B4-BE49-F238E27FC236}">
                <a16:creationId xmlns:a16="http://schemas.microsoft.com/office/drawing/2014/main" id="{069FE2D1-0188-4BD9-97B7-CA795447E4F4}"/>
              </a:ext>
            </a:extLst>
          </p:cNvPr>
          <p:cNvSpPr>
            <a:spLocks noGrp="1"/>
          </p:cNvSpPr>
          <p:nvPr>
            <p:ph type="body" sz="quarter" idx="12"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图片 8" descr="卡通画&#10;&#10;中度可信度描述已自动生成">
            <a:extLst>
              <a:ext uri="{FF2B5EF4-FFF2-40B4-BE49-F238E27FC236}">
                <a16:creationId xmlns:a16="http://schemas.microsoft.com/office/drawing/2014/main" id="{BF6220DC-EE5D-C319-4583-85C1B1DB92B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78357" y="341347"/>
            <a:ext cx="1324581" cy="401648"/>
          </a:xfrm>
          <a:prstGeom prst="rect">
            <a:avLst/>
          </a:prstGeom>
        </p:spPr>
      </p:pic>
      <p:sp>
        <p:nvSpPr>
          <p:cNvPr id="7" name="TextBox 3">
            <a:extLst>
              <a:ext uri="{FF2B5EF4-FFF2-40B4-BE49-F238E27FC236}">
                <a16:creationId xmlns:a16="http://schemas.microsoft.com/office/drawing/2014/main" id="{969B5DAE-31AB-8B6E-A926-EBF39CB61667}"/>
              </a:ext>
            </a:extLst>
          </p:cNvPr>
          <p:cNvSpPr txBox="1">
            <a:spLocks noChangeArrowheads="1"/>
          </p:cNvSpPr>
          <p:nvPr userDrawn="1"/>
        </p:nvSpPr>
        <p:spPr bwMode="white">
          <a:xfrm>
            <a:off x="826155" y="4972709"/>
            <a:ext cx="7768611" cy="80791"/>
          </a:xfrm>
          <a:prstGeom prst="rect">
            <a:avLst/>
          </a:prstGeom>
          <a:noFill/>
          <a:ln>
            <a:noFill/>
          </a:ln>
        </p:spPr>
        <p:txBody>
          <a:bodyPr wrap="square"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822909" eaLnBrk="1" fontAlgn="auto" hangingPunct="1">
              <a:spcBef>
                <a:spcPts val="0"/>
              </a:spcBef>
              <a:spcAft>
                <a:spcPts val="0"/>
              </a:spcAft>
              <a:defRPr/>
            </a:pPr>
            <a:r>
              <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a:t>
            </a:r>
            <a:r>
              <a:rPr lang="en-US" altLang="zh-CN"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5</a:t>
            </a:r>
            <a:r>
              <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Amazon Web Services, Inc. or its affiliates. All rights reserved.</a:t>
            </a:r>
            <a:r>
              <a:rPr lang="zh-CN" altLang="en-US" sz="525" b="0" i="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zh-CN" altLang="en-US" sz="525" i="0">
                <a:effectLst/>
                <a:latin typeface="Source Han Sans SC" panose="020B0500000000000000" pitchFamily="34" charset="-128"/>
                <a:ea typeface="Source Han Sans SC" panose="020B0500000000000000" pitchFamily="34" charset="-128"/>
              </a:rPr>
              <a:t>此内容特定亚马逊云科技生成式人工智能相关的服务仅在亚马逊云科技海外区域可用，亚马逊云科技中国仅为帮助您了解行业前沿技术和发展海外业务选择推介该服务。</a:t>
            </a:r>
            <a:endPar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pic>
        <p:nvPicPr>
          <p:cNvPr id="9" name="图片 8">
            <a:extLst>
              <a:ext uri="{FF2B5EF4-FFF2-40B4-BE49-F238E27FC236}">
                <a16:creationId xmlns:a16="http://schemas.microsoft.com/office/drawing/2014/main" id="{5BA53197-ADA9-19BB-C486-2137530278B5}"/>
              </a:ext>
            </a:extLst>
          </p:cNvPr>
          <p:cNvPicPr>
            <a:picLocks noChangeAspect="1"/>
          </p:cNvPicPr>
          <p:nvPr userDrawn="1"/>
        </p:nvPicPr>
        <p:blipFill>
          <a:blip r:embed="rId4"/>
          <a:stretch>
            <a:fillRect/>
          </a:stretch>
        </p:blipFill>
        <p:spPr>
          <a:xfrm>
            <a:off x="269600" y="4946612"/>
            <a:ext cx="452801" cy="160388"/>
          </a:xfrm>
          <a:prstGeom prst="rect">
            <a:avLst/>
          </a:prstGeom>
        </p:spPr>
      </p:pic>
    </p:spTree>
    <p:extLst>
      <p:ext uri="{BB962C8B-B14F-4D97-AF65-F5344CB8AC3E}">
        <p14:creationId xmlns:p14="http://schemas.microsoft.com/office/powerpoint/2010/main" val="4184048752"/>
      </p:ext>
    </p:extLst>
  </p:cSld>
  <p:clrMapOvr>
    <a:masterClrMapping/>
  </p:clrMapOvr>
  <p:transition>
    <p:fade/>
  </p:transition>
  <p:extLst>
    <p:ext uri="{DCECCB84-F9BA-43D5-87BE-67443E8EF086}">
      <p15:sldGuideLst xmlns:p15="http://schemas.microsoft.com/office/powerpoint/2012/main">
        <p15:guide id="1" pos="21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Slide - Two Speakers">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F55355-518E-A9CA-29FB-FFBD27B358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Subtitle 2">
            <a:extLst>
              <a:ext uri="{FF2B5EF4-FFF2-40B4-BE49-F238E27FC236}">
                <a16:creationId xmlns:a16="http://schemas.microsoft.com/office/drawing/2014/main" id="{B24D4546-D701-4B35-9802-54E73AEB80B6}"/>
              </a:ext>
            </a:extLst>
          </p:cNvPr>
          <p:cNvSpPr>
            <a:spLocks noGrp="1"/>
          </p:cNvSpPr>
          <p:nvPr>
            <p:ph type="subTitle" idx="1"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E4CB04F-C9B8-4D74-A55A-0AC876E8A9C3}"/>
              </a:ext>
            </a:extLst>
          </p:cNvPr>
          <p:cNvSpPr>
            <a:spLocks noGrp="1"/>
          </p:cNvSpPr>
          <p:nvPr>
            <p:ph type="title" hasCustomPrompt="1"/>
          </p:nvPr>
        </p:nvSpPr>
        <p:spPr>
          <a:xfrm>
            <a:off x="304800" y="304800"/>
            <a:ext cx="11582400" cy="638175"/>
          </a:xfrm>
          <a:prstGeom prst="rect">
            <a:avLst/>
          </a:prstGeom>
        </p:spPr>
        <p:txBody>
          <a:bodyPr vert="horz" lIns="0" tIns="45720" rIns="0" bIns="45720" rtlCol="0" anchor="t">
            <a:noAutofit/>
          </a:bodyPr>
          <a:lstStyle>
            <a:lvl1pPr algn="l" defTabSz="914400" rtl="0" eaLnBrk="1" latinLnBrk="0" hangingPunct="1">
              <a:lnSpc>
                <a:spcPct val="90000"/>
              </a:lnSpc>
              <a:spcBef>
                <a:spcPct val="0"/>
              </a:spcBef>
              <a:buNone/>
              <a:defRPr sz="4000" b="1" kern="1200" spc="-100" baseline="0">
                <a:solidFill>
                  <a:schemeClr val="tx1"/>
                </a:solidFill>
                <a:latin typeface="+mj-lt"/>
                <a:ea typeface="+mj-ea"/>
                <a:cs typeface="+mj-cs"/>
              </a:defRPr>
            </a:lvl1pPr>
          </a:lstStyle>
          <a:p>
            <a:r>
              <a:rPr lang="en-US"/>
              <a:t>Click to edit Master title style</a:t>
            </a:r>
            <a:endParaRPr lang="en-US" dirty="0"/>
          </a:p>
        </p:txBody>
      </p:sp>
      <p:sp>
        <p:nvSpPr>
          <p:cNvPr id="10" name="TextBox 3">
            <a:extLst>
              <a:ext uri="{FF2B5EF4-FFF2-40B4-BE49-F238E27FC236}">
                <a16:creationId xmlns:a16="http://schemas.microsoft.com/office/drawing/2014/main" id="{759EA25C-F220-44E9-8D3E-368B78EE07DB}"/>
              </a:ext>
            </a:extLst>
          </p:cNvPr>
          <p:cNvSpPr txBox="1">
            <a:spLocks noChangeArrowheads="1"/>
          </p:cNvSpPr>
          <p:nvPr userDrawn="1"/>
        </p:nvSpPr>
        <p:spPr bwMode="white">
          <a:xfrm>
            <a:off x="826155" y="4857640"/>
            <a:ext cx="2971800" cy="80791"/>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822909" eaLnBrk="1" fontAlgn="auto" hangingPunct="1">
              <a:spcBef>
                <a:spcPts val="0"/>
              </a:spcBef>
              <a:spcAft>
                <a:spcPts val="0"/>
              </a:spcAft>
              <a:defRPr/>
            </a:pPr>
            <a:r>
              <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sp>
        <p:nvSpPr>
          <p:cNvPr id="12" name="Text Placeholder 11">
            <a:extLst>
              <a:ext uri="{FF2B5EF4-FFF2-40B4-BE49-F238E27FC236}">
                <a16:creationId xmlns:a16="http://schemas.microsoft.com/office/drawing/2014/main" id="{F1C6DF77-859A-4968-8301-C7FA52E8E0A2}"/>
              </a:ext>
            </a:extLst>
          </p:cNvPr>
          <p:cNvSpPr>
            <a:spLocks noGrp="1"/>
          </p:cNvSpPr>
          <p:nvPr>
            <p:ph type="body" sz="quarter" idx="10"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1D8DDED4-39D2-4F36-B877-72364957F970}"/>
              </a:ext>
            </a:extLst>
          </p:cNvPr>
          <p:cNvSpPr>
            <a:spLocks noGrp="1"/>
          </p:cNvSpPr>
          <p:nvPr>
            <p:ph type="body" sz="quarter" idx="11"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a:extLst>
              <a:ext uri="{FF2B5EF4-FFF2-40B4-BE49-F238E27FC236}">
                <a16:creationId xmlns:a16="http://schemas.microsoft.com/office/drawing/2014/main" id="{069FE2D1-0188-4BD9-97B7-CA795447E4F4}"/>
              </a:ext>
            </a:extLst>
          </p:cNvPr>
          <p:cNvSpPr>
            <a:spLocks noGrp="1"/>
          </p:cNvSpPr>
          <p:nvPr>
            <p:ph type="body" sz="quarter" idx="12"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069ABB5-4D60-42A3-815E-56E31E1F18A3}"/>
              </a:ext>
            </a:extLst>
          </p:cNvPr>
          <p:cNvSpPr>
            <a:spLocks noGrp="1"/>
          </p:cNvSpPr>
          <p:nvPr>
            <p:ph type="body" sz="quarter" idx="13"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a:extLst>
              <a:ext uri="{FF2B5EF4-FFF2-40B4-BE49-F238E27FC236}">
                <a16:creationId xmlns:a16="http://schemas.microsoft.com/office/drawing/2014/main" id="{79AE8770-95C8-4BFC-8D8E-818B753038EA}"/>
              </a:ext>
            </a:extLst>
          </p:cNvPr>
          <p:cNvSpPr>
            <a:spLocks noGrp="1"/>
          </p:cNvSpPr>
          <p:nvPr>
            <p:ph type="body" sz="quarter" idx="14"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a:extLst>
              <a:ext uri="{FF2B5EF4-FFF2-40B4-BE49-F238E27FC236}">
                <a16:creationId xmlns:a16="http://schemas.microsoft.com/office/drawing/2014/main" id="{BEAD6224-65DB-4349-8ABF-C9D9E063E265}"/>
              </a:ext>
            </a:extLst>
          </p:cNvPr>
          <p:cNvPicPr>
            <a:picLocks noChangeAspect="1"/>
          </p:cNvPicPr>
          <p:nvPr userDrawn="1"/>
        </p:nvPicPr>
        <p:blipFill>
          <a:blip r:embed="rId3"/>
          <a:srcRect/>
          <a:stretch/>
        </p:blipFill>
        <p:spPr>
          <a:xfrm>
            <a:off x="219376" y="4821496"/>
            <a:ext cx="291614" cy="164694"/>
          </a:xfrm>
          <a:prstGeom prst="rect">
            <a:avLst/>
          </a:prstGeom>
        </p:spPr>
      </p:pic>
      <p:pic>
        <p:nvPicPr>
          <p:cNvPr id="2" name="图片 8" descr="卡通画&#10;&#10;中度可信度描述已自动生成">
            <a:extLst>
              <a:ext uri="{FF2B5EF4-FFF2-40B4-BE49-F238E27FC236}">
                <a16:creationId xmlns:a16="http://schemas.microsoft.com/office/drawing/2014/main" id="{B7B55A3B-04C8-5D6F-6C04-628AD00A9F74}"/>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378357" y="341347"/>
            <a:ext cx="1324581" cy="401648"/>
          </a:xfrm>
          <a:prstGeom prst="rect">
            <a:avLst/>
          </a:prstGeom>
        </p:spPr>
      </p:pic>
    </p:spTree>
    <p:extLst>
      <p:ext uri="{BB962C8B-B14F-4D97-AF65-F5344CB8AC3E}">
        <p14:creationId xmlns:p14="http://schemas.microsoft.com/office/powerpoint/2010/main" val="1669283424"/>
      </p:ext>
    </p:extLst>
  </p:cSld>
  <p:clrMapOvr>
    <a:masterClrMapping/>
  </p:clrMapOvr>
  <p:transition>
    <p:fade/>
  </p:transition>
  <p:extLst>
    <p:ext uri="{DCECCB84-F9BA-43D5-87BE-67443E8EF086}">
      <p15:sldGuideLst xmlns:p15="http://schemas.microsoft.com/office/powerpoint/2012/main">
        <p15:guide id="1" pos="216">
          <p15:clr>
            <a:srgbClr val="FBAE40"/>
          </p15:clr>
        </p15:guide>
        <p15:guide id="2" orient="horz" pos="295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le Slide - Three Speaker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1B77736-F964-9E03-7D10-969905EB76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Subtitle 2">
            <a:extLst>
              <a:ext uri="{FF2B5EF4-FFF2-40B4-BE49-F238E27FC236}">
                <a16:creationId xmlns:a16="http://schemas.microsoft.com/office/drawing/2014/main" id="{B24D4546-D701-4B35-9802-54E73AEB80B6}"/>
              </a:ext>
            </a:extLst>
          </p:cNvPr>
          <p:cNvSpPr>
            <a:spLocks noGrp="1"/>
          </p:cNvSpPr>
          <p:nvPr>
            <p:ph type="subTitle" idx="1"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a:extLst>
              <a:ext uri="{FF2B5EF4-FFF2-40B4-BE49-F238E27FC236}">
                <a16:creationId xmlns:a16="http://schemas.microsoft.com/office/drawing/2014/main" id="{9E4CB04F-C9B8-4D74-A55A-0AC876E8A9C3}"/>
              </a:ext>
            </a:extLst>
          </p:cNvPr>
          <p:cNvSpPr>
            <a:spLocks noGrp="1"/>
          </p:cNvSpPr>
          <p:nvPr>
            <p:ph type="title" hasCustomPrompt="1"/>
          </p:nvPr>
        </p:nvSpPr>
        <p:spPr>
          <a:xfrm>
            <a:off x="304800" y="304800"/>
            <a:ext cx="11582400" cy="638175"/>
          </a:xfrm>
          <a:prstGeom prst="rect">
            <a:avLst/>
          </a:prstGeom>
        </p:spPr>
        <p:txBody>
          <a:bodyPr vert="horz" lIns="0" tIns="45720" rIns="0" bIns="45720" rtlCol="0" anchor="t">
            <a:noAutofit/>
          </a:bodyPr>
          <a:lstStyle>
            <a:lvl1pPr algn="l" defTabSz="914400" rtl="0" eaLnBrk="1" latinLnBrk="0" hangingPunct="1">
              <a:lnSpc>
                <a:spcPct val="90000"/>
              </a:lnSpc>
              <a:spcBef>
                <a:spcPct val="0"/>
              </a:spcBef>
              <a:buNone/>
              <a:defRPr sz="4000" b="1" kern="1200" spc="-100" baseline="0">
                <a:solidFill>
                  <a:schemeClr val="tx1"/>
                </a:solidFill>
                <a:latin typeface="+mj-lt"/>
                <a:ea typeface="+mj-ea"/>
                <a:cs typeface="+mj-cs"/>
              </a:defRPr>
            </a:lvl1pPr>
          </a:lstStyle>
          <a:p>
            <a:r>
              <a:rPr lang="en-US"/>
              <a:t>Click to edit Master title style</a:t>
            </a:r>
            <a:endParaRPr lang="en-US" dirty="0"/>
          </a:p>
        </p:txBody>
      </p:sp>
      <p:sp>
        <p:nvSpPr>
          <p:cNvPr id="10" name="TextBox 3">
            <a:extLst>
              <a:ext uri="{FF2B5EF4-FFF2-40B4-BE49-F238E27FC236}">
                <a16:creationId xmlns:a16="http://schemas.microsoft.com/office/drawing/2014/main" id="{759EA25C-F220-44E9-8D3E-368B78EE07DB}"/>
              </a:ext>
            </a:extLst>
          </p:cNvPr>
          <p:cNvSpPr txBox="1">
            <a:spLocks noChangeArrowheads="1"/>
          </p:cNvSpPr>
          <p:nvPr userDrawn="1"/>
        </p:nvSpPr>
        <p:spPr bwMode="white">
          <a:xfrm>
            <a:off x="826155" y="4857640"/>
            <a:ext cx="2971800" cy="80791"/>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822909" eaLnBrk="1" fontAlgn="auto" hangingPunct="1">
              <a:spcBef>
                <a:spcPts val="0"/>
              </a:spcBef>
              <a:spcAft>
                <a:spcPts val="0"/>
              </a:spcAft>
              <a:defRPr/>
            </a:pPr>
            <a:r>
              <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2024, Amazon Web Services, Inc. or its affiliates. All rights reserved.</a:t>
            </a:r>
          </a:p>
        </p:txBody>
      </p:sp>
      <p:sp>
        <p:nvSpPr>
          <p:cNvPr id="12" name="Text Placeholder 11">
            <a:extLst>
              <a:ext uri="{FF2B5EF4-FFF2-40B4-BE49-F238E27FC236}">
                <a16:creationId xmlns:a16="http://schemas.microsoft.com/office/drawing/2014/main" id="{F1C6DF77-859A-4968-8301-C7FA52E8E0A2}"/>
              </a:ext>
            </a:extLst>
          </p:cNvPr>
          <p:cNvSpPr>
            <a:spLocks noGrp="1"/>
          </p:cNvSpPr>
          <p:nvPr>
            <p:ph type="body" sz="quarter" idx="10"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1D8DDED4-39D2-4F36-B877-72364957F970}"/>
              </a:ext>
            </a:extLst>
          </p:cNvPr>
          <p:cNvSpPr>
            <a:spLocks noGrp="1"/>
          </p:cNvSpPr>
          <p:nvPr>
            <p:ph type="body" sz="quarter" idx="11"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a:extLst>
              <a:ext uri="{FF2B5EF4-FFF2-40B4-BE49-F238E27FC236}">
                <a16:creationId xmlns:a16="http://schemas.microsoft.com/office/drawing/2014/main" id="{069FE2D1-0188-4BD9-97B7-CA795447E4F4}"/>
              </a:ext>
            </a:extLst>
          </p:cNvPr>
          <p:cNvSpPr>
            <a:spLocks noGrp="1"/>
          </p:cNvSpPr>
          <p:nvPr>
            <p:ph type="body" sz="quarter" idx="12"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069ABB5-4D60-42A3-815E-56E31E1F18A3}"/>
              </a:ext>
            </a:extLst>
          </p:cNvPr>
          <p:cNvSpPr>
            <a:spLocks noGrp="1"/>
          </p:cNvSpPr>
          <p:nvPr>
            <p:ph type="body" sz="quarter" idx="13"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98773FF-A575-4D5D-AC30-DAFFB441F795}"/>
              </a:ext>
            </a:extLst>
          </p:cNvPr>
          <p:cNvSpPr>
            <a:spLocks noGrp="1"/>
          </p:cNvSpPr>
          <p:nvPr>
            <p:ph type="body" sz="quarter" idx="15"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5">
            <a:extLst>
              <a:ext uri="{FF2B5EF4-FFF2-40B4-BE49-F238E27FC236}">
                <a16:creationId xmlns:a16="http://schemas.microsoft.com/office/drawing/2014/main" id="{E8B14D59-1495-4288-ACD8-22C48054FD10}"/>
              </a:ext>
            </a:extLst>
          </p:cNvPr>
          <p:cNvSpPr>
            <a:spLocks noGrp="1"/>
          </p:cNvSpPr>
          <p:nvPr>
            <p:ph type="body" sz="quarter" idx="16"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5">
            <a:extLst>
              <a:ext uri="{FF2B5EF4-FFF2-40B4-BE49-F238E27FC236}">
                <a16:creationId xmlns:a16="http://schemas.microsoft.com/office/drawing/2014/main" id="{ACBDE7C4-64AF-4CA5-A203-DC58B71673A5}"/>
              </a:ext>
            </a:extLst>
          </p:cNvPr>
          <p:cNvSpPr>
            <a:spLocks noGrp="1"/>
          </p:cNvSpPr>
          <p:nvPr>
            <p:ph type="body" sz="quarter" idx="17"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5" name="Picture 14">
            <a:extLst>
              <a:ext uri="{FF2B5EF4-FFF2-40B4-BE49-F238E27FC236}">
                <a16:creationId xmlns:a16="http://schemas.microsoft.com/office/drawing/2014/main" id="{A06CB43E-FDA1-4D97-9EDD-CEF236C9633A}"/>
              </a:ext>
            </a:extLst>
          </p:cNvPr>
          <p:cNvPicPr>
            <a:picLocks noChangeAspect="1"/>
          </p:cNvPicPr>
          <p:nvPr userDrawn="1"/>
        </p:nvPicPr>
        <p:blipFill>
          <a:blip r:embed="rId3"/>
          <a:srcRect/>
          <a:stretch/>
        </p:blipFill>
        <p:spPr>
          <a:xfrm>
            <a:off x="219376" y="4821496"/>
            <a:ext cx="291614" cy="164694"/>
          </a:xfrm>
          <a:prstGeom prst="rect">
            <a:avLst/>
          </a:prstGeom>
        </p:spPr>
      </p:pic>
    </p:spTree>
    <p:extLst>
      <p:ext uri="{BB962C8B-B14F-4D97-AF65-F5344CB8AC3E}">
        <p14:creationId xmlns:p14="http://schemas.microsoft.com/office/powerpoint/2010/main" val="3787431211"/>
      </p:ext>
    </p:extLst>
  </p:cSld>
  <p:clrMapOvr>
    <a:masterClrMapping/>
  </p:clrMapOvr>
  <p:transition>
    <p:fade/>
  </p:transition>
  <p:extLst>
    <p:ext uri="{DCECCB84-F9BA-43D5-87BE-67443E8EF086}">
      <p15:sldGuideLst xmlns:p15="http://schemas.microsoft.com/office/powerpoint/2012/main">
        <p15:guide id="1" pos="216">
          <p15:clr>
            <a:srgbClr val="FBAE40"/>
          </p15:clr>
        </p15:guide>
        <p15:guide id="2" orient="horz" pos="295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9E09F29F-FB70-4479-9632-85DE314617E2}"/>
              </a:ext>
            </a:extLst>
          </p:cNvPr>
          <p:cNvSpPr>
            <a:spLocks noGrp="1"/>
          </p:cNvSpPr>
          <p:nvPr>
            <p:ph type="body" sz="quarter" idx="10" hasCustomPrompt="1"/>
          </p:nvPr>
        </p:nvSpPr>
        <p:spPr>
          <a:xfrm>
            <a:off x="304801" y="1485900"/>
            <a:ext cx="11582400" cy="2049792"/>
          </a:xfrm>
          <a:prstGeom prst="rect">
            <a:avLst/>
          </a:prstGeom>
        </p:spPr>
        <p:txBody>
          <a:bodyPr vert="horz" lIns="0" tIns="45720" rIns="0" bIns="45720" rtlCol="0">
            <a:spAutoFit/>
          </a:bodyPr>
          <a:lstStyle>
            <a:lvl1pPr marL="228600" indent="-228600" algn="l" defTabSz="914400" rtl="0" eaLnBrk="1" latinLnBrk="0" hangingPunct="1">
              <a:lnSpc>
                <a:spcPct val="90000"/>
              </a:lnSpc>
              <a:spcBef>
                <a:spcPts val="0"/>
              </a:spcBef>
              <a:spcAft>
                <a:spcPts val="1200"/>
              </a:spcAft>
              <a:buClr>
                <a:schemeClr val="tx1"/>
              </a:buClr>
              <a:buSzPct val="90000"/>
              <a:buFont typeface="Amazon Ember Display" panose="020F0603020204020204" pitchFamily="34" charset="0"/>
              <a:buChar char="•"/>
              <a:defRPr sz="2800" kern="120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A175166B-DC8C-4D02-820A-E0D358716306}"/>
              </a:ext>
            </a:extLst>
          </p:cNvPr>
          <p:cNvSpPr>
            <a:spLocks noGrp="1"/>
          </p:cNvSpPr>
          <p:nvPr>
            <p:ph type="title" hasCustomPrompt="1"/>
          </p:nvPr>
        </p:nvSpPr>
        <p:spPr>
          <a:xfrm>
            <a:off x="304800" y="304800"/>
            <a:ext cx="11582400" cy="638175"/>
          </a:xfrm>
          <a:prstGeom prst="rect">
            <a:avLst/>
          </a:prstGeom>
        </p:spPr>
        <p:txBody>
          <a:bodyPr vert="horz" lIns="0" tIns="45720" rIns="0" bIns="45720" rtlCol="0" anchor="t">
            <a:noAutofit/>
          </a:bodyPr>
          <a:lstStyle>
            <a:lvl1pPr algn="l" defTabSz="914400" rtl="0" eaLnBrk="1" latinLnBrk="0" hangingPunct="1">
              <a:lnSpc>
                <a:spcPct val="90000"/>
              </a:lnSpc>
              <a:spcBef>
                <a:spcPct val="0"/>
              </a:spcBef>
              <a:buNone/>
              <a:defRPr sz="4000" b="1" kern="1200" spc="-100" baseline="0">
                <a:solidFill>
                  <a:schemeClr val="tx1"/>
                </a:solidFill>
                <a:latin typeface="+mj-lt"/>
                <a:ea typeface="+mj-ea"/>
                <a:cs typeface="+mj-cs"/>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D4BF8F3F-C59D-447F-A18C-4F458C5EF4A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73152" cy="5143500"/>
          </a:xfrm>
          <a:prstGeom prst="rect">
            <a:avLst/>
          </a:prstGeom>
        </p:spPr>
      </p:pic>
    </p:spTree>
    <p:extLst>
      <p:ext uri="{BB962C8B-B14F-4D97-AF65-F5344CB8AC3E}">
        <p14:creationId xmlns:p14="http://schemas.microsoft.com/office/powerpoint/2010/main" val="383097514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jp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2.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71DBC7-A563-4787-896F-A8C55AC39541}"/>
              </a:ext>
            </a:extLst>
          </p:cNvPr>
          <p:cNvSpPr>
            <a:spLocks noGrp="1"/>
          </p:cNvSpPr>
          <p:nvPr>
            <p:ph type="title"/>
          </p:nvPr>
        </p:nvSpPr>
        <p:spPr>
          <a:xfrm>
            <a:off x="228600" y="228601"/>
            <a:ext cx="8686800" cy="478631"/>
          </a:xfrm>
          <a:prstGeom prst="rect">
            <a:avLst/>
          </a:prstGeom>
        </p:spPr>
        <p:txBody>
          <a:bodyPr vert="horz" lIns="0" tIns="45720" rIns="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BD4A25B-ECC2-4D0E-BA51-828900AA1150}"/>
              </a:ext>
            </a:extLst>
          </p:cNvPr>
          <p:cNvSpPr>
            <a:spLocks noGrp="1"/>
          </p:cNvSpPr>
          <p:nvPr>
            <p:ph type="body" idx="1"/>
          </p:nvPr>
        </p:nvSpPr>
        <p:spPr>
          <a:xfrm>
            <a:off x="228601" y="1114425"/>
            <a:ext cx="8686800" cy="1573251"/>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3AAC10-7019-4712-85D0-4C900536A54E}"/>
              </a:ext>
            </a:extLst>
          </p:cNvPr>
          <p:cNvSpPr>
            <a:spLocks noGrp="1"/>
          </p:cNvSpPr>
          <p:nvPr>
            <p:ph type="dt" sz="half" idx="2"/>
          </p:nvPr>
        </p:nvSpPr>
        <p:spPr>
          <a:xfrm>
            <a:off x="628650" y="5224463"/>
            <a:ext cx="2057400" cy="273844"/>
          </a:xfrm>
          <a:prstGeom prst="rect">
            <a:avLst/>
          </a:prstGeom>
        </p:spPr>
        <p:txBody>
          <a:bodyPr vert="horz" lIns="91440" tIns="45720" rIns="91440" bIns="45720" rtlCol="0" anchor="ctr"/>
          <a:lstStyle>
            <a:lvl1pPr algn="l">
              <a:defRPr sz="750">
                <a:solidFill>
                  <a:schemeClr val="tx1">
                    <a:tint val="75000"/>
                  </a:schemeClr>
                </a:solidFill>
              </a:defRPr>
            </a:lvl1pPr>
          </a:lstStyle>
          <a:p>
            <a:fld id="{F66AEACD-8FDE-40BC-8286-930C357A13C7}" type="datetimeFigureOut">
              <a:rPr lang="en-US" smtClean="0"/>
              <a:pPr/>
              <a:t>3/23/26</a:t>
            </a:fld>
            <a:endParaRPr lang="en-US" dirty="0"/>
          </a:p>
        </p:txBody>
      </p:sp>
      <p:sp>
        <p:nvSpPr>
          <p:cNvPr id="5" name="Footer Placeholder 4">
            <a:extLst>
              <a:ext uri="{FF2B5EF4-FFF2-40B4-BE49-F238E27FC236}">
                <a16:creationId xmlns:a16="http://schemas.microsoft.com/office/drawing/2014/main" id="{5F5BB608-7507-49E6-A3EF-FCF70056BA5E}"/>
              </a:ext>
            </a:extLst>
          </p:cNvPr>
          <p:cNvSpPr>
            <a:spLocks noGrp="1"/>
          </p:cNvSpPr>
          <p:nvPr>
            <p:ph type="ftr" sz="quarter" idx="3"/>
          </p:nvPr>
        </p:nvSpPr>
        <p:spPr>
          <a:xfrm>
            <a:off x="3028950" y="5224463"/>
            <a:ext cx="3086100" cy="273844"/>
          </a:xfrm>
          <a:prstGeom prst="rect">
            <a:avLst/>
          </a:prstGeom>
        </p:spPr>
        <p:txBody>
          <a:bodyPr vert="horz" lIns="91440" tIns="45720" rIns="91440" bIns="45720" rtlCol="0" anchor="ctr"/>
          <a:lstStyle>
            <a:lvl1pPr algn="ctr">
              <a:defRPr sz="75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CCEABC0-4D9B-4F84-9C7F-2B0BE8033B97}"/>
              </a:ext>
            </a:extLst>
          </p:cNvPr>
          <p:cNvSpPr>
            <a:spLocks noGrp="1"/>
          </p:cNvSpPr>
          <p:nvPr>
            <p:ph type="sldNum" sz="quarter" idx="4"/>
          </p:nvPr>
        </p:nvSpPr>
        <p:spPr>
          <a:xfrm>
            <a:off x="6457950" y="5224463"/>
            <a:ext cx="2057400" cy="273844"/>
          </a:xfrm>
          <a:prstGeom prst="rect">
            <a:avLst/>
          </a:prstGeom>
        </p:spPr>
        <p:txBody>
          <a:bodyPr vert="horz" lIns="91440" tIns="45720" rIns="91440" bIns="45720" rtlCol="0" anchor="ctr"/>
          <a:lstStyle>
            <a:lvl1pPr algn="r">
              <a:defRPr sz="750">
                <a:solidFill>
                  <a:schemeClr val="tx1">
                    <a:tint val="75000"/>
                  </a:schemeClr>
                </a:solidFill>
              </a:defRPr>
            </a:lvl1pPr>
          </a:lstStyle>
          <a:p>
            <a:fld id="{DC503246-BBCE-4F0A-BCDC-08FC4C52637D}" type="slidenum">
              <a:rPr lang="en-US" smtClean="0"/>
              <a:pPr/>
              <a:t>‹#›</a:t>
            </a:fld>
            <a:endParaRPr lang="en-US" dirty="0"/>
          </a:p>
        </p:txBody>
      </p:sp>
      <p:sp>
        <p:nvSpPr>
          <p:cNvPr id="7" name="TextBox 3">
            <a:extLst>
              <a:ext uri="{FF2B5EF4-FFF2-40B4-BE49-F238E27FC236}">
                <a16:creationId xmlns:a16="http://schemas.microsoft.com/office/drawing/2014/main" id="{7E24D3DE-D580-20A9-32CB-9DC6969DC663}"/>
              </a:ext>
            </a:extLst>
          </p:cNvPr>
          <p:cNvSpPr txBox="1">
            <a:spLocks noChangeArrowheads="1"/>
          </p:cNvSpPr>
          <p:nvPr userDrawn="1"/>
        </p:nvSpPr>
        <p:spPr bwMode="white">
          <a:xfrm>
            <a:off x="826155" y="4972709"/>
            <a:ext cx="7768611" cy="80791"/>
          </a:xfrm>
          <a:prstGeom prst="rect">
            <a:avLst/>
          </a:prstGeom>
          <a:noFill/>
          <a:ln>
            <a:noFill/>
          </a:ln>
        </p:spPr>
        <p:txBody>
          <a:bodyPr wrap="square"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822909" eaLnBrk="1" fontAlgn="auto" hangingPunct="1">
              <a:spcBef>
                <a:spcPts val="0"/>
              </a:spcBef>
              <a:spcAft>
                <a:spcPts val="0"/>
              </a:spcAft>
              <a:defRPr/>
            </a:pPr>
            <a:r>
              <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a:t>
            </a:r>
            <a:r>
              <a:rPr lang="en-US" altLang="zh-CN"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5</a:t>
            </a:r>
            <a:r>
              <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Amazon Web Services, Inc. or its affiliates. All rights reserved.</a:t>
            </a:r>
            <a:r>
              <a:rPr lang="zh-CN" altLang="en-US" sz="525" b="0" i="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a:t>
            </a:r>
            <a:r>
              <a:rPr lang="zh-CN" altLang="en-US" sz="525" i="0">
                <a:effectLst/>
                <a:latin typeface="Source Han Sans SC" panose="020B0500000000000000" pitchFamily="34" charset="-128"/>
                <a:ea typeface="Source Han Sans SC" panose="020B0500000000000000" pitchFamily="34" charset="-128"/>
              </a:rPr>
              <a:t>此内容特定亚马逊云科技生成式人工智能相关的服务仅在亚马逊云科技海外区域可用，亚马逊云科技中国仅为帮助您了解行业前沿技术和发展海外业务选择推介该服务。</a:t>
            </a:r>
            <a:endParaRPr lang="en-US" altLang="x-none" sz="525"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pic>
        <p:nvPicPr>
          <p:cNvPr id="8" name="图片 7">
            <a:extLst>
              <a:ext uri="{FF2B5EF4-FFF2-40B4-BE49-F238E27FC236}">
                <a16:creationId xmlns:a16="http://schemas.microsoft.com/office/drawing/2014/main" id="{35B44726-FF70-5CCF-3BFB-45F6C2B50C2F}"/>
              </a:ext>
            </a:extLst>
          </p:cNvPr>
          <p:cNvPicPr>
            <a:picLocks noChangeAspect="1"/>
          </p:cNvPicPr>
          <p:nvPr userDrawn="1"/>
        </p:nvPicPr>
        <p:blipFill>
          <a:blip r:embed="rId43"/>
          <a:stretch>
            <a:fillRect/>
          </a:stretch>
        </p:blipFill>
        <p:spPr>
          <a:xfrm>
            <a:off x="269600" y="4946612"/>
            <a:ext cx="452801" cy="160388"/>
          </a:xfrm>
          <a:prstGeom prst="rect">
            <a:avLst/>
          </a:prstGeom>
        </p:spPr>
      </p:pic>
    </p:spTree>
    <p:extLst>
      <p:ext uri="{BB962C8B-B14F-4D97-AF65-F5344CB8AC3E}">
        <p14:creationId xmlns:p14="http://schemas.microsoft.com/office/powerpoint/2010/main" val="1595638682"/>
      </p:ext>
    </p:extLst>
  </p:cSld>
  <p:clrMap bg1="dk1" tx1="lt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88" r:id="rId31"/>
    <p:sldLayoutId id="2147483689" r:id="rId32"/>
    <p:sldLayoutId id="2147483690" r:id="rId33"/>
    <p:sldLayoutId id="2147483691" r:id="rId34"/>
    <p:sldLayoutId id="2147483692" r:id="rId35"/>
    <p:sldLayoutId id="2147483650" r:id="rId36"/>
    <p:sldLayoutId id="2147483651" r:id="rId37"/>
    <p:sldLayoutId id="2147483652" r:id="rId38"/>
    <p:sldLayoutId id="2147483653" r:id="rId39"/>
    <p:sldLayoutId id="2147483654" r:id="rId40"/>
  </p:sldLayoutIdLst>
  <p:transition>
    <p:fade/>
  </p:transition>
  <p:txStyles>
    <p:titleStyle>
      <a:lvl1pPr algn="l" defTabSz="685800" rtl="0" eaLnBrk="1" latinLnBrk="0" hangingPunct="1">
        <a:lnSpc>
          <a:spcPct val="90000"/>
        </a:lnSpc>
        <a:spcBef>
          <a:spcPct val="0"/>
        </a:spcBef>
        <a:buNone/>
        <a:defRPr sz="3000" b="1" kern="1200" spc="-75" baseline="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0"/>
        </a:spcBef>
        <a:spcAft>
          <a:spcPts val="900"/>
        </a:spcAft>
        <a:buClr>
          <a:schemeClr val="tx1"/>
        </a:buClr>
        <a:buSzPct val="90000"/>
        <a:buFont typeface="Amazon Ember Display" panose="020F0603020204020204" pitchFamily="34" charset="0"/>
        <a:buChar char="•"/>
        <a:defRPr sz="2100" kern="1200">
          <a:solidFill>
            <a:schemeClr val="tx1"/>
          </a:solidFill>
          <a:latin typeface="+mn-lt"/>
          <a:ea typeface="+mn-ea"/>
          <a:cs typeface="+mn-cs"/>
        </a:defRPr>
      </a:lvl1pPr>
      <a:lvl2pPr marL="342900" indent="-171450" algn="l" defTabSz="685800" rtl="0" eaLnBrk="1" latinLnBrk="0" hangingPunct="1">
        <a:lnSpc>
          <a:spcPct val="90000"/>
        </a:lnSpc>
        <a:spcBef>
          <a:spcPts val="0"/>
        </a:spcBef>
        <a:spcAft>
          <a:spcPts val="900"/>
        </a:spcAft>
        <a:buClr>
          <a:schemeClr val="tx1"/>
        </a:buClr>
        <a:buSzPct val="90000"/>
        <a:buFont typeface="Wingdings" panose="05000000000000000000" pitchFamily="2" charset="2"/>
        <a:buChar char="§"/>
        <a:defRPr sz="1800" kern="1200">
          <a:solidFill>
            <a:schemeClr val="tx1"/>
          </a:solidFill>
          <a:latin typeface="+mn-lt"/>
          <a:ea typeface="+mn-ea"/>
          <a:cs typeface="+mn-cs"/>
        </a:defRPr>
      </a:lvl2pPr>
      <a:lvl3pPr marL="514350" indent="-171450" algn="l" defTabSz="685800" rtl="0" eaLnBrk="1" latinLnBrk="0" hangingPunct="1">
        <a:lnSpc>
          <a:spcPct val="90000"/>
        </a:lnSpc>
        <a:spcBef>
          <a:spcPts val="0"/>
        </a:spcBef>
        <a:spcAft>
          <a:spcPts val="450"/>
        </a:spcAft>
        <a:buClr>
          <a:schemeClr val="tx1"/>
        </a:buClr>
        <a:buFont typeface="Amazon Ember Display" panose="020F0603020204020204" pitchFamily="34" charset="0"/>
        <a:buChar char="–"/>
        <a:defRPr sz="1500" kern="1200">
          <a:solidFill>
            <a:schemeClr val="tx1"/>
          </a:solidFill>
          <a:latin typeface="+mn-lt"/>
          <a:ea typeface="+mn-ea"/>
          <a:cs typeface="+mn-cs"/>
        </a:defRPr>
      </a:lvl3pPr>
      <a:lvl4pPr marL="685800" indent="-171450" algn="l" defTabSz="685800" rtl="0" eaLnBrk="1" latinLnBrk="0" hangingPunct="1">
        <a:lnSpc>
          <a:spcPct val="90000"/>
        </a:lnSpc>
        <a:spcBef>
          <a:spcPts val="0"/>
        </a:spcBef>
        <a:spcAft>
          <a:spcPts val="450"/>
        </a:spcAft>
        <a:buClr>
          <a:schemeClr val="tx1"/>
        </a:buClr>
        <a:buFont typeface="Amazon Ember Display" panose="020F0603020204020204" pitchFamily="34" charset="0"/>
        <a:buChar char="•"/>
        <a:defRPr sz="1350" kern="1200">
          <a:solidFill>
            <a:schemeClr val="tx1"/>
          </a:solidFill>
          <a:latin typeface="+mn-lt"/>
          <a:ea typeface="+mn-ea"/>
          <a:cs typeface="+mn-cs"/>
        </a:defRPr>
      </a:lvl4pPr>
      <a:lvl5pPr marL="685800" indent="-171450" algn="l" defTabSz="685800" rtl="0" eaLnBrk="1" latinLnBrk="0" hangingPunct="1">
        <a:lnSpc>
          <a:spcPct val="90000"/>
        </a:lnSpc>
        <a:spcBef>
          <a:spcPts val="0"/>
        </a:spcBef>
        <a:buClr>
          <a:schemeClr val="tx1"/>
        </a:buClr>
        <a:buFont typeface="Amazon Ember Display" panose="020F0603020204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mazon Ember Display" panose="020F0603020204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mazon Ember Display" panose="020F0603020204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mazon Ember Display" panose="020F0603020204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mazon Ember Display" panose="020F0603020204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92">
          <p15:clr>
            <a:srgbClr val="F26B43"/>
          </p15:clr>
        </p15:guide>
        <p15:guide id="4" orient="horz" pos="3912">
          <p15:clr>
            <a:srgbClr val="F26B43"/>
          </p15:clr>
        </p15:guide>
        <p15:guide id="5" pos="192">
          <p15:clr>
            <a:srgbClr val="F26B43"/>
          </p15:clr>
        </p15:guide>
        <p15:guide id="6" pos="7488">
          <p15:clr>
            <a:srgbClr val="F26B43"/>
          </p15:clr>
        </p15:guide>
        <p15:guide id="7" orient="horz" pos="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D943394-3724-4BA2-D238-12C929F0D601}"/>
              </a:ext>
            </a:extLst>
          </p:cNvPr>
          <p:cNvSpPr>
            <a:spLocks noGrp="1"/>
          </p:cNvSpPr>
          <p:nvPr>
            <p:ph type="subTitle" idx="1"/>
          </p:nvPr>
        </p:nvSpPr>
        <p:spPr>
          <a:xfrm>
            <a:off x="242186" y="2839749"/>
            <a:ext cx="6205747" cy="216982"/>
          </a:xfrm>
        </p:spPr>
        <p:txBody>
          <a:bodyPr/>
          <a:lstStyle/>
          <a:p>
            <a:r>
              <a:rPr lang="en-US" dirty="0">
                <a:solidFill>
                  <a:srgbClr val="64748B"/>
                </a:solidFill>
                <a:latin typeface="Calibri" pitchFamily="34" charset="0"/>
                <a:ea typeface="Calibri" pitchFamily="34" charset="-122"/>
                <a:cs typeface="Calibri" pitchFamily="34" charset="-120"/>
              </a:rPr>
              <a:t>Agent-First RCA | Self-Evolving Skills | Knowledge Sediment</a:t>
            </a:r>
            <a:endParaRPr lang="en-US" dirty="0"/>
          </a:p>
        </p:txBody>
      </p:sp>
      <p:sp>
        <p:nvSpPr>
          <p:cNvPr id="3" name="Title 2">
            <a:extLst>
              <a:ext uri="{FF2B5EF4-FFF2-40B4-BE49-F238E27FC236}">
                <a16:creationId xmlns:a16="http://schemas.microsoft.com/office/drawing/2014/main" id="{AE360968-FE0D-15A1-7832-CA451CAE6CBE}"/>
              </a:ext>
            </a:extLst>
          </p:cNvPr>
          <p:cNvSpPr>
            <a:spLocks noGrp="1"/>
          </p:cNvSpPr>
          <p:nvPr>
            <p:ph type="title"/>
          </p:nvPr>
        </p:nvSpPr>
        <p:spPr/>
        <p:txBody>
          <a:bodyPr/>
          <a:lstStyle/>
          <a:p>
            <a:r>
              <a:rPr lang="en-US" sz="3600" dirty="0" err="1">
                <a:solidFill>
                  <a:srgbClr val="06B6D4"/>
                </a:solidFill>
                <a:latin typeface="Georgia" pitchFamily="34" charset="0"/>
                <a:ea typeface="Georgia" pitchFamily="34" charset="-122"/>
                <a:cs typeface="Georgia" pitchFamily="34" charset="-120"/>
              </a:rPr>
              <a:t>AgenticOps</a:t>
            </a:r>
            <a:br>
              <a:rPr lang="en-US" sz="3600" dirty="0">
                <a:solidFill>
                  <a:srgbClr val="06B6D4"/>
                </a:solidFill>
                <a:latin typeface="Georgia" pitchFamily="34" charset="0"/>
                <a:ea typeface="Georgia" pitchFamily="34" charset="-122"/>
                <a:cs typeface="Georgia" pitchFamily="34" charset="-120"/>
              </a:rPr>
            </a:br>
            <a:r>
              <a:rPr lang="en-US" sz="2000" dirty="0">
                <a:solidFill>
                  <a:srgbClr val="FFFFFF"/>
                </a:solidFill>
                <a:latin typeface="Georgia" pitchFamily="34" charset="0"/>
                <a:ea typeface="Georgia" pitchFamily="34" charset="-122"/>
                <a:cs typeface="Georgia" pitchFamily="34" charset="-120"/>
              </a:rPr>
              <a:t>N</a:t>
            </a:r>
            <a:r>
              <a:rPr lang="en-US" sz="1400" dirty="0">
                <a:solidFill>
                  <a:srgbClr val="FFFFFF"/>
                </a:solidFill>
                <a:latin typeface="Georgia" pitchFamily="34" charset="0"/>
                <a:ea typeface="Georgia" pitchFamily="34" charset="-122"/>
                <a:cs typeface="Georgia" pitchFamily="34" charset="-120"/>
              </a:rPr>
              <a:t>ext-Gen AIOps Strategic Roadmap</a:t>
            </a:r>
            <a:br>
              <a:rPr lang="en-US" sz="2000" dirty="0"/>
            </a:br>
            <a:endParaRPr lang="en-CN" dirty="0"/>
          </a:p>
        </p:txBody>
      </p:sp>
      <p:sp>
        <p:nvSpPr>
          <p:cNvPr id="4" name="Text Placeholder 3">
            <a:extLst>
              <a:ext uri="{FF2B5EF4-FFF2-40B4-BE49-F238E27FC236}">
                <a16:creationId xmlns:a16="http://schemas.microsoft.com/office/drawing/2014/main" id="{AC5E898D-59C7-B3AA-DC46-AF3803C94E8D}"/>
              </a:ext>
            </a:extLst>
          </p:cNvPr>
          <p:cNvSpPr>
            <a:spLocks noGrp="1"/>
          </p:cNvSpPr>
          <p:nvPr>
            <p:ph type="body" sz="quarter" idx="10"/>
          </p:nvPr>
        </p:nvSpPr>
        <p:spPr/>
        <p:txBody>
          <a:bodyPr/>
          <a:lstStyle/>
          <a:p>
            <a:r>
              <a:rPr lang="en-CN" dirty="0"/>
              <a:t>Libo, MA</a:t>
            </a:r>
          </a:p>
        </p:txBody>
      </p:sp>
      <p:sp>
        <p:nvSpPr>
          <p:cNvPr id="5" name="Text Placeholder 4">
            <a:extLst>
              <a:ext uri="{FF2B5EF4-FFF2-40B4-BE49-F238E27FC236}">
                <a16:creationId xmlns:a16="http://schemas.microsoft.com/office/drawing/2014/main" id="{B76E4BE6-01E8-5940-7920-D174C2617087}"/>
              </a:ext>
            </a:extLst>
          </p:cNvPr>
          <p:cNvSpPr>
            <a:spLocks noGrp="1"/>
          </p:cNvSpPr>
          <p:nvPr>
            <p:ph type="body" sz="quarter" idx="11"/>
          </p:nvPr>
        </p:nvSpPr>
        <p:spPr/>
        <p:txBody>
          <a:bodyPr/>
          <a:lstStyle/>
          <a:p>
            <a:endParaRPr lang="en-CN"/>
          </a:p>
        </p:txBody>
      </p:sp>
      <p:sp>
        <p:nvSpPr>
          <p:cNvPr id="6" name="Text Placeholder 5">
            <a:extLst>
              <a:ext uri="{FF2B5EF4-FFF2-40B4-BE49-F238E27FC236}">
                <a16:creationId xmlns:a16="http://schemas.microsoft.com/office/drawing/2014/main" id="{72A81195-A6B9-ECC7-1C46-6379C2FD780B}"/>
              </a:ext>
            </a:extLst>
          </p:cNvPr>
          <p:cNvSpPr>
            <a:spLocks noGrp="1"/>
          </p:cNvSpPr>
          <p:nvPr>
            <p:ph type="body" sz="quarter" idx="12"/>
          </p:nvPr>
        </p:nvSpPr>
        <p:spPr/>
        <p:txBody>
          <a:bodyPr/>
          <a:lstStyle/>
          <a:p>
            <a:endParaRPr lang="en-CN"/>
          </a:p>
        </p:txBody>
      </p:sp>
    </p:spTree>
    <p:extLst>
      <p:ext uri="{BB962C8B-B14F-4D97-AF65-F5344CB8AC3E}">
        <p14:creationId xmlns:p14="http://schemas.microsoft.com/office/powerpoint/2010/main" val="29806838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0">
  <p:cSld name="Slide 1">
    <p:bg>
      <p:bgPr>
        <a:solidFill>
          <a:srgbClr val="0F2B4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txBody>
          <a:bodyPr/>
          <a:lstStyle/>
          <a:p>
            <a:endParaRPr lang="en-CN"/>
          </a:p>
        </p:txBody>
      </p:sp>
      <p:sp>
        <p:nvSpPr>
          <p:cNvPr id="3" name="Text 1"/>
          <p:cNvSpPr/>
          <p:nvPr/>
        </p:nvSpPr>
        <p:spPr>
          <a:xfrm>
            <a:off x="731520" y="1097280"/>
            <a:ext cx="7315200" cy="822960"/>
          </a:xfrm>
          <a:prstGeom prst="rect">
            <a:avLst/>
          </a:prstGeom>
          <a:noFill/>
          <a:ln/>
        </p:spPr>
        <p:txBody>
          <a:bodyPr wrap="square" lIns="0" tIns="0" rIns="0" bIns="0" rtlCol="0" anchor="ctr"/>
          <a:lstStyle/>
          <a:p>
            <a:pPr marL="0" indent="0">
              <a:buNone/>
            </a:pPr>
            <a:r>
              <a:rPr lang="en-US" sz="4800" b="1" dirty="0">
                <a:solidFill>
                  <a:srgbClr val="06B6D4"/>
                </a:solidFill>
                <a:latin typeface="Georgia" pitchFamily="34" charset="0"/>
                <a:ea typeface="Georgia" pitchFamily="34" charset="-122"/>
                <a:cs typeface="Georgia" pitchFamily="34" charset="-120"/>
              </a:rPr>
              <a:t>AgenticOps</a:t>
            </a:r>
            <a:endParaRPr lang="en-US" sz="4800" dirty="0"/>
          </a:p>
        </p:txBody>
      </p:sp>
      <p:sp>
        <p:nvSpPr>
          <p:cNvPr id="4" name="Text 2"/>
          <p:cNvSpPr/>
          <p:nvPr/>
        </p:nvSpPr>
        <p:spPr>
          <a:xfrm>
            <a:off x="731520" y="1920240"/>
            <a:ext cx="7315200" cy="640080"/>
          </a:xfrm>
          <a:prstGeom prst="rect">
            <a:avLst/>
          </a:prstGeom>
          <a:noFill/>
          <a:ln/>
        </p:spPr>
        <p:txBody>
          <a:bodyPr wrap="square" lIns="0" tIns="0" rIns="0" bIns="0" rtlCol="0" anchor="ctr"/>
          <a:lstStyle/>
          <a:p>
            <a:pPr marL="0" indent="0">
              <a:buNone/>
            </a:pPr>
            <a:r>
              <a:rPr lang="en-US" sz="2800" dirty="0">
                <a:solidFill>
                  <a:srgbClr val="FFFFFF"/>
                </a:solidFill>
                <a:latin typeface="Georgia" pitchFamily="34" charset="0"/>
                <a:ea typeface="Georgia" pitchFamily="34" charset="-122"/>
                <a:cs typeface="Georgia" pitchFamily="34" charset="-120"/>
              </a:rPr>
              <a:t>Next-Gen AIOps Strategic Roadmap</a:t>
            </a:r>
            <a:endParaRPr lang="en-US" sz="2800" dirty="0"/>
          </a:p>
        </p:txBody>
      </p:sp>
      <p:sp>
        <p:nvSpPr>
          <p:cNvPr id="5" name="Text 3"/>
          <p:cNvSpPr/>
          <p:nvPr/>
        </p:nvSpPr>
        <p:spPr>
          <a:xfrm>
            <a:off x="731520" y="2606040"/>
            <a:ext cx="7315200" cy="457200"/>
          </a:xfrm>
          <a:prstGeom prst="rect">
            <a:avLst/>
          </a:prstGeom>
          <a:noFill/>
          <a:ln/>
        </p:spPr>
        <p:txBody>
          <a:bodyPr wrap="square" lIns="0" tIns="0" rIns="0" bIns="0" rtlCol="0" anchor="ctr"/>
          <a:lstStyle/>
          <a:p>
            <a:pPr marL="0" indent="0">
              <a:buNone/>
            </a:pPr>
            <a:r>
              <a:rPr lang="en-US" sz="1600" dirty="0">
                <a:solidFill>
                  <a:srgbClr val="64748B"/>
                </a:solidFill>
                <a:latin typeface="Calibri" pitchFamily="34" charset="0"/>
                <a:ea typeface="Calibri" pitchFamily="34" charset="-122"/>
                <a:cs typeface="Calibri" pitchFamily="34" charset="-120"/>
              </a:rPr>
              <a:t>Agent-First RCA | Self-Evolving Skills | Knowledge Sediment</a:t>
            </a:r>
            <a:endParaRPr lang="en-US" sz="1600" dirty="0"/>
          </a:p>
        </p:txBody>
      </p:sp>
      <p:sp>
        <p:nvSpPr>
          <p:cNvPr id="6" name="Shape 4"/>
          <p:cNvSpPr/>
          <p:nvPr/>
        </p:nvSpPr>
        <p:spPr>
          <a:xfrm>
            <a:off x="0" y="4389120"/>
            <a:ext cx="9144000" cy="754380"/>
          </a:xfrm>
          <a:prstGeom prst="rect">
            <a:avLst/>
          </a:prstGeom>
          <a:solidFill>
            <a:srgbClr val="0A1F33"/>
          </a:solidFill>
          <a:ln/>
        </p:spPr>
        <p:txBody>
          <a:bodyPr/>
          <a:lstStyle/>
          <a:p>
            <a:endParaRPr lang="en-CN"/>
          </a:p>
        </p:txBody>
      </p:sp>
      <p:sp>
        <p:nvSpPr>
          <p:cNvPr id="7" name="Text 5"/>
          <p:cNvSpPr/>
          <p:nvPr/>
        </p:nvSpPr>
        <p:spPr>
          <a:xfrm>
            <a:off x="731520" y="4526280"/>
            <a:ext cx="7680960" cy="45720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Post-MVP Strategic Planning  |  2026 Q2 - 2028+  |  50 Tasks across 4 Phases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lIns="0" tIns="0" rIns="0" bIns="0" rtlCol="0" anchor="ctr"/>
          <a:lstStyle/>
          <a:p>
            <a:pPr marL="0" indent="0">
              <a:buNone/>
            </a:pPr>
            <a:r>
              <a:rPr lang="en-US" sz="3200" b="1" dirty="0">
                <a:solidFill>
                  <a:srgbClr val="0F2B46"/>
                </a:solidFill>
                <a:latin typeface="Georgia" pitchFamily="34" charset="0"/>
                <a:ea typeface="Georgia" pitchFamily="34" charset="-122"/>
                <a:cs typeface="Georgia" pitchFamily="34" charset="-120"/>
              </a:rPr>
              <a:t>Executive Summary</a:t>
            </a:r>
            <a:endParaRPr lang="en-US" sz="3200" dirty="0"/>
          </a:p>
        </p:txBody>
      </p:sp>
      <p:sp>
        <p:nvSpPr>
          <p:cNvPr id="3" name="Shape 1"/>
          <p:cNvSpPr/>
          <p:nvPr/>
        </p:nvSpPr>
        <p:spPr>
          <a:xfrm>
            <a:off x="731520" y="868680"/>
            <a:ext cx="1097280" cy="36576"/>
          </a:xfrm>
          <a:prstGeom prst="rect">
            <a:avLst/>
          </a:prstGeom>
          <a:solidFill>
            <a:srgbClr val="0891B2"/>
          </a:solidFill>
          <a:ln/>
        </p:spPr>
        <p:txBody>
          <a:bodyPr/>
          <a:lstStyle/>
          <a:p>
            <a:endParaRPr lang="en-CN"/>
          </a:p>
        </p:txBody>
      </p:sp>
      <p:sp>
        <p:nvSpPr>
          <p:cNvPr id="4" name="Shape 2"/>
          <p:cNvSpPr/>
          <p:nvPr/>
        </p:nvSpPr>
        <p:spPr>
          <a:xfrm>
            <a:off x="457200" y="1188720"/>
            <a:ext cx="3931920" cy="3474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5" name="Text 3"/>
          <p:cNvSpPr/>
          <p:nvPr/>
        </p:nvSpPr>
        <p:spPr>
          <a:xfrm>
            <a:off x="731520" y="1325880"/>
            <a:ext cx="3474720" cy="365760"/>
          </a:xfrm>
          <a:prstGeom prst="rect">
            <a:avLst/>
          </a:prstGeom>
          <a:noFill/>
          <a:ln/>
        </p:spPr>
        <p:txBody>
          <a:bodyPr wrap="square" lIns="0" tIns="0" rIns="0" bIns="0" rtlCol="0" anchor="ctr"/>
          <a:lstStyle/>
          <a:p>
            <a:pPr marL="0" indent="0">
              <a:buNone/>
            </a:pPr>
            <a:r>
              <a:rPr lang="en-US" sz="1600" b="1" dirty="0">
                <a:solidFill>
                  <a:srgbClr val="0891B2"/>
                </a:solidFill>
                <a:latin typeface="Georgia" pitchFamily="34" charset="0"/>
                <a:ea typeface="Georgia" pitchFamily="34" charset="-122"/>
                <a:cs typeface="Georgia" pitchFamily="34" charset="-120"/>
              </a:rPr>
              <a:t>Core Vision</a:t>
            </a:r>
            <a:endParaRPr lang="en-US" sz="1600" dirty="0"/>
          </a:p>
        </p:txBody>
      </p:sp>
      <p:sp>
        <p:nvSpPr>
          <p:cNvPr id="6" name="Text 4"/>
          <p:cNvSpPr/>
          <p:nvPr/>
        </p:nvSpPr>
        <p:spPr>
          <a:xfrm>
            <a:off x="731520" y="1737360"/>
            <a:ext cx="3474720" cy="2743200"/>
          </a:xfrm>
          <a:prstGeom prst="rect">
            <a:avLst/>
          </a:prstGeom>
          <a:noFill/>
          <a:ln/>
        </p:spPr>
        <p:txBody>
          <a:bodyPr wrap="square" rtlCol="0" anchor="ctr"/>
          <a:lstStyle/>
          <a:p>
            <a:pPr marL="0" indent="0">
              <a:lnSpc>
                <a:spcPct val="130000"/>
              </a:lnSpc>
              <a:buNone/>
            </a:pPr>
            <a:r>
              <a:rPr lang="en-US" sz="1300" dirty="0">
                <a:solidFill>
                  <a:srgbClr val="1E293B"/>
                </a:solidFill>
                <a:latin typeface="Calibri" pitchFamily="34" charset="0"/>
                <a:ea typeface="Calibri" pitchFamily="34" charset="-122"/>
                <a:cs typeface="Calibri" pitchFamily="34" charset="-120"/>
              </a:rPr>
              <a:t>AgenticOps is an intelligent platform that uses existing tools, accumulates operational experience, autonomously takes over operations, self-repairs, and self-iterates.</a:t>
            </a:r>
            <a:endParaRPr lang="en-US" sz="1300" dirty="0"/>
          </a:p>
          <a:p>
            <a:pPr marL="0" indent="0">
              <a:buNone/>
            </a:pPr>
            <a:endParaRPr lang="en-US" sz="1300" dirty="0"/>
          </a:p>
          <a:p>
            <a:pPr marL="0" indent="0">
              <a:buNone/>
            </a:pPr>
            <a:r>
              <a:rPr lang="en-US" sz="1200" b="1" dirty="0">
                <a:solidFill>
                  <a:srgbClr val="DC2626"/>
                </a:solidFill>
                <a:latin typeface="Calibri" pitchFamily="34" charset="0"/>
                <a:ea typeface="Calibri" pitchFamily="34" charset="-122"/>
                <a:cs typeface="Calibri" pitchFamily="34" charset="-120"/>
              </a:rPr>
              <a:t>NOT a monitoring tool</a:t>
            </a:r>
            <a:endParaRPr lang="en-US" sz="1300" dirty="0"/>
          </a:p>
          <a:p>
            <a:pPr marL="0" indent="0">
              <a:buNone/>
            </a:pPr>
            <a:r>
              <a:rPr lang="en-US" sz="1200" b="1" dirty="0">
                <a:solidFill>
                  <a:srgbClr val="DC2626"/>
                </a:solidFill>
                <a:latin typeface="Calibri" pitchFamily="34" charset="0"/>
                <a:ea typeface="Calibri" pitchFamily="34" charset="-122"/>
                <a:cs typeface="Calibri" pitchFamily="34" charset="-120"/>
              </a:rPr>
              <a:t>NOT a data platform</a:t>
            </a:r>
            <a:endParaRPr lang="en-US" sz="1300" dirty="0"/>
          </a:p>
          <a:p>
            <a:pPr marL="0" indent="0">
              <a:buNone/>
            </a:pPr>
            <a:r>
              <a:rPr lang="en-US" sz="1200" b="1" dirty="0">
                <a:solidFill>
                  <a:srgbClr val="DC2626"/>
                </a:solidFill>
                <a:latin typeface="Calibri" pitchFamily="34" charset="0"/>
                <a:ea typeface="Calibri" pitchFamily="34" charset="-122"/>
                <a:cs typeface="Calibri" pitchFamily="34" charset="-120"/>
              </a:rPr>
              <a:t>NOT a script executor</a:t>
            </a:r>
            <a:endParaRPr lang="en-US" sz="1300" dirty="0"/>
          </a:p>
          <a:p>
            <a:pPr marL="0" indent="0">
              <a:buNone/>
            </a:pPr>
            <a:endParaRPr lang="en-US" sz="1300" dirty="0"/>
          </a:p>
          <a:p>
            <a:pPr marL="0" indent="0">
              <a:buNone/>
            </a:pPr>
            <a:r>
              <a:rPr lang="en-US" sz="1200" i="1" dirty="0">
                <a:solidFill>
                  <a:srgbClr val="64748B"/>
                </a:solidFill>
                <a:latin typeface="Calibri" pitchFamily="34" charset="0"/>
                <a:ea typeface="Calibri" pitchFamily="34" charset="-122"/>
                <a:cs typeface="Calibri" pitchFamily="34" charset="-120"/>
              </a:rPr>
              <a:t>Like a real SRE: gets alerts, investigates, fixes, learns. Except it never sleeps and never forgets.</a:t>
            </a:r>
            <a:endParaRPr lang="en-US" sz="1300" dirty="0"/>
          </a:p>
        </p:txBody>
      </p:sp>
      <p:sp>
        <p:nvSpPr>
          <p:cNvPr id="7" name="Shape 5"/>
          <p:cNvSpPr/>
          <p:nvPr/>
        </p:nvSpPr>
        <p:spPr>
          <a:xfrm>
            <a:off x="4754880" y="1188720"/>
            <a:ext cx="3931920" cy="3474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8" name="Text 6"/>
          <p:cNvSpPr/>
          <p:nvPr/>
        </p:nvSpPr>
        <p:spPr>
          <a:xfrm>
            <a:off x="5029200" y="1325880"/>
            <a:ext cx="3474720" cy="365760"/>
          </a:xfrm>
          <a:prstGeom prst="rect">
            <a:avLst/>
          </a:prstGeom>
          <a:noFill/>
          <a:ln/>
        </p:spPr>
        <p:txBody>
          <a:bodyPr wrap="square" lIns="0" tIns="0" rIns="0" bIns="0" rtlCol="0" anchor="ctr"/>
          <a:lstStyle/>
          <a:p>
            <a:pPr marL="0" indent="0">
              <a:buNone/>
            </a:pPr>
            <a:r>
              <a:rPr lang="en-US" sz="1600" b="1" dirty="0">
                <a:solidFill>
                  <a:srgbClr val="0891B2"/>
                </a:solidFill>
                <a:latin typeface="Georgia" pitchFamily="34" charset="0"/>
                <a:ea typeface="Georgia" pitchFamily="34" charset="-122"/>
                <a:cs typeface="Georgia" pitchFamily="34" charset="-120"/>
              </a:rPr>
              <a:t>Roadmap at a Glance</a:t>
            </a:r>
            <a:endParaRPr lang="en-US" sz="1600" dirty="0"/>
          </a:p>
        </p:txBody>
      </p:sp>
      <p:sp>
        <p:nvSpPr>
          <p:cNvPr id="9" name="Text 7"/>
          <p:cNvSpPr/>
          <p:nvPr/>
        </p:nvSpPr>
        <p:spPr>
          <a:xfrm>
            <a:off x="5029200" y="1828800"/>
            <a:ext cx="1097280" cy="502920"/>
          </a:xfrm>
          <a:prstGeom prst="rect">
            <a:avLst/>
          </a:prstGeom>
          <a:noFill/>
          <a:ln/>
        </p:spPr>
        <p:txBody>
          <a:bodyPr wrap="square" lIns="0" tIns="0" rIns="0" bIns="0" rtlCol="0" anchor="ctr"/>
          <a:lstStyle/>
          <a:p>
            <a:pPr marL="0" indent="0" algn="ctr">
              <a:buNone/>
            </a:pPr>
            <a:r>
              <a:rPr lang="en-US" sz="3200" b="1" dirty="0">
                <a:solidFill>
                  <a:srgbClr val="0891B2"/>
                </a:solidFill>
                <a:latin typeface="Georgia" pitchFamily="34" charset="0"/>
                <a:ea typeface="Georgia" pitchFamily="34" charset="-122"/>
                <a:cs typeface="Georgia" pitchFamily="34" charset="-120"/>
              </a:rPr>
              <a:t>50</a:t>
            </a:r>
            <a:endParaRPr lang="en-US" sz="3200" dirty="0"/>
          </a:p>
        </p:txBody>
      </p:sp>
      <p:sp>
        <p:nvSpPr>
          <p:cNvPr id="10" name="Text 8"/>
          <p:cNvSpPr/>
          <p:nvPr/>
        </p:nvSpPr>
        <p:spPr>
          <a:xfrm>
            <a:off x="6126480" y="1901952"/>
            <a:ext cx="2377440" cy="41148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Total Tasks</a:t>
            </a:r>
            <a:endParaRPr lang="en-US" sz="1400" dirty="0"/>
          </a:p>
        </p:txBody>
      </p:sp>
      <p:sp>
        <p:nvSpPr>
          <p:cNvPr id="11" name="Text 9"/>
          <p:cNvSpPr/>
          <p:nvPr/>
        </p:nvSpPr>
        <p:spPr>
          <a:xfrm>
            <a:off x="5029200" y="2514600"/>
            <a:ext cx="1097280" cy="502920"/>
          </a:xfrm>
          <a:prstGeom prst="rect">
            <a:avLst/>
          </a:prstGeom>
          <a:noFill/>
          <a:ln/>
        </p:spPr>
        <p:txBody>
          <a:bodyPr wrap="square" lIns="0" tIns="0" rIns="0" bIns="0" rtlCol="0" anchor="ctr"/>
          <a:lstStyle/>
          <a:p>
            <a:pPr marL="0" indent="0" algn="ctr">
              <a:buNone/>
            </a:pPr>
            <a:r>
              <a:rPr lang="en-US" sz="3200" b="1" dirty="0">
                <a:solidFill>
                  <a:srgbClr val="0891B2"/>
                </a:solidFill>
                <a:latin typeface="Georgia" pitchFamily="34" charset="0"/>
                <a:ea typeface="Georgia" pitchFamily="34" charset="-122"/>
                <a:cs typeface="Georgia" pitchFamily="34" charset="-120"/>
              </a:rPr>
              <a:t>4</a:t>
            </a:r>
            <a:endParaRPr lang="en-US" sz="3200" dirty="0"/>
          </a:p>
        </p:txBody>
      </p:sp>
      <p:sp>
        <p:nvSpPr>
          <p:cNvPr id="12" name="Text 10"/>
          <p:cNvSpPr/>
          <p:nvPr/>
        </p:nvSpPr>
        <p:spPr>
          <a:xfrm>
            <a:off x="6126480" y="2587752"/>
            <a:ext cx="2377440" cy="41148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Phases (2026-2028+)</a:t>
            </a:r>
            <a:endParaRPr lang="en-US" sz="1400" dirty="0"/>
          </a:p>
        </p:txBody>
      </p:sp>
      <p:sp>
        <p:nvSpPr>
          <p:cNvPr id="13" name="Text 11"/>
          <p:cNvSpPr/>
          <p:nvPr/>
        </p:nvSpPr>
        <p:spPr>
          <a:xfrm>
            <a:off x="5029200" y="3200400"/>
            <a:ext cx="1097280" cy="502920"/>
          </a:xfrm>
          <a:prstGeom prst="rect">
            <a:avLst/>
          </a:prstGeom>
          <a:noFill/>
          <a:ln/>
        </p:spPr>
        <p:txBody>
          <a:bodyPr wrap="square" lIns="0" tIns="0" rIns="0" bIns="0" rtlCol="0" anchor="ctr"/>
          <a:lstStyle/>
          <a:p>
            <a:pPr marL="0" indent="0" algn="ctr">
              <a:buNone/>
            </a:pPr>
            <a:r>
              <a:rPr lang="en-US" sz="3200" b="1" dirty="0">
                <a:solidFill>
                  <a:srgbClr val="0891B2"/>
                </a:solidFill>
                <a:latin typeface="Georgia" pitchFamily="34" charset="0"/>
                <a:ea typeface="Georgia" pitchFamily="34" charset="-122"/>
                <a:cs typeface="Georgia" pitchFamily="34" charset="-120"/>
              </a:rPr>
              <a:t>28</a:t>
            </a:r>
            <a:endParaRPr lang="en-US" sz="3200" dirty="0"/>
          </a:p>
        </p:txBody>
      </p:sp>
      <p:sp>
        <p:nvSpPr>
          <p:cNvPr id="14" name="Text 12"/>
          <p:cNvSpPr/>
          <p:nvPr/>
        </p:nvSpPr>
        <p:spPr>
          <a:xfrm>
            <a:off x="6126480" y="3273552"/>
            <a:ext cx="2377440" cy="41148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Near-Term Priority Tasks</a:t>
            </a:r>
            <a:endParaRPr lang="en-US" sz="1400" dirty="0"/>
          </a:p>
        </p:txBody>
      </p:sp>
      <p:sp>
        <p:nvSpPr>
          <p:cNvPr id="15" name="Text 13"/>
          <p:cNvSpPr/>
          <p:nvPr/>
        </p:nvSpPr>
        <p:spPr>
          <a:xfrm>
            <a:off x="5029200" y="3886200"/>
            <a:ext cx="1097280" cy="502920"/>
          </a:xfrm>
          <a:prstGeom prst="rect">
            <a:avLst/>
          </a:prstGeom>
          <a:noFill/>
          <a:ln/>
        </p:spPr>
        <p:txBody>
          <a:bodyPr wrap="square" lIns="0" tIns="0" rIns="0" bIns="0" rtlCol="0" anchor="ctr"/>
          <a:lstStyle/>
          <a:p>
            <a:pPr marL="0" indent="0" algn="ctr">
              <a:buNone/>
            </a:pPr>
            <a:r>
              <a:rPr lang="en-US" sz="3200" b="1" dirty="0">
                <a:solidFill>
                  <a:srgbClr val="0891B2"/>
                </a:solidFill>
                <a:latin typeface="Georgia" pitchFamily="34" charset="0"/>
                <a:ea typeface="Georgia" pitchFamily="34" charset="-122"/>
                <a:cs typeface="Georgia" pitchFamily="34" charset="-120"/>
              </a:rPr>
              <a:t>11</a:t>
            </a:r>
            <a:endParaRPr lang="en-US" sz="3200" dirty="0"/>
          </a:p>
        </p:txBody>
      </p:sp>
      <p:sp>
        <p:nvSpPr>
          <p:cNvPr id="16" name="Text 14"/>
          <p:cNvSpPr/>
          <p:nvPr/>
        </p:nvSpPr>
        <p:spPr>
          <a:xfrm>
            <a:off x="6126480" y="3959352"/>
            <a:ext cx="2377440" cy="41148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Academic Paper References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lIns="0" tIns="0" rIns="0" bIns="0" rtlCol="0" anchor="ctr"/>
          <a:lstStyle/>
          <a:p>
            <a:pPr marL="0" indent="0">
              <a:buNone/>
            </a:pPr>
            <a:r>
              <a:rPr lang="en-US" sz="3200" b="1" dirty="0">
                <a:solidFill>
                  <a:srgbClr val="0F2B46"/>
                </a:solidFill>
                <a:latin typeface="Georgia" pitchFamily="34" charset="0"/>
                <a:ea typeface="Georgia" pitchFamily="34" charset="-122"/>
                <a:cs typeface="Georgia" pitchFamily="34" charset="-120"/>
              </a:rPr>
              <a:t>Market Pain Points We Solve</a:t>
            </a:r>
            <a:endParaRPr lang="en-US" sz="3200" dirty="0"/>
          </a:p>
        </p:txBody>
      </p:sp>
      <p:sp>
        <p:nvSpPr>
          <p:cNvPr id="3" name="Shape 1"/>
          <p:cNvSpPr/>
          <p:nvPr/>
        </p:nvSpPr>
        <p:spPr>
          <a:xfrm>
            <a:off x="731520" y="868680"/>
            <a:ext cx="1097280" cy="36576"/>
          </a:xfrm>
          <a:prstGeom prst="rect">
            <a:avLst/>
          </a:prstGeom>
          <a:solidFill>
            <a:srgbClr val="0891B2"/>
          </a:solidFill>
          <a:ln/>
        </p:spPr>
        <p:txBody>
          <a:bodyPr/>
          <a:lstStyle/>
          <a:p>
            <a:endParaRPr lang="en-CN"/>
          </a:p>
        </p:txBody>
      </p:sp>
      <p:sp>
        <p:nvSpPr>
          <p:cNvPr id="4" name="Shape 2"/>
          <p:cNvSpPr/>
          <p:nvPr/>
        </p:nvSpPr>
        <p:spPr>
          <a:xfrm>
            <a:off x="457200" y="1097280"/>
            <a:ext cx="4023360" cy="10515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5" name="Shape 3"/>
          <p:cNvSpPr/>
          <p:nvPr/>
        </p:nvSpPr>
        <p:spPr>
          <a:xfrm>
            <a:off x="457200" y="1097280"/>
            <a:ext cx="64008" cy="1051560"/>
          </a:xfrm>
          <a:prstGeom prst="rect">
            <a:avLst/>
          </a:prstGeom>
          <a:solidFill>
            <a:srgbClr val="DC2626"/>
          </a:solidFill>
          <a:ln/>
        </p:spPr>
        <p:txBody>
          <a:bodyPr/>
          <a:lstStyle/>
          <a:p>
            <a:endParaRPr lang="en-CN"/>
          </a:p>
        </p:txBody>
      </p:sp>
      <p:sp>
        <p:nvSpPr>
          <p:cNvPr id="6" name="Text 4"/>
          <p:cNvSpPr/>
          <p:nvPr/>
        </p:nvSpPr>
        <p:spPr>
          <a:xfrm>
            <a:off x="685800" y="1188720"/>
            <a:ext cx="3566160" cy="320040"/>
          </a:xfrm>
          <a:prstGeom prst="rect">
            <a:avLst/>
          </a:prstGeom>
          <a:noFill/>
          <a:ln/>
        </p:spPr>
        <p:txBody>
          <a:bodyPr wrap="square" lIns="0" tIns="0" rIns="0" bIns="0" rtlCol="0" anchor="ctr"/>
          <a:lstStyle/>
          <a:p>
            <a:pPr marL="0" indent="0">
              <a:buNone/>
            </a:pPr>
            <a:r>
              <a:rPr lang="en-US" sz="1400" b="1" dirty="0">
                <a:solidFill>
                  <a:srgbClr val="1E293B"/>
                </a:solidFill>
                <a:latin typeface="Georgia" pitchFamily="34" charset="0"/>
                <a:ea typeface="Georgia" pitchFamily="34" charset="-122"/>
                <a:cs typeface="Georgia" pitchFamily="34" charset="-120"/>
              </a:rPr>
              <a:t>Alert Fatigue</a:t>
            </a:r>
            <a:endParaRPr lang="en-US" sz="1400" dirty="0"/>
          </a:p>
        </p:txBody>
      </p:sp>
      <p:sp>
        <p:nvSpPr>
          <p:cNvPr id="7" name="Text 5"/>
          <p:cNvSpPr/>
          <p:nvPr/>
        </p:nvSpPr>
        <p:spPr>
          <a:xfrm>
            <a:off x="685800" y="1508760"/>
            <a:ext cx="3566160" cy="5486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SRE teams drown in alerts. No intelligent classification or dedup. Every alert starts investigation from zero.</a:t>
            </a:r>
            <a:endParaRPr lang="en-US" sz="1100" dirty="0"/>
          </a:p>
        </p:txBody>
      </p:sp>
      <p:sp>
        <p:nvSpPr>
          <p:cNvPr id="8" name="Shape 6"/>
          <p:cNvSpPr/>
          <p:nvPr/>
        </p:nvSpPr>
        <p:spPr>
          <a:xfrm>
            <a:off x="457200" y="2331720"/>
            <a:ext cx="4023360" cy="10515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9" name="Shape 7"/>
          <p:cNvSpPr/>
          <p:nvPr/>
        </p:nvSpPr>
        <p:spPr>
          <a:xfrm>
            <a:off x="457200" y="2331720"/>
            <a:ext cx="64008" cy="1051560"/>
          </a:xfrm>
          <a:prstGeom prst="rect">
            <a:avLst/>
          </a:prstGeom>
          <a:solidFill>
            <a:srgbClr val="EA580C"/>
          </a:solidFill>
          <a:ln/>
        </p:spPr>
        <p:txBody>
          <a:bodyPr/>
          <a:lstStyle/>
          <a:p>
            <a:endParaRPr lang="en-CN"/>
          </a:p>
        </p:txBody>
      </p:sp>
      <p:sp>
        <p:nvSpPr>
          <p:cNvPr id="10" name="Text 8"/>
          <p:cNvSpPr/>
          <p:nvPr/>
        </p:nvSpPr>
        <p:spPr>
          <a:xfrm>
            <a:off x="685800" y="2423160"/>
            <a:ext cx="3566160" cy="320040"/>
          </a:xfrm>
          <a:prstGeom prst="rect">
            <a:avLst/>
          </a:prstGeom>
          <a:noFill/>
          <a:ln/>
        </p:spPr>
        <p:txBody>
          <a:bodyPr wrap="square" lIns="0" tIns="0" rIns="0" bIns="0" rtlCol="0" anchor="ctr"/>
          <a:lstStyle/>
          <a:p>
            <a:pPr marL="0" indent="0">
              <a:buNone/>
            </a:pPr>
            <a:r>
              <a:rPr lang="en-US" sz="1400" b="1" dirty="0">
                <a:solidFill>
                  <a:srgbClr val="1E293B"/>
                </a:solidFill>
                <a:latin typeface="Georgia" pitchFamily="34" charset="0"/>
                <a:ea typeface="Georgia" pitchFamily="34" charset="-122"/>
                <a:cs typeface="Georgia" pitchFamily="34" charset="-120"/>
              </a:rPr>
              <a:t>Slow RCA (MTTR)</a:t>
            </a:r>
            <a:endParaRPr lang="en-US" sz="1400" dirty="0"/>
          </a:p>
        </p:txBody>
      </p:sp>
      <p:sp>
        <p:nvSpPr>
          <p:cNvPr id="11" name="Text 9"/>
          <p:cNvSpPr/>
          <p:nvPr/>
        </p:nvSpPr>
        <p:spPr>
          <a:xfrm>
            <a:off x="685800" y="2743200"/>
            <a:ext cx="3566160" cy="5486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Average MTTR &gt; 30min. SREs switch between 5+ tools. No automated evidence collection or confidence scoring.</a:t>
            </a:r>
            <a:endParaRPr lang="en-US" sz="1100" dirty="0"/>
          </a:p>
        </p:txBody>
      </p:sp>
      <p:sp>
        <p:nvSpPr>
          <p:cNvPr id="12" name="Shape 10"/>
          <p:cNvSpPr/>
          <p:nvPr/>
        </p:nvSpPr>
        <p:spPr>
          <a:xfrm>
            <a:off x="457200" y="3566160"/>
            <a:ext cx="4023360" cy="10515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13" name="Shape 11"/>
          <p:cNvSpPr/>
          <p:nvPr/>
        </p:nvSpPr>
        <p:spPr>
          <a:xfrm>
            <a:off x="457200" y="3566160"/>
            <a:ext cx="64008" cy="1051560"/>
          </a:xfrm>
          <a:prstGeom prst="rect">
            <a:avLst/>
          </a:prstGeom>
          <a:solidFill>
            <a:srgbClr val="D97706"/>
          </a:solidFill>
          <a:ln/>
        </p:spPr>
        <p:txBody>
          <a:bodyPr/>
          <a:lstStyle/>
          <a:p>
            <a:endParaRPr lang="en-CN"/>
          </a:p>
        </p:txBody>
      </p:sp>
      <p:sp>
        <p:nvSpPr>
          <p:cNvPr id="14" name="Text 12"/>
          <p:cNvSpPr/>
          <p:nvPr/>
        </p:nvSpPr>
        <p:spPr>
          <a:xfrm>
            <a:off x="685800" y="3657600"/>
            <a:ext cx="3566160" cy="320040"/>
          </a:xfrm>
          <a:prstGeom prst="rect">
            <a:avLst/>
          </a:prstGeom>
          <a:noFill/>
          <a:ln/>
        </p:spPr>
        <p:txBody>
          <a:bodyPr wrap="square" lIns="0" tIns="0" rIns="0" bIns="0" rtlCol="0" anchor="ctr"/>
          <a:lstStyle/>
          <a:p>
            <a:pPr marL="0" indent="0">
              <a:buNone/>
            </a:pPr>
            <a:r>
              <a:rPr lang="en-US" sz="1400" b="1" dirty="0">
                <a:solidFill>
                  <a:srgbClr val="1E293B"/>
                </a:solidFill>
                <a:latin typeface="Georgia" pitchFamily="34" charset="0"/>
                <a:ea typeface="Georgia" pitchFamily="34" charset="-122"/>
                <a:cs typeface="Georgia" pitchFamily="34" charset="-120"/>
              </a:rPr>
              <a:t>Knowledge Loss</a:t>
            </a:r>
            <a:endParaRPr lang="en-US" sz="1400" dirty="0"/>
          </a:p>
        </p:txBody>
      </p:sp>
      <p:sp>
        <p:nvSpPr>
          <p:cNvPr id="15" name="Text 13"/>
          <p:cNvSpPr/>
          <p:nvPr/>
        </p:nvSpPr>
        <p:spPr>
          <a:xfrm>
            <a:off x="685800" y="3977640"/>
            <a:ext cx="3566160" cy="5486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When senior SRE leaves, knowledge walks out the door. No institutional memory. Every new hire starts from scratch.</a:t>
            </a:r>
            <a:endParaRPr lang="en-US" sz="1100" dirty="0"/>
          </a:p>
        </p:txBody>
      </p:sp>
      <p:sp>
        <p:nvSpPr>
          <p:cNvPr id="16" name="Shape 14"/>
          <p:cNvSpPr/>
          <p:nvPr/>
        </p:nvSpPr>
        <p:spPr>
          <a:xfrm>
            <a:off x="4754880" y="1097280"/>
            <a:ext cx="4023360" cy="10515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17" name="Shape 15"/>
          <p:cNvSpPr/>
          <p:nvPr/>
        </p:nvSpPr>
        <p:spPr>
          <a:xfrm>
            <a:off x="4754880" y="1097280"/>
            <a:ext cx="64008" cy="1051560"/>
          </a:xfrm>
          <a:prstGeom prst="rect">
            <a:avLst/>
          </a:prstGeom>
          <a:solidFill>
            <a:srgbClr val="D97706"/>
          </a:solidFill>
          <a:ln/>
        </p:spPr>
        <p:txBody>
          <a:bodyPr/>
          <a:lstStyle/>
          <a:p>
            <a:endParaRPr lang="en-CN"/>
          </a:p>
        </p:txBody>
      </p:sp>
      <p:sp>
        <p:nvSpPr>
          <p:cNvPr id="18" name="Text 16"/>
          <p:cNvSpPr/>
          <p:nvPr/>
        </p:nvSpPr>
        <p:spPr>
          <a:xfrm>
            <a:off x="4983480" y="1188720"/>
            <a:ext cx="3566160" cy="320040"/>
          </a:xfrm>
          <a:prstGeom prst="rect">
            <a:avLst/>
          </a:prstGeom>
          <a:noFill/>
          <a:ln/>
        </p:spPr>
        <p:txBody>
          <a:bodyPr wrap="square" lIns="0" tIns="0" rIns="0" bIns="0" rtlCol="0" anchor="ctr"/>
          <a:lstStyle/>
          <a:p>
            <a:pPr marL="0" indent="0">
              <a:buNone/>
            </a:pPr>
            <a:r>
              <a:rPr lang="en-US" sz="1400" b="1" dirty="0">
                <a:solidFill>
                  <a:srgbClr val="1E293B"/>
                </a:solidFill>
                <a:latin typeface="Georgia" pitchFamily="34" charset="0"/>
                <a:ea typeface="Georgia" pitchFamily="34" charset="-122"/>
                <a:cs typeface="Georgia" pitchFamily="34" charset="-120"/>
              </a:rPr>
              <a:t>Runbook Staleness</a:t>
            </a:r>
            <a:endParaRPr lang="en-US" sz="1400" dirty="0"/>
          </a:p>
        </p:txBody>
      </p:sp>
      <p:sp>
        <p:nvSpPr>
          <p:cNvPr id="19" name="Text 17"/>
          <p:cNvSpPr/>
          <p:nvPr/>
        </p:nvSpPr>
        <p:spPr>
          <a:xfrm>
            <a:off x="4983480" y="1508760"/>
            <a:ext cx="3566160" cy="5486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80% of runbooks are outdated. No one maintains them. Infrastructure changes but SOPs don't.</a:t>
            </a:r>
            <a:endParaRPr lang="en-US" sz="1100" dirty="0"/>
          </a:p>
        </p:txBody>
      </p:sp>
      <p:sp>
        <p:nvSpPr>
          <p:cNvPr id="20" name="Shape 18"/>
          <p:cNvSpPr/>
          <p:nvPr/>
        </p:nvSpPr>
        <p:spPr>
          <a:xfrm>
            <a:off x="4754880" y="2331720"/>
            <a:ext cx="4023360" cy="10515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21" name="Shape 19"/>
          <p:cNvSpPr/>
          <p:nvPr/>
        </p:nvSpPr>
        <p:spPr>
          <a:xfrm>
            <a:off x="4754880" y="2331720"/>
            <a:ext cx="64008" cy="1051560"/>
          </a:xfrm>
          <a:prstGeom prst="rect">
            <a:avLst/>
          </a:prstGeom>
          <a:solidFill>
            <a:srgbClr val="EA580C"/>
          </a:solidFill>
          <a:ln/>
        </p:spPr>
        <p:txBody>
          <a:bodyPr/>
          <a:lstStyle/>
          <a:p>
            <a:endParaRPr lang="en-CN"/>
          </a:p>
        </p:txBody>
      </p:sp>
      <p:sp>
        <p:nvSpPr>
          <p:cNvPr id="22" name="Text 20"/>
          <p:cNvSpPr/>
          <p:nvPr/>
        </p:nvSpPr>
        <p:spPr>
          <a:xfrm>
            <a:off x="4983480" y="2423160"/>
            <a:ext cx="3566160" cy="320040"/>
          </a:xfrm>
          <a:prstGeom prst="rect">
            <a:avLst/>
          </a:prstGeom>
          <a:noFill/>
          <a:ln/>
        </p:spPr>
        <p:txBody>
          <a:bodyPr wrap="square" lIns="0" tIns="0" rIns="0" bIns="0" rtlCol="0" anchor="ctr"/>
          <a:lstStyle/>
          <a:p>
            <a:pPr marL="0" indent="0">
              <a:buNone/>
            </a:pPr>
            <a:r>
              <a:rPr lang="en-US" sz="1400" b="1" dirty="0">
                <a:solidFill>
                  <a:srgbClr val="1E293B"/>
                </a:solidFill>
                <a:latin typeface="Georgia" pitchFamily="34" charset="0"/>
                <a:ea typeface="Georgia" pitchFamily="34" charset="-122"/>
                <a:cs typeface="Georgia" pitchFamily="34" charset="-120"/>
              </a:rPr>
              <a:t>Tool Fragmentation</a:t>
            </a:r>
            <a:endParaRPr lang="en-US" sz="1400" dirty="0"/>
          </a:p>
        </p:txBody>
      </p:sp>
      <p:sp>
        <p:nvSpPr>
          <p:cNvPr id="23" name="Text 21"/>
          <p:cNvSpPr/>
          <p:nvPr/>
        </p:nvSpPr>
        <p:spPr>
          <a:xfrm>
            <a:off x="4983480" y="2743200"/>
            <a:ext cx="3566160" cy="5486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Datadog for metrics, CloudWatch for logs, kubectl for K8s, CloudTrail for changes. No unified investigation path.</a:t>
            </a:r>
            <a:endParaRPr lang="en-US" sz="1100" dirty="0"/>
          </a:p>
        </p:txBody>
      </p:sp>
      <p:sp>
        <p:nvSpPr>
          <p:cNvPr id="24" name="Shape 22"/>
          <p:cNvSpPr/>
          <p:nvPr/>
        </p:nvSpPr>
        <p:spPr>
          <a:xfrm>
            <a:off x="4754880" y="3566160"/>
            <a:ext cx="4023360" cy="10515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25" name="Shape 23"/>
          <p:cNvSpPr/>
          <p:nvPr/>
        </p:nvSpPr>
        <p:spPr>
          <a:xfrm>
            <a:off x="4754880" y="3566160"/>
            <a:ext cx="64008" cy="1051560"/>
          </a:xfrm>
          <a:prstGeom prst="rect">
            <a:avLst/>
          </a:prstGeom>
          <a:solidFill>
            <a:srgbClr val="DC2626"/>
          </a:solidFill>
          <a:ln/>
        </p:spPr>
        <p:txBody>
          <a:bodyPr/>
          <a:lstStyle/>
          <a:p>
            <a:endParaRPr lang="en-CN"/>
          </a:p>
        </p:txBody>
      </p:sp>
      <p:sp>
        <p:nvSpPr>
          <p:cNvPr id="26" name="Text 24"/>
          <p:cNvSpPr/>
          <p:nvPr/>
        </p:nvSpPr>
        <p:spPr>
          <a:xfrm>
            <a:off x="4983480" y="3657600"/>
            <a:ext cx="3566160" cy="320040"/>
          </a:xfrm>
          <a:prstGeom prst="rect">
            <a:avLst/>
          </a:prstGeom>
          <a:noFill/>
          <a:ln/>
        </p:spPr>
        <p:txBody>
          <a:bodyPr wrap="square" lIns="0" tIns="0" rIns="0" bIns="0" rtlCol="0" anchor="ctr"/>
          <a:lstStyle/>
          <a:p>
            <a:pPr marL="0" indent="0">
              <a:buNone/>
            </a:pPr>
            <a:r>
              <a:rPr lang="en-US" sz="1400" b="1" dirty="0">
                <a:solidFill>
                  <a:srgbClr val="1E293B"/>
                </a:solidFill>
                <a:latin typeface="Georgia" pitchFamily="34" charset="0"/>
                <a:ea typeface="Georgia" pitchFamily="34" charset="-122"/>
                <a:cs typeface="Georgia" pitchFamily="34" charset="-120"/>
              </a:rPr>
              <a:t>No Verification Loop</a:t>
            </a:r>
            <a:endParaRPr lang="en-US" sz="1400" dirty="0"/>
          </a:p>
        </p:txBody>
      </p:sp>
      <p:sp>
        <p:nvSpPr>
          <p:cNvPr id="27" name="Text 25"/>
          <p:cNvSpPr/>
          <p:nvPr/>
        </p:nvSpPr>
        <p:spPr>
          <a:xfrm>
            <a:off x="4983480" y="3977640"/>
            <a:ext cx="3566160" cy="5486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Fix deployed but no automated check. SRE stares at dashboards for 15min. No Ground Truth feedback.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lIns="0" tIns="0" rIns="0" bIns="0" rtlCol="0" anchor="ctr"/>
          <a:lstStyle/>
          <a:p>
            <a:pPr marL="0" indent="0">
              <a:buNone/>
            </a:pPr>
            <a:r>
              <a:rPr lang="en-US" sz="3200" b="1" dirty="0">
                <a:solidFill>
                  <a:srgbClr val="0F2B46"/>
                </a:solidFill>
                <a:latin typeface="Georgia" pitchFamily="34" charset="0"/>
                <a:ea typeface="Georgia" pitchFamily="34" charset="-122"/>
                <a:cs typeface="Georgia" pitchFamily="34" charset="-120"/>
              </a:rPr>
              <a:t>Competitive Landscape</a:t>
            </a:r>
            <a:endParaRPr lang="en-US" sz="3200" dirty="0"/>
          </a:p>
        </p:txBody>
      </p:sp>
      <p:sp>
        <p:nvSpPr>
          <p:cNvPr id="3" name="Shape 1"/>
          <p:cNvSpPr/>
          <p:nvPr/>
        </p:nvSpPr>
        <p:spPr>
          <a:xfrm>
            <a:off x="731520" y="868680"/>
            <a:ext cx="1097280" cy="36576"/>
          </a:xfrm>
          <a:prstGeom prst="rect">
            <a:avLst/>
          </a:prstGeom>
          <a:solidFill>
            <a:srgbClr val="0891B2"/>
          </a:solidFill>
          <a:ln/>
        </p:spPr>
        <p:txBody>
          <a:bodyPr/>
          <a:lstStyle/>
          <a:p>
            <a:endParaRPr lang="en-CN"/>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206496"/>
        </p:xfrm>
        <a:graphic>
          <a:graphicData uri="http://schemas.openxmlformats.org/drawingml/2006/table">
            <a:tbl>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1148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Capability</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AgenticOps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PagerDuty</a:t>
                      </a:r>
                      <a:endParaRPr lang="en-US" sz="1100" dirty="0">
                        <a:latin typeface="Calibri" charset="0"/>
                        <a:ea typeface="Calibri" charset="0"/>
                        <a:cs typeface="Calibri" charset="0"/>
                      </a:endParaRPr>
                    </a:p>
                    <a:p>
                      <a:pPr marL="0" indent="0" algn="ctr">
                        <a:buNone/>
                      </a:pPr>
                      <a:r>
                        <a:rPr lang="en-US" sz="1100" b="1" dirty="0">
                          <a:solidFill>
                            <a:srgbClr val="FFFFFF"/>
                          </a:solidFill>
                          <a:latin typeface="Calibri" pitchFamily="34" charset="0"/>
                          <a:ea typeface="Calibri" pitchFamily="34" charset="-122"/>
                          <a:cs typeface="Calibri" pitchFamily="34" charset="-120"/>
                        </a:rPr>
                        <a:t>OpsGenie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HolmesGPT</a:t>
                      </a:r>
                      <a:endParaRPr lang="en-US" sz="1100" dirty="0">
                        <a:latin typeface="Calibri" charset="0"/>
                        <a:ea typeface="Calibri" charset="0"/>
                        <a:cs typeface="Calibri" charset="0"/>
                      </a:endParaRPr>
                    </a:p>
                    <a:p>
                      <a:pPr marL="0" indent="0" algn="ctr">
                        <a:buNone/>
                      </a:pPr>
                      <a:r>
                        <a:rPr lang="en-US" sz="1100" b="1" dirty="0">
                          <a:solidFill>
                            <a:srgbClr val="FFFFFF"/>
                          </a:solidFill>
                          <a:latin typeface="Calibri" pitchFamily="34" charset="0"/>
                          <a:ea typeface="Calibri" pitchFamily="34" charset="-122"/>
                          <a:cs typeface="Calibri" pitchFamily="34" charset="-120"/>
                        </a:rPr>
                        <a:t>Keep</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RCACopilot</a:t>
                      </a:r>
                      <a:endParaRPr lang="en-US" sz="1100" dirty="0">
                        <a:latin typeface="Calibri" charset="0"/>
                        <a:ea typeface="Calibri" charset="0"/>
                        <a:cs typeface="Calibri" charset="0"/>
                      </a:endParaRPr>
                    </a:p>
                    <a:p>
                      <a:pPr marL="0" indent="0" algn="ctr">
                        <a:buNone/>
                      </a:pPr>
                      <a:r>
                        <a:rPr lang="en-US" sz="1100" b="1" dirty="0">
                          <a:solidFill>
                            <a:srgbClr val="FFFFFF"/>
                          </a:solidFill>
                          <a:latin typeface="Calibri" pitchFamily="34" charset="0"/>
                          <a:ea typeface="Calibri" pitchFamily="34" charset="-122"/>
                          <a:cs typeface="Calibri" pitchFamily="34" charset="-120"/>
                        </a:rPr>
                        <a:t>(Microsoft)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extLst>
                  <a:ext uri="{0D108BD9-81ED-4DB2-BD59-A6C34878D82A}">
                    <a16:rowId xmlns:a16="http://schemas.microsoft.com/office/drawing/2014/main" val="10000"/>
                  </a:ext>
                </a:extLst>
              </a:tr>
              <a:tr h="34747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Agent-First RCA</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DC262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Partial</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Template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Self-Evolving Skills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DC262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DC262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DC262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Evidence-Weighted Confidence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8-level</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DC262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DC262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Binary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Memory + Learning Loop</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4-type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DC262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DC262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DC262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PostAction Verification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T0-T3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DC262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DC262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DC262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Human Ground Truth Loop</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DC262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DC262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Partial</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Safe Remediation (L0-L3)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5-layer</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DC262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DC262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DC2626"/>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347472">
                <a:tc>
                  <a:txBody>
                    <a:bodyPr/>
                    <a:lstStyle/>
                    <a:p>
                      <a:pPr marL="0" indent="0" algn="l">
                        <a:buNone/>
                      </a:pPr>
                      <a:r>
                        <a:rPr lang="en-US" sz="1000" dirty="0">
                          <a:solidFill>
                            <a:srgbClr val="1E293B"/>
                          </a:solidFill>
                          <a:latin typeface="Calibri" pitchFamily="34" charset="0"/>
                          <a:ea typeface="Calibri" pitchFamily="34" charset="-122"/>
                          <a:cs typeface="Calibri" pitchFamily="34" charset="-120"/>
                        </a:rPr>
                        <a:t>AWS-Native Deep Integration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Partial</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Partial</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Azure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4" name="Text 2"/>
          <p:cNvSpPr/>
          <p:nvPr/>
        </p:nvSpPr>
        <p:spPr>
          <a:xfrm>
            <a:off x="457200" y="4572000"/>
            <a:ext cx="8229600" cy="27432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Source: ClawOps Agent-First AIOps Architecture analysis + market research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F2B4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txBody>
          <a:bodyPr/>
          <a:lstStyle/>
          <a:p>
            <a:endParaRPr lang="en-CN"/>
          </a:p>
        </p:txBody>
      </p:sp>
      <p:sp>
        <p:nvSpPr>
          <p:cNvPr id="3" name="Text 1"/>
          <p:cNvSpPr/>
          <p:nvPr/>
        </p:nvSpPr>
        <p:spPr>
          <a:xfrm>
            <a:off x="731520" y="274320"/>
            <a:ext cx="7315200" cy="5486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Agent-First Framework</a:t>
            </a:r>
            <a:endParaRPr lang="en-US" sz="3200" dirty="0"/>
          </a:p>
        </p:txBody>
      </p:sp>
      <p:sp>
        <p:nvSpPr>
          <p:cNvPr id="4" name="Text 2"/>
          <p:cNvSpPr/>
          <p:nvPr/>
        </p:nvSpPr>
        <p:spPr>
          <a:xfrm>
            <a:off x="731520" y="777240"/>
            <a:ext cx="7315200" cy="320040"/>
          </a:xfrm>
          <a:prstGeom prst="rect">
            <a:avLst/>
          </a:prstGeom>
          <a:noFill/>
          <a:ln/>
        </p:spPr>
        <p:txBody>
          <a:bodyPr wrap="square" lIns="0" tIns="0" rIns="0" bIns="0" rtlCol="0" anchor="ctr"/>
          <a:lstStyle/>
          <a:p>
            <a:pPr marL="0" indent="0">
              <a:buNone/>
            </a:pPr>
            <a:r>
              <a:rPr lang="en-US" sz="1500" dirty="0">
                <a:solidFill>
                  <a:srgbClr val="06B6D4"/>
                </a:solidFill>
                <a:latin typeface="Calibri" pitchFamily="34" charset="0"/>
                <a:ea typeface="Calibri" pitchFamily="34" charset="-122"/>
                <a:cs typeface="Calibri" pitchFamily="34" charset="-120"/>
              </a:rPr>
              <a:t>Perceive  &gt;  Plan  &gt;  Act  &gt;  Decide  &gt;  Verify  &gt;  Learn</a:t>
            </a:r>
            <a:endParaRPr lang="en-US" sz="1500" dirty="0"/>
          </a:p>
        </p:txBody>
      </p:sp>
      <p:sp>
        <p:nvSpPr>
          <p:cNvPr id="5" name="Shape 3"/>
          <p:cNvSpPr/>
          <p:nvPr/>
        </p:nvSpPr>
        <p:spPr>
          <a:xfrm>
            <a:off x="320040" y="1371600"/>
            <a:ext cx="1280160" cy="2926080"/>
          </a:xfrm>
          <a:prstGeom prst="rect">
            <a:avLst/>
          </a:prstGeom>
          <a:solidFill>
            <a:srgbClr val="0891B2"/>
          </a:solidFill>
          <a:ln/>
          <a:effectLst>
            <a:outerShdw blurRad="76200" dist="25400" dir="8100000" algn="bl" rotWithShape="0">
              <a:srgbClr val="000000">
                <a:alpha val="10000"/>
              </a:srgbClr>
            </a:outerShdw>
          </a:effectLst>
        </p:spPr>
        <p:txBody>
          <a:bodyPr/>
          <a:lstStyle/>
          <a:p>
            <a:endParaRPr lang="en-CN"/>
          </a:p>
        </p:txBody>
      </p:sp>
      <p:sp>
        <p:nvSpPr>
          <p:cNvPr id="6" name="Text 4"/>
          <p:cNvSpPr/>
          <p:nvPr/>
        </p:nvSpPr>
        <p:spPr>
          <a:xfrm>
            <a:off x="320040" y="146304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PERCEIVE</a:t>
            </a:r>
            <a:endParaRPr lang="en-US" sz="1300" dirty="0"/>
          </a:p>
        </p:txBody>
      </p:sp>
      <p:sp>
        <p:nvSpPr>
          <p:cNvPr id="7" name="Shape 5"/>
          <p:cNvSpPr/>
          <p:nvPr/>
        </p:nvSpPr>
        <p:spPr>
          <a:xfrm>
            <a:off x="457200" y="2011680"/>
            <a:ext cx="1005840" cy="18288"/>
          </a:xfrm>
          <a:prstGeom prst="rect">
            <a:avLst/>
          </a:prstGeom>
          <a:solidFill>
            <a:srgbClr val="FFFFFF"/>
          </a:solidFill>
          <a:ln/>
        </p:spPr>
        <p:txBody>
          <a:bodyPr/>
          <a:lstStyle/>
          <a:p>
            <a:endParaRPr lang="en-CN"/>
          </a:p>
        </p:txBody>
      </p:sp>
      <p:sp>
        <p:nvSpPr>
          <p:cNvPr id="8" name="Text 6"/>
          <p:cNvSpPr/>
          <p:nvPr/>
        </p:nvSpPr>
        <p:spPr>
          <a:xfrm>
            <a:off x="411480" y="2148840"/>
            <a:ext cx="1097280" cy="1920240"/>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Alert details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Memory recall</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Service context</a:t>
            </a:r>
            <a:endParaRPr lang="en-US" sz="1000" dirty="0"/>
          </a:p>
        </p:txBody>
      </p:sp>
      <p:sp>
        <p:nvSpPr>
          <p:cNvPr id="9" name="Text 7"/>
          <p:cNvSpPr/>
          <p:nvPr/>
        </p:nvSpPr>
        <p:spPr>
          <a:xfrm>
            <a:off x="1581912" y="2468880"/>
            <a:ext cx="182880" cy="365760"/>
          </a:xfrm>
          <a:prstGeom prst="rect">
            <a:avLst/>
          </a:prstGeom>
          <a:noFill/>
          <a:ln/>
        </p:spPr>
        <p:txBody>
          <a:bodyPr wrap="square" lIns="0" tIns="0" rIns="0" bIns="0" rtlCol="0" anchor="ctr"/>
          <a:lstStyle/>
          <a:p>
            <a:pPr marL="0" indent="0" algn="ctr">
              <a:buNone/>
            </a:pPr>
            <a:r>
              <a:rPr lang="en-US" sz="2000" dirty="0">
                <a:solidFill>
                  <a:srgbClr val="64748B"/>
                </a:solidFill>
                <a:latin typeface="Calibri" pitchFamily="34" charset="0"/>
                <a:ea typeface="Calibri" pitchFamily="34" charset="-122"/>
                <a:cs typeface="Calibri" pitchFamily="34" charset="-120"/>
              </a:rPr>
              <a:t>&gt;</a:t>
            </a:r>
            <a:endParaRPr lang="en-US" sz="2000" dirty="0"/>
          </a:p>
        </p:txBody>
      </p:sp>
      <p:sp>
        <p:nvSpPr>
          <p:cNvPr id="10" name="Shape 8"/>
          <p:cNvSpPr/>
          <p:nvPr/>
        </p:nvSpPr>
        <p:spPr>
          <a:xfrm>
            <a:off x="1737360" y="1371600"/>
            <a:ext cx="1280160" cy="2926080"/>
          </a:xfrm>
          <a:prstGeom prst="rect">
            <a:avLst/>
          </a:prstGeom>
          <a:solidFill>
            <a:srgbClr val="0E7490"/>
          </a:solidFill>
          <a:ln/>
          <a:effectLst>
            <a:outerShdw blurRad="76200" dist="25400" dir="8100000" algn="bl" rotWithShape="0">
              <a:srgbClr val="000000">
                <a:alpha val="10000"/>
              </a:srgbClr>
            </a:outerShdw>
          </a:effectLst>
        </p:spPr>
        <p:txBody>
          <a:bodyPr/>
          <a:lstStyle/>
          <a:p>
            <a:endParaRPr lang="en-CN"/>
          </a:p>
        </p:txBody>
      </p:sp>
      <p:sp>
        <p:nvSpPr>
          <p:cNvPr id="11" name="Text 9"/>
          <p:cNvSpPr/>
          <p:nvPr/>
        </p:nvSpPr>
        <p:spPr>
          <a:xfrm>
            <a:off x="1737360" y="146304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PLAN</a:t>
            </a:r>
            <a:endParaRPr lang="en-US" sz="1300" dirty="0"/>
          </a:p>
        </p:txBody>
      </p:sp>
      <p:sp>
        <p:nvSpPr>
          <p:cNvPr id="12" name="Shape 10"/>
          <p:cNvSpPr/>
          <p:nvPr/>
        </p:nvSpPr>
        <p:spPr>
          <a:xfrm>
            <a:off x="1874520" y="2011680"/>
            <a:ext cx="1005840" cy="18288"/>
          </a:xfrm>
          <a:prstGeom prst="rect">
            <a:avLst/>
          </a:prstGeom>
          <a:solidFill>
            <a:srgbClr val="FFFFFF"/>
          </a:solidFill>
          <a:ln/>
        </p:spPr>
        <p:txBody>
          <a:bodyPr/>
          <a:lstStyle/>
          <a:p>
            <a:endParaRPr lang="en-CN"/>
          </a:p>
        </p:txBody>
      </p:sp>
      <p:sp>
        <p:nvSpPr>
          <p:cNvPr id="13" name="Text 11"/>
          <p:cNvSpPr/>
          <p:nvPr/>
        </p:nvSpPr>
        <p:spPr>
          <a:xfrm>
            <a:off x="1828800" y="2148840"/>
            <a:ext cx="1097280" cy="1920240"/>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Prompt Optimization</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Wisdom Roadmap</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First-principles</a:t>
            </a:r>
            <a:endParaRPr lang="en-US" sz="1000" dirty="0"/>
          </a:p>
        </p:txBody>
      </p:sp>
      <p:sp>
        <p:nvSpPr>
          <p:cNvPr id="14" name="Text 12"/>
          <p:cNvSpPr/>
          <p:nvPr/>
        </p:nvSpPr>
        <p:spPr>
          <a:xfrm>
            <a:off x="2999232" y="2468880"/>
            <a:ext cx="182880" cy="365760"/>
          </a:xfrm>
          <a:prstGeom prst="rect">
            <a:avLst/>
          </a:prstGeom>
          <a:noFill/>
          <a:ln/>
        </p:spPr>
        <p:txBody>
          <a:bodyPr wrap="square" lIns="0" tIns="0" rIns="0" bIns="0" rtlCol="0" anchor="ctr"/>
          <a:lstStyle/>
          <a:p>
            <a:pPr marL="0" indent="0" algn="ctr">
              <a:buNone/>
            </a:pPr>
            <a:r>
              <a:rPr lang="en-US" sz="2000" dirty="0">
                <a:solidFill>
                  <a:srgbClr val="64748B"/>
                </a:solidFill>
                <a:latin typeface="Calibri" pitchFamily="34" charset="0"/>
                <a:ea typeface="Calibri" pitchFamily="34" charset="-122"/>
                <a:cs typeface="Calibri" pitchFamily="34" charset="-120"/>
              </a:rPr>
              <a:t>&gt;</a:t>
            </a:r>
            <a:endParaRPr lang="en-US" sz="2000" dirty="0"/>
          </a:p>
        </p:txBody>
      </p:sp>
      <p:sp>
        <p:nvSpPr>
          <p:cNvPr id="15" name="Shape 13"/>
          <p:cNvSpPr/>
          <p:nvPr/>
        </p:nvSpPr>
        <p:spPr>
          <a:xfrm>
            <a:off x="3154680" y="1371600"/>
            <a:ext cx="1280160" cy="2926080"/>
          </a:xfrm>
          <a:prstGeom prst="rect">
            <a:avLst/>
          </a:prstGeom>
          <a:solidFill>
            <a:srgbClr val="06B6D4"/>
          </a:solidFill>
          <a:ln/>
          <a:effectLst>
            <a:outerShdw blurRad="76200" dist="25400" dir="8100000" algn="bl" rotWithShape="0">
              <a:srgbClr val="000000">
                <a:alpha val="10000"/>
              </a:srgbClr>
            </a:outerShdw>
          </a:effectLst>
        </p:spPr>
        <p:txBody>
          <a:bodyPr/>
          <a:lstStyle/>
          <a:p>
            <a:endParaRPr lang="en-CN"/>
          </a:p>
        </p:txBody>
      </p:sp>
      <p:sp>
        <p:nvSpPr>
          <p:cNvPr id="16" name="Text 14"/>
          <p:cNvSpPr/>
          <p:nvPr/>
        </p:nvSpPr>
        <p:spPr>
          <a:xfrm>
            <a:off x="3154680" y="146304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ACT</a:t>
            </a:r>
            <a:endParaRPr lang="en-US" sz="1300" dirty="0"/>
          </a:p>
        </p:txBody>
      </p:sp>
      <p:sp>
        <p:nvSpPr>
          <p:cNvPr id="17" name="Shape 15"/>
          <p:cNvSpPr/>
          <p:nvPr/>
        </p:nvSpPr>
        <p:spPr>
          <a:xfrm>
            <a:off x="3291840" y="2011680"/>
            <a:ext cx="1005840" cy="18288"/>
          </a:xfrm>
          <a:prstGeom prst="rect">
            <a:avLst/>
          </a:prstGeom>
          <a:solidFill>
            <a:srgbClr val="FFFFFF"/>
          </a:solidFill>
          <a:ln/>
        </p:spPr>
        <p:txBody>
          <a:bodyPr/>
          <a:lstStyle/>
          <a:p>
            <a:endParaRPr lang="en-CN"/>
          </a:p>
        </p:txBody>
      </p:sp>
      <p:sp>
        <p:nvSpPr>
          <p:cNvPr id="18" name="Text 16"/>
          <p:cNvSpPr/>
          <p:nvPr/>
        </p:nvSpPr>
        <p:spPr>
          <a:xfrm>
            <a:off x="3246120" y="2148840"/>
            <a:ext cx="1097280" cy="1920240"/>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Connectors query</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Evidence collect</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Adaptive path</a:t>
            </a:r>
            <a:endParaRPr lang="en-US" sz="1000" dirty="0"/>
          </a:p>
        </p:txBody>
      </p:sp>
      <p:sp>
        <p:nvSpPr>
          <p:cNvPr id="19" name="Text 17"/>
          <p:cNvSpPr/>
          <p:nvPr/>
        </p:nvSpPr>
        <p:spPr>
          <a:xfrm>
            <a:off x="4416552" y="2468880"/>
            <a:ext cx="182880" cy="365760"/>
          </a:xfrm>
          <a:prstGeom prst="rect">
            <a:avLst/>
          </a:prstGeom>
          <a:noFill/>
          <a:ln/>
        </p:spPr>
        <p:txBody>
          <a:bodyPr wrap="square" lIns="0" tIns="0" rIns="0" bIns="0" rtlCol="0" anchor="ctr"/>
          <a:lstStyle/>
          <a:p>
            <a:pPr marL="0" indent="0" algn="ctr">
              <a:buNone/>
            </a:pPr>
            <a:r>
              <a:rPr lang="en-US" sz="2000" dirty="0">
                <a:solidFill>
                  <a:srgbClr val="64748B"/>
                </a:solidFill>
                <a:latin typeface="Calibri" pitchFamily="34" charset="0"/>
                <a:ea typeface="Calibri" pitchFamily="34" charset="-122"/>
                <a:cs typeface="Calibri" pitchFamily="34" charset="-120"/>
              </a:rPr>
              <a:t>&gt;</a:t>
            </a:r>
            <a:endParaRPr lang="en-US" sz="2000" dirty="0"/>
          </a:p>
        </p:txBody>
      </p:sp>
      <p:sp>
        <p:nvSpPr>
          <p:cNvPr id="20" name="Shape 18"/>
          <p:cNvSpPr/>
          <p:nvPr/>
        </p:nvSpPr>
        <p:spPr>
          <a:xfrm>
            <a:off x="4572000" y="1371600"/>
            <a:ext cx="1280160" cy="2926080"/>
          </a:xfrm>
          <a:prstGeom prst="rect">
            <a:avLst/>
          </a:prstGeom>
          <a:solidFill>
            <a:srgbClr val="14B8A6"/>
          </a:solidFill>
          <a:ln/>
          <a:effectLst>
            <a:outerShdw blurRad="76200" dist="25400" dir="8100000" algn="bl" rotWithShape="0">
              <a:srgbClr val="000000">
                <a:alpha val="10000"/>
              </a:srgbClr>
            </a:outerShdw>
          </a:effectLst>
        </p:spPr>
        <p:txBody>
          <a:bodyPr/>
          <a:lstStyle/>
          <a:p>
            <a:endParaRPr lang="en-CN"/>
          </a:p>
        </p:txBody>
      </p:sp>
      <p:sp>
        <p:nvSpPr>
          <p:cNvPr id="21" name="Text 19"/>
          <p:cNvSpPr/>
          <p:nvPr/>
        </p:nvSpPr>
        <p:spPr>
          <a:xfrm>
            <a:off x="4572000" y="146304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DECIDE</a:t>
            </a:r>
            <a:endParaRPr lang="en-US" sz="1300" dirty="0"/>
          </a:p>
        </p:txBody>
      </p:sp>
      <p:sp>
        <p:nvSpPr>
          <p:cNvPr id="22" name="Shape 20"/>
          <p:cNvSpPr/>
          <p:nvPr/>
        </p:nvSpPr>
        <p:spPr>
          <a:xfrm>
            <a:off x="4709160" y="2011680"/>
            <a:ext cx="1005840" cy="18288"/>
          </a:xfrm>
          <a:prstGeom prst="rect">
            <a:avLst/>
          </a:prstGeom>
          <a:solidFill>
            <a:srgbClr val="FFFFFF"/>
          </a:solidFill>
          <a:ln/>
        </p:spPr>
        <p:txBody>
          <a:bodyPr/>
          <a:lstStyle/>
          <a:p>
            <a:endParaRPr lang="en-CN"/>
          </a:p>
        </p:txBody>
      </p:sp>
      <p:sp>
        <p:nvSpPr>
          <p:cNvPr id="23" name="Text 21"/>
          <p:cNvSpPr/>
          <p:nvPr/>
        </p:nvSpPr>
        <p:spPr>
          <a:xfrm>
            <a:off x="4663440" y="2148840"/>
            <a:ext cx="1097280" cy="1920240"/>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Evidence synthesis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Confidence score</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RCA output</a:t>
            </a:r>
            <a:endParaRPr lang="en-US" sz="1000" dirty="0"/>
          </a:p>
        </p:txBody>
      </p:sp>
      <p:sp>
        <p:nvSpPr>
          <p:cNvPr id="24" name="Text 22"/>
          <p:cNvSpPr/>
          <p:nvPr/>
        </p:nvSpPr>
        <p:spPr>
          <a:xfrm>
            <a:off x="5833872" y="2468880"/>
            <a:ext cx="182880" cy="365760"/>
          </a:xfrm>
          <a:prstGeom prst="rect">
            <a:avLst/>
          </a:prstGeom>
          <a:noFill/>
          <a:ln/>
        </p:spPr>
        <p:txBody>
          <a:bodyPr wrap="square" lIns="0" tIns="0" rIns="0" bIns="0" rtlCol="0" anchor="ctr"/>
          <a:lstStyle/>
          <a:p>
            <a:pPr marL="0" indent="0" algn="ctr">
              <a:buNone/>
            </a:pPr>
            <a:r>
              <a:rPr lang="en-US" sz="2000" dirty="0">
                <a:solidFill>
                  <a:srgbClr val="64748B"/>
                </a:solidFill>
                <a:latin typeface="Calibri" pitchFamily="34" charset="0"/>
                <a:ea typeface="Calibri" pitchFamily="34" charset="-122"/>
                <a:cs typeface="Calibri" pitchFamily="34" charset="-120"/>
              </a:rPr>
              <a:t>&gt;</a:t>
            </a:r>
            <a:endParaRPr lang="en-US" sz="2000" dirty="0"/>
          </a:p>
        </p:txBody>
      </p:sp>
      <p:sp>
        <p:nvSpPr>
          <p:cNvPr id="25" name="Shape 23"/>
          <p:cNvSpPr/>
          <p:nvPr/>
        </p:nvSpPr>
        <p:spPr>
          <a:xfrm>
            <a:off x="5989320" y="1371600"/>
            <a:ext cx="1280160" cy="2926080"/>
          </a:xfrm>
          <a:prstGeom prst="rect">
            <a:avLst/>
          </a:prstGeom>
          <a:solidFill>
            <a:srgbClr val="059669"/>
          </a:solidFill>
          <a:ln/>
          <a:effectLst>
            <a:outerShdw blurRad="76200" dist="25400" dir="8100000" algn="bl" rotWithShape="0">
              <a:srgbClr val="000000">
                <a:alpha val="10000"/>
              </a:srgbClr>
            </a:outerShdw>
          </a:effectLst>
        </p:spPr>
        <p:txBody>
          <a:bodyPr/>
          <a:lstStyle/>
          <a:p>
            <a:endParaRPr lang="en-CN"/>
          </a:p>
        </p:txBody>
      </p:sp>
      <p:sp>
        <p:nvSpPr>
          <p:cNvPr id="26" name="Text 24"/>
          <p:cNvSpPr/>
          <p:nvPr/>
        </p:nvSpPr>
        <p:spPr>
          <a:xfrm>
            <a:off x="5989320" y="146304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VERIFY</a:t>
            </a:r>
            <a:endParaRPr lang="en-US" sz="1300" dirty="0"/>
          </a:p>
        </p:txBody>
      </p:sp>
      <p:sp>
        <p:nvSpPr>
          <p:cNvPr id="27" name="Shape 25"/>
          <p:cNvSpPr/>
          <p:nvPr/>
        </p:nvSpPr>
        <p:spPr>
          <a:xfrm>
            <a:off x="6126480" y="2011680"/>
            <a:ext cx="1005840" cy="18288"/>
          </a:xfrm>
          <a:prstGeom prst="rect">
            <a:avLst/>
          </a:prstGeom>
          <a:solidFill>
            <a:srgbClr val="FFFFFF"/>
          </a:solidFill>
          <a:ln/>
        </p:spPr>
        <p:txBody>
          <a:bodyPr/>
          <a:lstStyle/>
          <a:p>
            <a:endParaRPr lang="en-CN"/>
          </a:p>
        </p:txBody>
      </p:sp>
      <p:sp>
        <p:nvSpPr>
          <p:cNvPr id="28" name="Text 26"/>
          <p:cNvSpPr/>
          <p:nvPr/>
        </p:nvSpPr>
        <p:spPr>
          <a:xfrm>
            <a:off x="6080760" y="2148840"/>
            <a:ext cx="1097280" cy="1920240"/>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PostAction T0-T3</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Human review</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Self-check</a:t>
            </a:r>
            <a:endParaRPr lang="en-US" sz="1000" dirty="0"/>
          </a:p>
        </p:txBody>
      </p:sp>
      <p:sp>
        <p:nvSpPr>
          <p:cNvPr id="29" name="Text 27"/>
          <p:cNvSpPr/>
          <p:nvPr/>
        </p:nvSpPr>
        <p:spPr>
          <a:xfrm>
            <a:off x="7251192" y="2468880"/>
            <a:ext cx="182880" cy="365760"/>
          </a:xfrm>
          <a:prstGeom prst="rect">
            <a:avLst/>
          </a:prstGeom>
          <a:noFill/>
          <a:ln/>
        </p:spPr>
        <p:txBody>
          <a:bodyPr wrap="square" lIns="0" tIns="0" rIns="0" bIns="0" rtlCol="0" anchor="ctr"/>
          <a:lstStyle/>
          <a:p>
            <a:pPr marL="0" indent="0" algn="ctr">
              <a:buNone/>
            </a:pPr>
            <a:r>
              <a:rPr lang="en-US" sz="2000" dirty="0">
                <a:solidFill>
                  <a:srgbClr val="64748B"/>
                </a:solidFill>
                <a:latin typeface="Calibri" pitchFamily="34" charset="0"/>
                <a:ea typeface="Calibri" pitchFamily="34" charset="-122"/>
                <a:cs typeface="Calibri" pitchFamily="34" charset="-120"/>
              </a:rPr>
              <a:t>&gt;</a:t>
            </a:r>
            <a:endParaRPr lang="en-US" sz="2000" dirty="0"/>
          </a:p>
        </p:txBody>
      </p:sp>
      <p:sp>
        <p:nvSpPr>
          <p:cNvPr id="30" name="Shape 28"/>
          <p:cNvSpPr/>
          <p:nvPr/>
        </p:nvSpPr>
        <p:spPr>
          <a:xfrm>
            <a:off x="7406640" y="1371600"/>
            <a:ext cx="1280160" cy="2926080"/>
          </a:xfrm>
          <a:prstGeom prst="rect">
            <a:avLst/>
          </a:prstGeom>
          <a:solidFill>
            <a:srgbClr val="047857"/>
          </a:solidFill>
          <a:ln/>
          <a:effectLst>
            <a:outerShdw blurRad="76200" dist="25400" dir="8100000" algn="bl" rotWithShape="0">
              <a:srgbClr val="000000">
                <a:alpha val="10000"/>
              </a:srgbClr>
            </a:outerShdw>
          </a:effectLst>
        </p:spPr>
        <p:txBody>
          <a:bodyPr/>
          <a:lstStyle/>
          <a:p>
            <a:endParaRPr lang="en-CN"/>
          </a:p>
        </p:txBody>
      </p:sp>
      <p:sp>
        <p:nvSpPr>
          <p:cNvPr id="31" name="Text 29"/>
          <p:cNvSpPr/>
          <p:nvPr/>
        </p:nvSpPr>
        <p:spPr>
          <a:xfrm>
            <a:off x="7406640" y="146304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LEARN</a:t>
            </a:r>
            <a:endParaRPr lang="en-US" sz="1300" dirty="0"/>
          </a:p>
        </p:txBody>
      </p:sp>
      <p:sp>
        <p:nvSpPr>
          <p:cNvPr id="32" name="Shape 30"/>
          <p:cNvSpPr/>
          <p:nvPr/>
        </p:nvSpPr>
        <p:spPr>
          <a:xfrm>
            <a:off x="7543800" y="2011680"/>
            <a:ext cx="1005840" cy="18288"/>
          </a:xfrm>
          <a:prstGeom prst="rect">
            <a:avLst/>
          </a:prstGeom>
          <a:solidFill>
            <a:srgbClr val="FFFFFF"/>
          </a:solidFill>
          <a:ln/>
        </p:spPr>
        <p:txBody>
          <a:bodyPr/>
          <a:lstStyle/>
          <a:p>
            <a:endParaRPr lang="en-CN"/>
          </a:p>
        </p:txBody>
      </p:sp>
      <p:sp>
        <p:nvSpPr>
          <p:cNvPr id="33" name="Text 31"/>
          <p:cNvSpPr/>
          <p:nvPr/>
        </p:nvSpPr>
        <p:spPr>
          <a:xfrm>
            <a:off x="7498080" y="2148840"/>
            <a:ext cx="1097280" cy="1920240"/>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Memory write</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Wisdom update</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Skill evolve</a:t>
            </a:r>
            <a:endParaRPr lang="en-US" sz="1000" dirty="0"/>
          </a:p>
        </p:txBody>
      </p:sp>
      <p:sp>
        <p:nvSpPr>
          <p:cNvPr id="34" name="Text 32"/>
          <p:cNvSpPr/>
          <p:nvPr/>
        </p:nvSpPr>
        <p:spPr>
          <a:xfrm>
            <a:off x="731520" y="4480560"/>
            <a:ext cx="7315200" cy="36576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No pre-built topology needed. Agent investigates on-the-fly using experience + tools.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lIns="0" tIns="0" rIns="0" bIns="0" rtlCol="0" anchor="ctr"/>
          <a:lstStyle/>
          <a:p>
            <a:pPr marL="0" indent="0">
              <a:buNone/>
            </a:pPr>
            <a:r>
              <a:rPr lang="en-US" sz="3200" b="1" dirty="0">
                <a:solidFill>
                  <a:srgbClr val="0F2B46"/>
                </a:solidFill>
                <a:latin typeface="Georgia" pitchFamily="34" charset="0"/>
                <a:ea typeface="Georgia" pitchFamily="34" charset="-122"/>
                <a:cs typeface="Georgia" pitchFamily="34" charset="-120"/>
              </a:rPr>
              <a:t>Innovation Stack</a:t>
            </a:r>
            <a:endParaRPr lang="en-US" sz="3200" dirty="0"/>
          </a:p>
        </p:txBody>
      </p:sp>
      <p:sp>
        <p:nvSpPr>
          <p:cNvPr id="3" name="Shape 1"/>
          <p:cNvSpPr/>
          <p:nvPr/>
        </p:nvSpPr>
        <p:spPr>
          <a:xfrm>
            <a:off x="731520" y="868680"/>
            <a:ext cx="1097280" cy="36576"/>
          </a:xfrm>
          <a:prstGeom prst="rect">
            <a:avLst/>
          </a:prstGeom>
          <a:solidFill>
            <a:srgbClr val="0891B2"/>
          </a:solidFill>
          <a:ln/>
        </p:spPr>
        <p:txBody>
          <a:bodyPr/>
          <a:lstStyle/>
          <a:p>
            <a:endParaRPr lang="en-CN"/>
          </a:p>
        </p:txBody>
      </p:sp>
      <p:sp>
        <p:nvSpPr>
          <p:cNvPr id="4" name="Shape 2"/>
          <p:cNvSpPr/>
          <p:nvPr/>
        </p:nvSpPr>
        <p:spPr>
          <a:xfrm>
            <a:off x="457200" y="1097280"/>
            <a:ext cx="8229600" cy="530352"/>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5" name="Shape 3"/>
          <p:cNvSpPr/>
          <p:nvPr/>
        </p:nvSpPr>
        <p:spPr>
          <a:xfrm>
            <a:off x="457200" y="1097280"/>
            <a:ext cx="64008" cy="530352"/>
          </a:xfrm>
          <a:prstGeom prst="rect">
            <a:avLst/>
          </a:prstGeom>
          <a:solidFill>
            <a:srgbClr val="0891B2"/>
          </a:solidFill>
          <a:ln/>
        </p:spPr>
        <p:txBody>
          <a:bodyPr/>
          <a:lstStyle/>
          <a:p>
            <a:endParaRPr lang="en-CN"/>
          </a:p>
        </p:txBody>
      </p:sp>
      <p:sp>
        <p:nvSpPr>
          <p:cNvPr id="6" name="Text 4"/>
          <p:cNvSpPr/>
          <p:nvPr/>
        </p:nvSpPr>
        <p:spPr>
          <a:xfrm>
            <a:off x="685800" y="1097280"/>
            <a:ext cx="2011680" cy="530352"/>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Prompt Optimization</a:t>
            </a:r>
            <a:endParaRPr lang="en-US" sz="1300" dirty="0"/>
          </a:p>
        </p:txBody>
      </p:sp>
      <p:sp>
        <p:nvSpPr>
          <p:cNvPr id="7" name="Text 5"/>
          <p:cNvSpPr/>
          <p:nvPr/>
        </p:nvSpPr>
        <p:spPr>
          <a:xfrm>
            <a:off x="2743200" y="1097280"/>
            <a:ext cx="3474720" cy="53035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Auto-optimized investigation prompts. +21% accuracy.</a:t>
            </a:r>
            <a:endParaRPr lang="en-US" sz="1100" dirty="0"/>
          </a:p>
        </p:txBody>
      </p:sp>
      <p:sp>
        <p:nvSpPr>
          <p:cNvPr id="8" name="Text 6"/>
          <p:cNvSpPr/>
          <p:nvPr/>
        </p:nvSpPr>
        <p:spPr>
          <a:xfrm>
            <a:off x="6309360" y="1097280"/>
            <a:ext cx="2286000" cy="53035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eARCO (Microsoft, arXiv:2504.11505)</a:t>
            </a:r>
            <a:endParaRPr lang="en-US" sz="900" dirty="0"/>
          </a:p>
        </p:txBody>
      </p:sp>
      <p:sp>
        <p:nvSpPr>
          <p:cNvPr id="9" name="Shape 7"/>
          <p:cNvSpPr/>
          <p:nvPr/>
        </p:nvSpPr>
        <p:spPr>
          <a:xfrm>
            <a:off x="457200" y="1737360"/>
            <a:ext cx="8229600" cy="530352"/>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10" name="Shape 8"/>
          <p:cNvSpPr/>
          <p:nvPr/>
        </p:nvSpPr>
        <p:spPr>
          <a:xfrm>
            <a:off x="457200" y="1737360"/>
            <a:ext cx="64008" cy="530352"/>
          </a:xfrm>
          <a:prstGeom prst="rect">
            <a:avLst/>
          </a:prstGeom>
          <a:solidFill>
            <a:srgbClr val="0E7490"/>
          </a:solidFill>
          <a:ln/>
        </p:spPr>
        <p:txBody>
          <a:bodyPr/>
          <a:lstStyle/>
          <a:p>
            <a:endParaRPr lang="en-CN"/>
          </a:p>
        </p:txBody>
      </p:sp>
      <p:sp>
        <p:nvSpPr>
          <p:cNvPr id="11" name="Text 9"/>
          <p:cNvSpPr/>
          <p:nvPr/>
        </p:nvSpPr>
        <p:spPr>
          <a:xfrm>
            <a:off x="685800" y="1737360"/>
            <a:ext cx="2011680" cy="530352"/>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Self-Evolving Skills</a:t>
            </a:r>
            <a:endParaRPr lang="en-US" sz="1300" dirty="0"/>
          </a:p>
        </p:txBody>
      </p:sp>
      <p:sp>
        <p:nvSpPr>
          <p:cNvPr id="12" name="Text 10"/>
          <p:cNvSpPr/>
          <p:nvPr/>
        </p:nvSpPr>
        <p:spPr>
          <a:xfrm>
            <a:off x="2743200" y="1737360"/>
            <a:ext cx="3474720" cy="53035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Every resolved incident becomes a reusable skill.</a:t>
            </a:r>
            <a:endParaRPr lang="en-US" sz="1100" dirty="0"/>
          </a:p>
        </p:txBody>
      </p:sp>
      <p:sp>
        <p:nvSpPr>
          <p:cNvPr id="13" name="Text 11"/>
          <p:cNvSpPr/>
          <p:nvPr/>
        </p:nvSpPr>
        <p:spPr>
          <a:xfrm>
            <a:off x="6309360" y="1737360"/>
            <a:ext cx="2286000" cy="53035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OpsAgent (arXiv:2510.24145)</a:t>
            </a:r>
            <a:endParaRPr lang="en-US" sz="900" dirty="0"/>
          </a:p>
        </p:txBody>
      </p:sp>
      <p:sp>
        <p:nvSpPr>
          <p:cNvPr id="14" name="Shape 12"/>
          <p:cNvSpPr/>
          <p:nvPr/>
        </p:nvSpPr>
        <p:spPr>
          <a:xfrm>
            <a:off x="457200" y="2377440"/>
            <a:ext cx="8229600" cy="530352"/>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15" name="Shape 13"/>
          <p:cNvSpPr/>
          <p:nvPr/>
        </p:nvSpPr>
        <p:spPr>
          <a:xfrm>
            <a:off x="457200" y="2377440"/>
            <a:ext cx="64008" cy="530352"/>
          </a:xfrm>
          <a:prstGeom prst="rect">
            <a:avLst/>
          </a:prstGeom>
          <a:solidFill>
            <a:srgbClr val="06B6D4"/>
          </a:solidFill>
          <a:ln/>
        </p:spPr>
        <p:txBody>
          <a:bodyPr/>
          <a:lstStyle/>
          <a:p>
            <a:endParaRPr lang="en-CN"/>
          </a:p>
        </p:txBody>
      </p:sp>
      <p:sp>
        <p:nvSpPr>
          <p:cNvPr id="16" name="Text 14"/>
          <p:cNvSpPr/>
          <p:nvPr/>
        </p:nvSpPr>
        <p:spPr>
          <a:xfrm>
            <a:off x="685800" y="2377440"/>
            <a:ext cx="2011680" cy="530352"/>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Agent-First Planning</a:t>
            </a:r>
            <a:endParaRPr lang="en-US" sz="1300" dirty="0"/>
          </a:p>
        </p:txBody>
      </p:sp>
      <p:sp>
        <p:nvSpPr>
          <p:cNvPr id="17" name="Text 15"/>
          <p:cNvSpPr/>
          <p:nvPr/>
        </p:nvSpPr>
        <p:spPr>
          <a:xfrm>
            <a:off x="2743200" y="2377440"/>
            <a:ext cx="3474720" cy="53035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LLM-driven investigation, not static graphs.</a:t>
            </a:r>
            <a:endParaRPr lang="en-US" sz="1100" dirty="0"/>
          </a:p>
        </p:txBody>
      </p:sp>
      <p:sp>
        <p:nvSpPr>
          <p:cNvPr id="18" name="Text 16"/>
          <p:cNvSpPr/>
          <p:nvPr/>
        </p:nvSpPr>
        <p:spPr>
          <a:xfrm>
            <a:off x="6309360" y="2377440"/>
            <a:ext cx="2286000" cy="53035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arXiv:2602.09937</a:t>
            </a:r>
            <a:endParaRPr lang="en-US" sz="900" dirty="0"/>
          </a:p>
        </p:txBody>
      </p:sp>
      <p:sp>
        <p:nvSpPr>
          <p:cNvPr id="19" name="Shape 17"/>
          <p:cNvSpPr/>
          <p:nvPr/>
        </p:nvSpPr>
        <p:spPr>
          <a:xfrm>
            <a:off x="457200" y="3017520"/>
            <a:ext cx="8229600" cy="530352"/>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20" name="Shape 18"/>
          <p:cNvSpPr/>
          <p:nvPr/>
        </p:nvSpPr>
        <p:spPr>
          <a:xfrm>
            <a:off x="457200" y="3017520"/>
            <a:ext cx="64008" cy="530352"/>
          </a:xfrm>
          <a:prstGeom prst="rect">
            <a:avLst/>
          </a:prstGeom>
          <a:solidFill>
            <a:srgbClr val="14B8A6"/>
          </a:solidFill>
          <a:ln/>
        </p:spPr>
        <p:txBody>
          <a:bodyPr/>
          <a:lstStyle/>
          <a:p>
            <a:endParaRPr lang="en-CN"/>
          </a:p>
        </p:txBody>
      </p:sp>
      <p:sp>
        <p:nvSpPr>
          <p:cNvPr id="21" name="Text 19"/>
          <p:cNvSpPr/>
          <p:nvPr/>
        </p:nvSpPr>
        <p:spPr>
          <a:xfrm>
            <a:off x="685800" y="3017520"/>
            <a:ext cx="2011680" cy="530352"/>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Result Verification</a:t>
            </a:r>
            <a:endParaRPr lang="en-US" sz="1300" dirty="0"/>
          </a:p>
        </p:txBody>
      </p:sp>
      <p:sp>
        <p:nvSpPr>
          <p:cNvPr id="22" name="Text 20"/>
          <p:cNvSpPr/>
          <p:nvPr/>
        </p:nvSpPr>
        <p:spPr>
          <a:xfrm>
            <a:off x="2743200" y="3017520"/>
            <a:ext cx="3474720" cy="53035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Independent T0-T3 verification + human Ground Truth.</a:t>
            </a:r>
            <a:endParaRPr lang="en-US" sz="1100" dirty="0"/>
          </a:p>
        </p:txBody>
      </p:sp>
      <p:sp>
        <p:nvSpPr>
          <p:cNvPr id="23" name="Text 21"/>
          <p:cNvSpPr/>
          <p:nvPr/>
        </p:nvSpPr>
        <p:spPr>
          <a:xfrm>
            <a:off x="6309360" y="3017520"/>
            <a:ext cx="2286000" cy="53035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arXiv:2601.22208</a:t>
            </a:r>
            <a:endParaRPr lang="en-US" sz="900" dirty="0"/>
          </a:p>
        </p:txBody>
      </p:sp>
      <p:sp>
        <p:nvSpPr>
          <p:cNvPr id="24" name="Shape 22"/>
          <p:cNvSpPr/>
          <p:nvPr/>
        </p:nvSpPr>
        <p:spPr>
          <a:xfrm>
            <a:off x="457200" y="3657600"/>
            <a:ext cx="8229600" cy="530352"/>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25" name="Shape 23"/>
          <p:cNvSpPr/>
          <p:nvPr/>
        </p:nvSpPr>
        <p:spPr>
          <a:xfrm>
            <a:off x="457200" y="3657600"/>
            <a:ext cx="64008" cy="530352"/>
          </a:xfrm>
          <a:prstGeom prst="rect">
            <a:avLst/>
          </a:prstGeom>
          <a:solidFill>
            <a:srgbClr val="059669"/>
          </a:solidFill>
          <a:ln/>
        </p:spPr>
        <p:txBody>
          <a:bodyPr/>
          <a:lstStyle/>
          <a:p>
            <a:endParaRPr lang="en-CN"/>
          </a:p>
        </p:txBody>
      </p:sp>
      <p:sp>
        <p:nvSpPr>
          <p:cNvPr id="26" name="Text 24"/>
          <p:cNvSpPr/>
          <p:nvPr/>
        </p:nvSpPr>
        <p:spPr>
          <a:xfrm>
            <a:off x="685800" y="3657600"/>
            <a:ext cx="2011680" cy="530352"/>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Confidence Calibration</a:t>
            </a:r>
            <a:endParaRPr lang="en-US" sz="1300" dirty="0"/>
          </a:p>
        </p:txBody>
      </p:sp>
      <p:sp>
        <p:nvSpPr>
          <p:cNvPr id="27" name="Text 25"/>
          <p:cNvSpPr/>
          <p:nvPr/>
        </p:nvSpPr>
        <p:spPr>
          <a:xfrm>
            <a:off x="2743200" y="3657600"/>
            <a:ext cx="3474720" cy="53035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Evidence-weighted + human-calibrated scoring.</a:t>
            </a:r>
            <a:endParaRPr lang="en-US" sz="1100" dirty="0"/>
          </a:p>
        </p:txBody>
      </p:sp>
      <p:sp>
        <p:nvSpPr>
          <p:cNvPr id="28" name="Text 26"/>
          <p:cNvSpPr/>
          <p:nvPr/>
        </p:nvSpPr>
        <p:spPr>
          <a:xfrm>
            <a:off x="6309360" y="3657600"/>
            <a:ext cx="2286000" cy="53035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CCAR (arXiv:2603.08736)</a:t>
            </a:r>
            <a:endParaRPr lang="en-US" sz="900" dirty="0"/>
          </a:p>
        </p:txBody>
      </p:sp>
      <p:sp>
        <p:nvSpPr>
          <p:cNvPr id="29" name="Shape 27"/>
          <p:cNvSpPr/>
          <p:nvPr/>
        </p:nvSpPr>
        <p:spPr>
          <a:xfrm>
            <a:off x="457200" y="4297680"/>
            <a:ext cx="8229600" cy="530352"/>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30" name="Shape 28"/>
          <p:cNvSpPr/>
          <p:nvPr/>
        </p:nvSpPr>
        <p:spPr>
          <a:xfrm>
            <a:off x="457200" y="4297680"/>
            <a:ext cx="64008" cy="530352"/>
          </a:xfrm>
          <a:prstGeom prst="rect">
            <a:avLst/>
          </a:prstGeom>
          <a:solidFill>
            <a:srgbClr val="047857"/>
          </a:solidFill>
          <a:ln/>
        </p:spPr>
        <p:txBody>
          <a:bodyPr/>
          <a:lstStyle/>
          <a:p>
            <a:endParaRPr lang="en-CN"/>
          </a:p>
        </p:txBody>
      </p:sp>
      <p:sp>
        <p:nvSpPr>
          <p:cNvPr id="31" name="Text 29"/>
          <p:cNvSpPr/>
          <p:nvPr/>
        </p:nvSpPr>
        <p:spPr>
          <a:xfrm>
            <a:off x="685800" y="4297680"/>
            <a:ext cx="2011680" cy="530352"/>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Knowledge Sediment</a:t>
            </a:r>
            <a:endParaRPr lang="en-US" sz="1300" dirty="0"/>
          </a:p>
        </p:txBody>
      </p:sp>
      <p:sp>
        <p:nvSpPr>
          <p:cNvPr id="32" name="Text 30"/>
          <p:cNvSpPr/>
          <p:nvPr/>
        </p:nvSpPr>
        <p:spPr>
          <a:xfrm>
            <a:off x="2743200" y="4297680"/>
            <a:ext cx="3474720" cy="530352"/>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Episodic &gt; Procedural &gt; Semantic &gt; Skill &gt; SOP.</a:t>
            </a:r>
            <a:endParaRPr lang="en-US" sz="1100" dirty="0"/>
          </a:p>
        </p:txBody>
      </p:sp>
      <p:sp>
        <p:nvSpPr>
          <p:cNvPr id="33" name="Text 31"/>
          <p:cNvSpPr/>
          <p:nvPr/>
        </p:nvSpPr>
        <p:spPr>
          <a:xfrm>
            <a:off x="6309360" y="4297680"/>
            <a:ext cx="2286000" cy="530352"/>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Pearl's Causal Framework</a:t>
            </a:r>
            <a:endParaRPr lang="en-US" sz="900" dirty="0"/>
          </a:p>
        </p:txBody>
      </p:sp>
      <p:sp>
        <p:nvSpPr>
          <p:cNvPr id="34" name="Text 32"/>
          <p:cNvSpPr/>
          <p:nvPr/>
        </p:nvSpPr>
        <p:spPr>
          <a:xfrm>
            <a:off x="457200" y="4892040"/>
            <a:ext cx="8229600" cy="22860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11 academic papers, 180,000+ real incidents data from Microsoft, production-proven patterns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lIns="0" tIns="0" rIns="0" bIns="0" rtlCol="0" anchor="ctr"/>
          <a:lstStyle/>
          <a:p>
            <a:pPr marL="0" indent="0">
              <a:buNone/>
            </a:pPr>
            <a:r>
              <a:rPr lang="en-US" sz="3200" b="1" dirty="0">
                <a:solidFill>
                  <a:srgbClr val="0F2B46"/>
                </a:solidFill>
                <a:latin typeface="Georgia" pitchFamily="34" charset="0"/>
                <a:ea typeface="Georgia" pitchFamily="34" charset="-122"/>
                <a:cs typeface="Georgia" pitchFamily="34" charset="-120"/>
              </a:rPr>
              <a:t>Four-Phase Roadmap</a:t>
            </a:r>
            <a:endParaRPr lang="en-US" sz="3200" dirty="0"/>
          </a:p>
        </p:txBody>
      </p:sp>
      <p:sp>
        <p:nvSpPr>
          <p:cNvPr id="3" name="Shape 1"/>
          <p:cNvSpPr/>
          <p:nvPr/>
        </p:nvSpPr>
        <p:spPr>
          <a:xfrm>
            <a:off x="731520" y="868680"/>
            <a:ext cx="1097280" cy="36576"/>
          </a:xfrm>
          <a:prstGeom prst="rect">
            <a:avLst/>
          </a:prstGeom>
          <a:solidFill>
            <a:srgbClr val="0891B2"/>
          </a:solidFill>
          <a:ln/>
        </p:spPr>
        <p:txBody>
          <a:bodyPr/>
          <a:lstStyle/>
          <a:p>
            <a:endParaRPr lang="en-CN"/>
          </a:p>
        </p:txBody>
      </p:sp>
      <p:sp>
        <p:nvSpPr>
          <p:cNvPr id="4" name="Shape 2"/>
          <p:cNvSpPr/>
          <p:nvPr/>
        </p:nvSpPr>
        <p:spPr>
          <a:xfrm>
            <a:off x="731520" y="2148840"/>
            <a:ext cx="7680960" cy="36576"/>
          </a:xfrm>
          <a:prstGeom prst="rect">
            <a:avLst/>
          </a:prstGeom>
          <a:solidFill>
            <a:srgbClr val="E2E8F0"/>
          </a:solidFill>
          <a:ln/>
        </p:spPr>
        <p:txBody>
          <a:bodyPr/>
          <a:lstStyle/>
          <a:p>
            <a:endParaRPr lang="en-CN"/>
          </a:p>
        </p:txBody>
      </p:sp>
      <p:sp>
        <p:nvSpPr>
          <p:cNvPr id="5" name="Shape 3"/>
          <p:cNvSpPr/>
          <p:nvPr/>
        </p:nvSpPr>
        <p:spPr>
          <a:xfrm>
            <a:off x="1234440" y="1993392"/>
            <a:ext cx="201168" cy="201168"/>
          </a:xfrm>
          <a:prstGeom prst="ellipse">
            <a:avLst/>
          </a:prstGeom>
          <a:solidFill>
            <a:srgbClr val="0891B2"/>
          </a:solidFill>
          <a:ln/>
        </p:spPr>
        <p:txBody>
          <a:bodyPr/>
          <a:lstStyle/>
          <a:p>
            <a:endParaRPr lang="en-CN"/>
          </a:p>
        </p:txBody>
      </p:sp>
      <p:sp>
        <p:nvSpPr>
          <p:cNvPr id="6" name="Shape 4"/>
          <p:cNvSpPr/>
          <p:nvPr/>
        </p:nvSpPr>
        <p:spPr>
          <a:xfrm>
            <a:off x="457200" y="2514600"/>
            <a:ext cx="1920240" cy="2331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7" name="Shape 5"/>
          <p:cNvSpPr/>
          <p:nvPr/>
        </p:nvSpPr>
        <p:spPr>
          <a:xfrm>
            <a:off x="457200" y="2514600"/>
            <a:ext cx="1920240" cy="457200"/>
          </a:xfrm>
          <a:prstGeom prst="rect">
            <a:avLst/>
          </a:prstGeom>
          <a:solidFill>
            <a:srgbClr val="0891B2"/>
          </a:solidFill>
          <a:ln/>
        </p:spPr>
        <p:txBody>
          <a:bodyPr/>
          <a:lstStyle/>
          <a:p>
            <a:endParaRPr lang="en-CN"/>
          </a:p>
        </p:txBody>
      </p:sp>
      <p:sp>
        <p:nvSpPr>
          <p:cNvPr id="8" name="Text 6"/>
          <p:cNvSpPr/>
          <p:nvPr/>
        </p:nvSpPr>
        <p:spPr>
          <a:xfrm>
            <a:off x="457200" y="2542032"/>
            <a:ext cx="1920240" cy="2286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Phase 1</a:t>
            </a:r>
            <a:endParaRPr lang="en-US" sz="1400" dirty="0"/>
          </a:p>
        </p:txBody>
      </p:sp>
      <p:sp>
        <p:nvSpPr>
          <p:cNvPr id="9" name="Text 7"/>
          <p:cNvSpPr/>
          <p:nvPr/>
        </p:nvSpPr>
        <p:spPr>
          <a:xfrm>
            <a:off x="457200" y="2743200"/>
            <a:ext cx="1920240" cy="20116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Foundation</a:t>
            </a:r>
            <a:endParaRPr lang="en-US" sz="1000" dirty="0"/>
          </a:p>
        </p:txBody>
      </p:sp>
      <p:sp>
        <p:nvSpPr>
          <p:cNvPr id="10" name="Text 8"/>
          <p:cNvSpPr/>
          <p:nvPr/>
        </p:nvSpPr>
        <p:spPr>
          <a:xfrm>
            <a:off x="594360" y="3063240"/>
            <a:ext cx="164592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Q2 2026</a:t>
            </a:r>
            <a:endParaRPr lang="en-US" sz="1200" dirty="0"/>
          </a:p>
        </p:txBody>
      </p:sp>
      <p:sp>
        <p:nvSpPr>
          <p:cNvPr id="11" name="Text 9"/>
          <p:cNvSpPr/>
          <p:nvPr/>
        </p:nvSpPr>
        <p:spPr>
          <a:xfrm>
            <a:off x="594360" y="3291840"/>
            <a:ext cx="1645920" cy="228600"/>
          </a:xfrm>
          <a:prstGeom prst="rect">
            <a:avLst/>
          </a:prstGeom>
          <a:noFill/>
          <a:ln/>
        </p:spPr>
        <p:txBody>
          <a:bodyPr wrap="square" lIns="0" tIns="0" rIns="0" bIns="0" rtlCol="0" anchor="ctr"/>
          <a:lstStyle/>
          <a:p>
            <a:pPr marL="0" indent="0">
              <a:buNone/>
            </a:pPr>
            <a:r>
              <a:rPr lang="en-US" sz="1100" b="1" dirty="0">
                <a:solidFill>
                  <a:srgbClr val="0891B2"/>
                </a:solidFill>
                <a:latin typeface="Calibri" pitchFamily="34" charset="0"/>
                <a:ea typeface="Calibri" pitchFamily="34" charset="-122"/>
                <a:cs typeface="Calibri" pitchFamily="34" charset="-120"/>
              </a:rPr>
              <a:t>21 Tasks</a:t>
            </a:r>
            <a:endParaRPr lang="en-US" sz="1100" dirty="0"/>
          </a:p>
        </p:txBody>
      </p:sp>
      <p:sp>
        <p:nvSpPr>
          <p:cNvPr id="12" name="Text 10"/>
          <p:cNvSpPr/>
          <p:nvPr/>
        </p:nvSpPr>
        <p:spPr>
          <a:xfrm>
            <a:off x="594360" y="3566160"/>
            <a:ext cx="1645920" cy="9144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Connectors, Service Model,</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Prompt Engine, Evidence</a:t>
            </a:r>
            <a:endParaRPr lang="en-US" sz="1000" dirty="0"/>
          </a:p>
        </p:txBody>
      </p:sp>
      <p:sp>
        <p:nvSpPr>
          <p:cNvPr id="13" name="Text 11"/>
          <p:cNvSpPr/>
          <p:nvPr/>
        </p:nvSpPr>
        <p:spPr>
          <a:xfrm>
            <a:off x="594360" y="1554480"/>
            <a:ext cx="914400" cy="274320"/>
          </a:xfrm>
          <a:prstGeom prst="rect">
            <a:avLst/>
          </a:prstGeom>
          <a:noFill/>
          <a:ln/>
        </p:spPr>
        <p:txBody>
          <a:bodyPr wrap="square" lIns="0" tIns="0" rIns="0" bIns="0" rtlCol="0" anchor="ctr"/>
          <a:lstStyle/>
          <a:p>
            <a:pPr marL="0" indent="0">
              <a:buNone/>
            </a:pPr>
            <a:r>
              <a:rPr lang="en-US" sz="800" b="1" dirty="0">
                <a:solidFill>
                  <a:srgbClr val="0891B2"/>
                </a:solidFill>
                <a:latin typeface="Calibri" pitchFamily="34" charset="0"/>
                <a:ea typeface="Calibri" pitchFamily="34" charset="-122"/>
                <a:cs typeface="Calibri" pitchFamily="34" charset="-120"/>
              </a:rPr>
              <a:t>IMMEDIATE</a:t>
            </a:r>
            <a:endParaRPr lang="en-US" sz="800" dirty="0"/>
          </a:p>
        </p:txBody>
      </p:sp>
      <p:sp>
        <p:nvSpPr>
          <p:cNvPr id="14" name="Shape 12"/>
          <p:cNvSpPr/>
          <p:nvPr/>
        </p:nvSpPr>
        <p:spPr>
          <a:xfrm>
            <a:off x="3337560" y="1993392"/>
            <a:ext cx="201168" cy="201168"/>
          </a:xfrm>
          <a:prstGeom prst="ellipse">
            <a:avLst/>
          </a:prstGeom>
          <a:solidFill>
            <a:srgbClr val="0E7490"/>
          </a:solidFill>
          <a:ln/>
        </p:spPr>
        <p:txBody>
          <a:bodyPr/>
          <a:lstStyle/>
          <a:p>
            <a:endParaRPr lang="en-CN"/>
          </a:p>
        </p:txBody>
      </p:sp>
      <p:sp>
        <p:nvSpPr>
          <p:cNvPr id="15" name="Shape 13"/>
          <p:cNvSpPr/>
          <p:nvPr/>
        </p:nvSpPr>
        <p:spPr>
          <a:xfrm>
            <a:off x="2560320" y="2514600"/>
            <a:ext cx="1920240" cy="2331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16" name="Shape 14"/>
          <p:cNvSpPr/>
          <p:nvPr/>
        </p:nvSpPr>
        <p:spPr>
          <a:xfrm>
            <a:off x="2560320" y="2514600"/>
            <a:ext cx="1920240" cy="457200"/>
          </a:xfrm>
          <a:prstGeom prst="rect">
            <a:avLst/>
          </a:prstGeom>
          <a:solidFill>
            <a:srgbClr val="0E7490"/>
          </a:solidFill>
          <a:ln/>
        </p:spPr>
        <p:txBody>
          <a:bodyPr/>
          <a:lstStyle/>
          <a:p>
            <a:endParaRPr lang="en-CN"/>
          </a:p>
        </p:txBody>
      </p:sp>
      <p:sp>
        <p:nvSpPr>
          <p:cNvPr id="17" name="Text 15"/>
          <p:cNvSpPr/>
          <p:nvPr/>
        </p:nvSpPr>
        <p:spPr>
          <a:xfrm>
            <a:off x="2560320" y="2542032"/>
            <a:ext cx="1920240" cy="2286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Phase 2</a:t>
            </a:r>
            <a:endParaRPr lang="en-US" sz="1400" dirty="0"/>
          </a:p>
        </p:txBody>
      </p:sp>
      <p:sp>
        <p:nvSpPr>
          <p:cNvPr id="18" name="Text 16"/>
          <p:cNvSpPr/>
          <p:nvPr/>
        </p:nvSpPr>
        <p:spPr>
          <a:xfrm>
            <a:off x="2560320" y="2743200"/>
            <a:ext cx="1920240" cy="20116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Verify + Learn</a:t>
            </a:r>
            <a:endParaRPr lang="en-US" sz="1000" dirty="0"/>
          </a:p>
        </p:txBody>
      </p:sp>
      <p:sp>
        <p:nvSpPr>
          <p:cNvPr id="19" name="Text 17"/>
          <p:cNvSpPr/>
          <p:nvPr/>
        </p:nvSpPr>
        <p:spPr>
          <a:xfrm>
            <a:off x="2697480" y="3063240"/>
            <a:ext cx="164592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Q3-Q4 2026</a:t>
            </a:r>
            <a:endParaRPr lang="en-US" sz="1200" dirty="0"/>
          </a:p>
        </p:txBody>
      </p:sp>
      <p:sp>
        <p:nvSpPr>
          <p:cNvPr id="20" name="Text 18"/>
          <p:cNvSpPr/>
          <p:nvPr/>
        </p:nvSpPr>
        <p:spPr>
          <a:xfrm>
            <a:off x="2697480" y="3291840"/>
            <a:ext cx="1645920" cy="228600"/>
          </a:xfrm>
          <a:prstGeom prst="rect">
            <a:avLst/>
          </a:prstGeom>
          <a:noFill/>
          <a:ln/>
        </p:spPr>
        <p:txBody>
          <a:bodyPr wrap="square" lIns="0" tIns="0" rIns="0" bIns="0" rtlCol="0" anchor="ctr"/>
          <a:lstStyle/>
          <a:p>
            <a:pPr marL="0" indent="0">
              <a:buNone/>
            </a:pPr>
            <a:r>
              <a:rPr lang="en-US" sz="1100" b="1" dirty="0">
                <a:solidFill>
                  <a:srgbClr val="0E7490"/>
                </a:solidFill>
                <a:latin typeface="Calibri" pitchFamily="34" charset="0"/>
                <a:ea typeface="Calibri" pitchFamily="34" charset="-122"/>
                <a:cs typeface="Calibri" pitchFamily="34" charset="-120"/>
              </a:rPr>
              <a:t>14 Tasks</a:t>
            </a:r>
            <a:endParaRPr lang="en-US" sz="1100" dirty="0"/>
          </a:p>
        </p:txBody>
      </p:sp>
      <p:sp>
        <p:nvSpPr>
          <p:cNvPr id="21" name="Text 19"/>
          <p:cNvSpPr/>
          <p:nvPr/>
        </p:nvSpPr>
        <p:spPr>
          <a:xfrm>
            <a:off x="2697480" y="3566160"/>
            <a:ext cx="1645920" cy="9144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PostActionValidator,</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Human Review, Wisdom, Calibration</a:t>
            </a:r>
            <a:endParaRPr lang="en-US" sz="1000" dirty="0"/>
          </a:p>
        </p:txBody>
      </p:sp>
      <p:sp>
        <p:nvSpPr>
          <p:cNvPr id="22" name="Text 20"/>
          <p:cNvSpPr/>
          <p:nvPr/>
        </p:nvSpPr>
        <p:spPr>
          <a:xfrm>
            <a:off x="2697480" y="1554480"/>
            <a:ext cx="914400" cy="274320"/>
          </a:xfrm>
          <a:prstGeom prst="rect">
            <a:avLst/>
          </a:prstGeom>
          <a:noFill/>
          <a:ln/>
        </p:spPr>
        <p:txBody>
          <a:bodyPr wrap="square" lIns="0" tIns="0" rIns="0" bIns="0" rtlCol="0" anchor="ctr"/>
          <a:lstStyle/>
          <a:p>
            <a:pPr marL="0" indent="0">
              <a:buNone/>
            </a:pPr>
            <a:r>
              <a:rPr lang="en-US" sz="800" b="1" dirty="0">
                <a:solidFill>
                  <a:srgbClr val="0E7490"/>
                </a:solidFill>
                <a:latin typeface="Calibri" pitchFamily="34" charset="0"/>
                <a:ea typeface="Calibri" pitchFamily="34" charset="-122"/>
                <a:cs typeface="Calibri" pitchFamily="34" charset="-120"/>
              </a:rPr>
              <a:t>SHORT-TERM</a:t>
            </a:r>
            <a:endParaRPr lang="en-US" sz="800" dirty="0"/>
          </a:p>
        </p:txBody>
      </p:sp>
      <p:sp>
        <p:nvSpPr>
          <p:cNvPr id="23" name="Shape 21"/>
          <p:cNvSpPr/>
          <p:nvPr/>
        </p:nvSpPr>
        <p:spPr>
          <a:xfrm>
            <a:off x="5440680" y="1993392"/>
            <a:ext cx="201168" cy="201168"/>
          </a:xfrm>
          <a:prstGeom prst="ellipse">
            <a:avLst/>
          </a:prstGeom>
          <a:solidFill>
            <a:srgbClr val="7C3AED"/>
          </a:solidFill>
          <a:ln/>
        </p:spPr>
        <p:txBody>
          <a:bodyPr/>
          <a:lstStyle/>
          <a:p>
            <a:endParaRPr lang="en-CN"/>
          </a:p>
        </p:txBody>
      </p:sp>
      <p:sp>
        <p:nvSpPr>
          <p:cNvPr id="24" name="Shape 22"/>
          <p:cNvSpPr/>
          <p:nvPr/>
        </p:nvSpPr>
        <p:spPr>
          <a:xfrm>
            <a:off x="4663440" y="2514600"/>
            <a:ext cx="1920240" cy="2331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25" name="Shape 23"/>
          <p:cNvSpPr/>
          <p:nvPr/>
        </p:nvSpPr>
        <p:spPr>
          <a:xfrm>
            <a:off x="4663440" y="2514600"/>
            <a:ext cx="1920240" cy="457200"/>
          </a:xfrm>
          <a:prstGeom prst="rect">
            <a:avLst/>
          </a:prstGeom>
          <a:solidFill>
            <a:srgbClr val="7C3AED"/>
          </a:solidFill>
          <a:ln/>
        </p:spPr>
        <p:txBody>
          <a:bodyPr/>
          <a:lstStyle/>
          <a:p>
            <a:endParaRPr lang="en-CN"/>
          </a:p>
        </p:txBody>
      </p:sp>
      <p:sp>
        <p:nvSpPr>
          <p:cNvPr id="26" name="Text 24"/>
          <p:cNvSpPr/>
          <p:nvPr/>
        </p:nvSpPr>
        <p:spPr>
          <a:xfrm>
            <a:off x="4663440" y="2542032"/>
            <a:ext cx="1920240" cy="2286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Phase 3</a:t>
            </a:r>
            <a:endParaRPr lang="en-US" sz="1400" dirty="0"/>
          </a:p>
        </p:txBody>
      </p:sp>
      <p:sp>
        <p:nvSpPr>
          <p:cNvPr id="27" name="Text 25"/>
          <p:cNvSpPr/>
          <p:nvPr/>
        </p:nvSpPr>
        <p:spPr>
          <a:xfrm>
            <a:off x="4663440" y="2743200"/>
            <a:ext cx="1920240" cy="20116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Self-Evolution</a:t>
            </a:r>
            <a:endParaRPr lang="en-US" sz="1000" dirty="0"/>
          </a:p>
        </p:txBody>
      </p:sp>
      <p:sp>
        <p:nvSpPr>
          <p:cNvPr id="28" name="Text 26"/>
          <p:cNvSpPr/>
          <p:nvPr/>
        </p:nvSpPr>
        <p:spPr>
          <a:xfrm>
            <a:off x="4800600" y="3063240"/>
            <a:ext cx="164592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2027</a:t>
            </a:r>
            <a:endParaRPr lang="en-US" sz="1200" dirty="0"/>
          </a:p>
        </p:txBody>
      </p:sp>
      <p:sp>
        <p:nvSpPr>
          <p:cNvPr id="29" name="Text 27"/>
          <p:cNvSpPr/>
          <p:nvPr/>
        </p:nvSpPr>
        <p:spPr>
          <a:xfrm>
            <a:off x="4800600" y="3291840"/>
            <a:ext cx="1645920" cy="228600"/>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8 Tasks</a:t>
            </a:r>
            <a:endParaRPr lang="en-US" sz="1100" dirty="0"/>
          </a:p>
        </p:txBody>
      </p:sp>
      <p:sp>
        <p:nvSpPr>
          <p:cNvPr id="30" name="Text 28"/>
          <p:cNvSpPr/>
          <p:nvPr/>
        </p:nvSpPr>
        <p:spPr>
          <a:xfrm>
            <a:off x="4800600" y="3566160"/>
            <a:ext cx="1645920" cy="9144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SkillGapDetector, SOPAutoWriter,</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Sandbox Validation, Self-Verify</a:t>
            </a:r>
            <a:endParaRPr lang="en-US" sz="1000" dirty="0"/>
          </a:p>
        </p:txBody>
      </p:sp>
      <p:sp>
        <p:nvSpPr>
          <p:cNvPr id="31" name="Text 29"/>
          <p:cNvSpPr/>
          <p:nvPr/>
        </p:nvSpPr>
        <p:spPr>
          <a:xfrm>
            <a:off x="4800600" y="1554480"/>
            <a:ext cx="914400" cy="274320"/>
          </a:xfrm>
          <a:prstGeom prst="rect">
            <a:avLst/>
          </a:prstGeom>
          <a:noFill/>
          <a:ln/>
        </p:spPr>
        <p:txBody>
          <a:bodyPr wrap="square" lIns="0" tIns="0" rIns="0" bIns="0" rtlCol="0" anchor="ctr"/>
          <a:lstStyle/>
          <a:p>
            <a:pPr marL="0" indent="0">
              <a:buNone/>
            </a:pPr>
            <a:r>
              <a:rPr lang="en-US" sz="800" b="1" dirty="0">
                <a:solidFill>
                  <a:srgbClr val="7C3AED"/>
                </a:solidFill>
                <a:latin typeface="Calibri" pitchFamily="34" charset="0"/>
                <a:ea typeface="Calibri" pitchFamily="34" charset="-122"/>
                <a:cs typeface="Calibri" pitchFamily="34" charset="-120"/>
              </a:rPr>
              <a:t>RESEARCH</a:t>
            </a:r>
            <a:endParaRPr lang="en-US" sz="800" dirty="0"/>
          </a:p>
        </p:txBody>
      </p:sp>
      <p:sp>
        <p:nvSpPr>
          <p:cNvPr id="32" name="Shape 30"/>
          <p:cNvSpPr/>
          <p:nvPr/>
        </p:nvSpPr>
        <p:spPr>
          <a:xfrm>
            <a:off x="7543800" y="1993392"/>
            <a:ext cx="201168" cy="201168"/>
          </a:xfrm>
          <a:prstGeom prst="ellipse">
            <a:avLst/>
          </a:prstGeom>
          <a:solidFill>
            <a:srgbClr val="64748B"/>
          </a:solidFill>
          <a:ln/>
        </p:spPr>
        <p:txBody>
          <a:bodyPr/>
          <a:lstStyle/>
          <a:p>
            <a:endParaRPr lang="en-CN"/>
          </a:p>
        </p:txBody>
      </p:sp>
      <p:sp>
        <p:nvSpPr>
          <p:cNvPr id="33" name="Shape 31"/>
          <p:cNvSpPr/>
          <p:nvPr/>
        </p:nvSpPr>
        <p:spPr>
          <a:xfrm>
            <a:off x="6766560" y="2514600"/>
            <a:ext cx="1920240" cy="2331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34" name="Shape 32"/>
          <p:cNvSpPr/>
          <p:nvPr/>
        </p:nvSpPr>
        <p:spPr>
          <a:xfrm>
            <a:off x="6766560" y="2514600"/>
            <a:ext cx="1920240" cy="457200"/>
          </a:xfrm>
          <a:prstGeom prst="rect">
            <a:avLst/>
          </a:prstGeom>
          <a:solidFill>
            <a:srgbClr val="64748B"/>
          </a:solidFill>
          <a:ln/>
        </p:spPr>
        <p:txBody>
          <a:bodyPr/>
          <a:lstStyle/>
          <a:p>
            <a:endParaRPr lang="en-CN"/>
          </a:p>
        </p:txBody>
      </p:sp>
      <p:sp>
        <p:nvSpPr>
          <p:cNvPr id="35" name="Text 33"/>
          <p:cNvSpPr/>
          <p:nvPr/>
        </p:nvSpPr>
        <p:spPr>
          <a:xfrm>
            <a:off x="6766560" y="2542032"/>
            <a:ext cx="1920240" cy="2286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Phase 4</a:t>
            </a:r>
            <a:endParaRPr lang="en-US" sz="1400" dirty="0"/>
          </a:p>
        </p:txBody>
      </p:sp>
      <p:sp>
        <p:nvSpPr>
          <p:cNvPr id="36" name="Text 34"/>
          <p:cNvSpPr/>
          <p:nvPr/>
        </p:nvSpPr>
        <p:spPr>
          <a:xfrm>
            <a:off x="6766560" y="2743200"/>
            <a:ext cx="1920240" cy="20116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Autonomous Ops</a:t>
            </a:r>
            <a:endParaRPr lang="en-US" sz="1000" dirty="0"/>
          </a:p>
        </p:txBody>
      </p:sp>
      <p:sp>
        <p:nvSpPr>
          <p:cNvPr id="37" name="Text 35"/>
          <p:cNvSpPr/>
          <p:nvPr/>
        </p:nvSpPr>
        <p:spPr>
          <a:xfrm>
            <a:off x="6903720" y="3063240"/>
            <a:ext cx="164592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2028+</a:t>
            </a:r>
            <a:endParaRPr lang="en-US" sz="1200" dirty="0"/>
          </a:p>
        </p:txBody>
      </p:sp>
      <p:sp>
        <p:nvSpPr>
          <p:cNvPr id="38" name="Text 36"/>
          <p:cNvSpPr/>
          <p:nvPr/>
        </p:nvSpPr>
        <p:spPr>
          <a:xfrm>
            <a:off x="6903720" y="3291840"/>
            <a:ext cx="1645920" cy="228600"/>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7 Tasks</a:t>
            </a:r>
            <a:endParaRPr lang="en-US" sz="1100" dirty="0"/>
          </a:p>
        </p:txBody>
      </p:sp>
      <p:sp>
        <p:nvSpPr>
          <p:cNvPr id="39" name="Text 37"/>
          <p:cNvSpPr/>
          <p:nvPr/>
        </p:nvSpPr>
        <p:spPr>
          <a:xfrm>
            <a:off x="6903720" y="3566160"/>
            <a:ext cx="1645920" cy="9144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Cross-Service Correlation,</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Proactive Detection, Graduated Autonomy</a:t>
            </a:r>
            <a:endParaRPr lang="en-US" sz="1000" dirty="0"/>
          </a:p>
        </p:txBody>
      </p:sp>
      <p:sp>
        <p:nvSpPr>
          <p:cNvPr id="40" name="Text 38"/>
          <p:cNvSpPr/>
          <p:nvPr/>
        </p:nvSpPr>
        <p:spPr>
          <a:xfrm>
            <a:off x="6903720" y="1554480"/>
            <a:ext cx="914400" cy="274320"/>
          </a:xfrm>
          <a:prstGeom prst="rect">
            <a:avLst/>
          </a:prstGeom>
          <a:noFill/>
          <a:ln/>
        </p:spPr>
        <p:txBody>
          <a:bodyPr wrap="square" lIns="0" tIns="0" rIns="0" bIns="0" rtlCol="0" anchor="ctr"/>
          <a:lstStyle/>
          <a:p>
            <a:pPr marL="0" indent="0">
              <a:buNone/>
            </a:pPr>
            <a:r>
              <a:rPr lang="en-US" sz="800" b="1" dirty="0">
                <a:solidFill>
                  <a:srgbClr val="64748B"/>
                </a:solidFill>
                <a:latin typeface="Calibri" pitchFamily="34" charset="0"/>
                <a:ea typeface="Calibri" pitchFamily="34" charset="-122"/>
                <a:cs typeface="Calibri" pitchFamily="34" charset="-120"/>
              </a:rPr>
              <a:t>VISION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320040"/>
            <a:ext cx="5486400" cy="548640"/>
          </a:xfrm>
          <a:prstGeom prst="rect">
            <a:avLst/>
          </a:prstGeom>
          <a:noFill/>
          <a:ln/>
        </p:spPr>
        <p:txBody>
          <a:bodyPr wrap="square" lIns="0" tIns="0" rIns="0" bIns="0" rtlCol="0" anchor="ctr"/>
          <a:lstStyle/>
          <a:p>
            <a:pPr marL="0" indent="0">
              <a:buNone/>
            </a:pPr>
            <a:r>
              <a:rPr lang="en-US" sz="3200" b="1" dirty="0">
                <a:solidFill>
                  <a:srgbClr val="0F2B46"/>
                </a:solidFill>
                <a:latin typeface="Georgia" pitchFamily="34" charset="0"/>
                <a:ea typeface="Georgia" pitchFamily="34" charset="-122"/>
                <a:cs typeface="Georgia" pitchFamily="34" charset="-120"/>
              </a:rPr>
              <a:t>Phase 1: Foundation</a:t>
            </a:r>
            <a:endParaRPr lang="en-US" sz="3200" dirty="0"/>
          </a:p>
        </p:txBody>
      </p:sp>
      <p:sp>
        <p:nvSpPr>
          <p:cNvPr id="3" name="Text 1"/>
          <p:cNvSpPr/>
          <p:nvPr/>
        </p:nvSpPr>
        <p:spPr>
          <a:xfrm>
            <a:off x="731520" y="822960"/>
            <a:ext cx="7315200" cy="320040"/>
          </a:xfrm>
          <a:prstGeom prst="rect">
            <a:avLst/>
          </a:prstGeom>
          <a:noFill/>
          <a:ln/>
        </p:spPr>
        <p:txBody>
          <a:bodyPr wrap="square" lIns="0" tIns="0" rIns="0" bIns="0" rtlCol="0" anchor="ctr"/>
          <a:lstStyle/>
          <a:p>
            <a:pPr marL="0" indent="0">
              <a:buNone/>
            </a:pPr>
            <a:r>
              <a:rPr lang="en-US" sz="1300" dirty="0">
                <a:solidFill>
                  <a:srgbClr val="0891B2"/>
                </a:solidFill>
                <a:latin typeface="Calibri" pitchFamily="34" charset="0"/>
                <a:ea typeface="Calibri" pitchFamily="34" charset="-122"/>
                <a:cs typeface="Calibri" pitchFamily="34" charset="-120"/>
              </a:rPr>
              <a:t>Q2 2026  |  21 Tasks  |  16 New Files  |  9 Modified Files</a:t>
            </a:r>
            <a:endParaRPr lang="en-US" sz="1300" dirty="0"/>
          </a:p>
        </p:txBody>
      </p:sp>
      <p:sp>
        <p:nvSpPr>
          <p:cNvPr id="4" name="Shape 2"/>
          <p:cNvSpPr/>
          <p:nvPr/>
        </p:nvSpPr>
        <p:spPr>
          <a:xfrm>
            <a:off x="320040" y="1371600"/>
            <a:ext cx="2011680" cy="3383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5" name="Shape 3"/>
          <p:cNvSpPr/>
          <p:nvPr/>
        </p:nvSpPr>
        <p:spPr>
          <a:xfrm>
            <a:off x="320040" y="1371600"/>
            <a:ext cx="2011680" cy="502920"/>
          </a:xfrm>
          <a:prstGeom prst="rect">
            <a:avLst/>
          </a:prstGeom>
          <a:solidFill>
            <a:srgbClr val="0891B2"/>
          </a:solidFill>
          <a:ln/>
        </p:spPr>
        <p:txBody>
          <a:bodyPr/>
          <a:lstStyle/>
          <a:p>
            <a:endParaRPr lang="en-CN"/>
          </a:p>
        </p:txBody>
      </p:sp>
      <p:sp>
        <p:nvSpPr>
          <p:cNvPr id="6" name="Text 4"/>
          <p:cNvSpPr/>
          <p:nvPr/>
        </p:nvSpPr>
        <p:spPr>
          <a:xfrm>
            <a:off x="320040" y="1389888"/>
            <a:ext cx="20116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Connector Framework</a:t>
            </a:r>
            <a:endParaRPr lang="en-US" sz="1200" dirty="0"/>
          </a:p>
        </p:txBody>
      </p:sp>
      <p:sp>
        <p:nvSpPr>
          <p:cNvPr id="7" name="Text 5"/>
          <p:cNvSpPr/>
          <p:nvPr/>
        </p:nvSpPr>
        <p:spPr>
          <a:xfrm>
            <a:off x="320040" y="1645920"/>
            <a:ext cx="2011680" cy="20116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7 tasks</a:t>
            </a:r>
            <a:endParaRPr lang="en-US" sz="1000" dirty="0"/>
          </a:p>
        </p:txBody>
      </p:sp>
      <p:sp>
        <p:nvSpPr>
          <p:cNvPr id="8" name="Text 6"/>
          <p:cNvSpPr/>
          <p:nvPr/>
        </p:nvSpPr>
        <p:spPr>
          <a:xfrm>
            <a:off x="457200" y="2011680"/>
            <a:ext cx="1737360" cy="2560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ConnectorBase ABC</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Registry + YAML config</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AWS (wrap existing)</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Kubernetes (wrap existing)</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Datadog API (new)</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Prometheus PromQL (new)</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Agent query tools</a:t>
            </a:r>
            <a:endParaRPr lang="en-US" sz="1100" dirty="0"/>
          </a:p>
        </p:txBody>
      </p:sp>
      <p:sp>
        <p:nvSpPr>
          <p:cNvPr id="9" name="Shape 7"/>
          <p:cNvSpPr/>
          <p:nvPr/>
        </p:nvSpPr>
        <p:spPr>
          <a:xfrm>
            <a:off x="2514600" y="1371600"/>
            <a:ext cx="2011680" cy="3383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10" name="Shape 8"/>
          <p:cNvSpPr/>
          <p:nvPr/>
        </p:nvSpPr>
        <p:spPr>
          <a:xfrm>
            <a:off x="2514600" y="1371600"/>
            <a:ext cx="2011680" cy="502920"/>
          </a:xfrm>
          <a:prstGeom prst="rect">
            <a:avLst/>
          </a:prstGeom>
          <a:solidFill>
            <a:srgbClr val="0E7490"/>
          </a:solidFill>
          <a:ln/>
        </p:spPr>
        <p:txBody>
          <a:bodyPr/>
          <a:lstStyle/>
          <a:p>
            <a:endParaRPr lang="en-CN"/>
          </a:p>
        </p:txBody>
      </p:sp>
      <p:sp>
        <p:nvSpPr>
          <p:cNvPr id="11" name="Text 9"/>
          <p:cNvSpPr/>
          <p:nvPr/>
        </p:nvSpPr>
        <p:spPr>
          <a:xfrm>
            <a:off x="2514600" y="1389888"/>
            <a:ext cx="20116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Service Model</a:t>
            </a:r>
            <a:endParaRPr lang="en-US" sz="1200" dirty="0"/>
          </a:p>
        </p:txBody>
      </p:sp>
      <p:sp>
        <p:nvSpPr>
          <p:cNvPr id="12" name="Text 10"/>
          <p:cNvSpPr/>
          <p:nvPr/>
        </p:nvSpPr>
        <p:spPr>
          <a:xfrm>
            <a:off x="2514600" y="1645920"/>
            <a:ext cx="2011680" cy="20116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4 tasks</a:t>
            </a:r>
            <a:endParaRPr lang="en-US" sz="1000" dirty="0"/>
          </a:p>
        </p:txBody>
      </p:sp>
      <p:sp>
        <p:nvSpPr>
          <p:cNvPr id="13" name="Text 11"/>
          <p:cNvSpPr/>
          <p:nvPr/>
        </p:nvSpPr>
        <p:spPr>
          <a:xfrm>
            <a:off x="2651760" y="2011680"/>
            <a:ext cx="1737360" cy="2560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DB tables (Service,</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ServiceResource,</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ServiceDependency)</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CRUD agent tools</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API endpoints</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Chat-based discovery</a:t>
            </a:r>
            <a:endParaRPr lang="en-US" sz="1100" dirty="0"/>
          </a:p>
        </p:txBody>
      </p:sp>
      <p:sp>
        <p:nvSpPr>
          <p:cNvPr id="14" name="Shape 12"/>
          <p:cNvSpPr/>
          <p:nvPr/>
        </p:nvSpPr>
        <p:spPr>
          <a:xfrm>
            <a:off x="4709160" y="1371600"/>
            <a:ext cx="2011680" cy="3383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15" name="Shape 13"/>
          <p:cNvSpPr/>
          <p:nvPr/>
        </p:nvSpPr>
        <p:spPr>
          <a:xfrm>
            <a:off x="4709160" y="1371600"/>
            <a:ext cx="2011680" cy="502920"/>
          </a:xfrm>
          <a:prstGeom prst="rect">
            <a:avLst/>
          </a:prstGeom>
          <a:solidFill>
            <a:srgbClr val="06B6D4"/>
          </a:solidFill>
          <a:ln/>
        </p:spPr>
        <p:txBody>
          <a:bodyPr/>
          <a:lstStyle/>
          <a:p>
            <a:endParaRPr lang="en-CN"/>
          </a:p>
        </p:txBody>
      </p:sp>
      <p:sp>
        <p:nvSpPr>
          <p:cNvPr id="16" name="Text 14"/>
          <p:cNvSpPr/>
          <p:nvPr/>
        </p:nvSpPr>
        <p:spPr>
          <a:xfrm>
            <a:off x="4709160" y="1389888"/>
            <a:ext cx="20116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Prompt Engine</a:t>
            </a:r>
            <a:endParaRPr lang="en-US" sz="1200" dirty="0"/>
          </a:p>
        </p:txBody>
      </p:sp>
      <p:sp>
        <p:nvSpPr>
          <p:cNvPr id="17" name="Text 15"/>
          <p:cNvSpPr/>
          <p:nvPr/>
        </p:nvSpPr>
        <p:spPr>
          <a:xfrm>
            <a:off x="4709160" y="1645920"/>
            <a:ext cx="2011680" cy="20116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6 tasks</a:t>
            </a:r>
            <a:endParaRPr lang="en-US" sz="1000" dirty="0"/>
          </a:p>
        </p:txBody>
      </p:sp>
      <p:sp>
        <p:nvSpPr>
          <p:cNvPr id="18" name="Text 16"/>
          <p:cNvSpPr/>
          <p:nvPr/>
        </p:nvSpPr>
        <p:spPr>
          <a:xfrm>
            <a:off x="4846320" y="2011680"/>
            <a:ext cx="1737360" cy="2560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Evidence model + weights</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Alert Classifier</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Few-Shot Retriever</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Strategy Selector</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Token-budgeted Assembler</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Skills indexing</a:t>
            </a:r>
            <a:endParaRPr lang="en-US" sz="1100" dirty="0"/>
          </a:p>
        </p:txBody>
      </p:sp>
      <p:sp>
        <p:nvSpPr>
          <p:cNvPr id="19" name="Shape 17"/>
          <p:cNvSpPr/>
          <p:nvPr/>
        </p:nvSpPr>
        <p:spPr>
          <a:xfrm>
            <a:off x="6903720" y="1371600"/>
            <a:ext cx="2011680" cy="3383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20" name="Shape 18"/>
          <p:cNvSpPr/>
          <p:nvPr/>
        </p:nvSpPr>
        <p:spPr>
          <a:xfrm>
            <a:off x="6903720" y="1371600"/>
            <a:ext cx="2011680" cy="502920"/>
          </a:xfrm>
          <a:prstGeom prst="rect">
            <a:avLst/>
          </a:prstGeom>
          <a:solidFill>
            <a:srgbClr val="14B8A6"/>
          </a:solidFill>
          <a:ln/>
        </p:spPr>
        <p:txBody>
          <a:bodyPr/>
          <a:lstStyle/>
          <a:p>
            <a:endParaRPr lang="en-CN"/>
          </a:p>
        </p:txBody>
      </p:sp>
      <p:sp>
        <p:nvSpPr>
          <p:cNvPr id="21" name="Text 19"/>
          <p:cNvSpPr/>
          <p:nvPr/>
        </p:nvSpPr>
        <p:spPr>
          <a:xfrm>
            <a:off x="6903720" y="1389888"/>
            <a:ext cx="20116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Integration</a:t>
            </a:r>
            <a:endParaRPr lang="en-US" sz="1200" dirty="0"/>
          </a:p>
        </p:txBody>
      </p:sp>
      <p:sp>
        <p:nvSpPr>
          <p:cNvPr id="22" name="Text 20"/>
          <p:cNvSpPr/>
          <p:nvPr/>
        </p:nvSpPr>
        <p:spPr>
          <a:xfrm>
            <a:off x="6903720" y="1645920"/>
            <a:ext cx="2011680" cy="20116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4 tasks</a:t>
            </a:r>
            <a:endParaRPr lang="en-US" sz="1000" dirty="0"/>
          </a:p>
        </p:txBody>
      </p:sp>
      <p:sp>
        <p:nvSpPr>
          <p:cNvPr id="23" name="Text 21"/>
          <p:cNvSpPr/>
          <p:nvPr/>
        </p:nvSpPr>
        <p:spPr>
          <a:xfrm>
            <a:off x="7040880" y="2011680"/>
            <a:ext cx="1737360" cy="25603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Wire into RCA Agent</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Wire into Main Agent</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DB migration verify</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E2E smoke test</a:t>
            </a:r>
            <a:endParaRPr lang="en-US" sz="1100" dirty="0"/>
          </a:p>
        </p:txBody>
      </p:sp>
      <p:sp>
        <p:nvSpPr>
          <p:cNvPr id="24" name="Text 22"/>
          <p:cNvSpPr/>
          <p:nvPr/>
        </p:nvSpPr>
        <p:spPr>
          <a:xfrm>
            <a:off x="457200" y="4709160"/>
            <a:ext cx="822960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4 parallel tracks converge at Integration (Task 16). No sequential bottleneck.</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lIns="0" tIns="0" rIns="0" bIns="0" rtlCol="0" anchor="ctr"/>
          <a:lstStyle/>
          <a:p>
            <a:pPr marL="0" indent="0">
              <a:buNone/>
            </a:pPr>
            <a:r>
              <a:rPr lang="en-US" sz="2800" b="1" dirty="0">
                <a:solidFill>
                  <a:srgbClr val="0F2B46"/>
                </a:solidFill>
                <a:latin typeface="Georgia" pitchFamily="34" charset="0"/>
                <a:ea typeface="Georgia" pitchFamily="34" charset="-122"/>
                <a:cs typeface="Georgia" pitchFamily="34" charset="-120"/>
              </a:rPr>
              <a:t>Phase 1: Connector Architecture</a:t>
            </a:r>
            <a:endParaRPr lang="en-US" sz="2800" dirty="0"/>
          </a:p>
        </p:txBody>
      </p:sp>
      <p:sp>
        <p:nvSpPr>
          <p:cNvPr id="3" name="Shape 1"/>
          <p:cNvSpPr/>
          <p:nvPr/>
        </p:nvSpPr>
        <p:spPr>
          <a:xfrm>
            <a:off x="731520" y="822960"/>
            <a:ext cx="1097280" cy="36576"/>
          </a:xfrm>
          <a:prstGeom prst="rect">
            <a:avLst/>
          </a:prstGeom>
          <a:solidFill>
            <a:srgbClr val="0891B2"/>
          </a:solidFill>
          <a:ln/>
        </p:spPr>
        <p:txBody>
          <a:bodyPr/>
          <a:lstStyle/>
          <a:p>
            <a:endParaRPr lang="en-CN"/>
          </a:p>
        </p:txBody>
      </p:sp>
      <p:sp>
        <p:nvSpPr>
          <p:cNvPr id="4" name="Shape 2"/>
          <p:cNvSpPr/>
          <p:nvPr/>
        </p:nvSpPr>
        <p:spPr>
          <a:xfrm>
            <a:off x="457200" y="1097280"/>
            <a:ext cx="4023360" cy="3657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5" name="Text 3"/>
          <p:cNvSpPr/>
          <p:nvPr/>
        </p:nvSpPr>
        <p:spPr>
          <a:xfrm>
            <a:off x="640080" y="1188720"/>
            <a:ext cx="3657600" cy="320040"/>
          </a:xfrm>
          <a:prstGeom prst="rect">
            <a:avLst/>
          </a:prstGeom>
          <a:noFill/>
          <a:ln/>
        </p:spPr>
        <p:txBody>
          <a:bodyPr wrap="square" lIns="0" tIns="0" rIns="0" bIns="0" rtlCol="0" anchor="ctr"/>
          <a:lstStyle/>
          <a:p>
            <a:pPr marL="0" indent="0">
              <a:buNone/>
            </a:pPr>
            <a:r>
              <a:rPr lang="en-US" sz="1500" b="1" dirty="0">
                <a:solidFill>
                  <a:srgbClr val="0891B2"/>
                </a:solidFill>
                <a:latin typeface="Georgia" pitchFamily="34" charset="0"/>
                <a:ea typeface="Georgia" pitchFamily="34" charset="-122"/>
                <a:cs typeface="Georgia" pitchFamily="34" charset="-120"/>
              </a:rPr>
              <a:t>Design Philosophy</a:t>
            </a:r>
            <a:endParaRPr lang="en-US" sz="1500" dirty="0"/>
          </a:p>
        </p:txBody>
      </p:sp>
      <p:sp>
        <p:nvSpPr>
          <p:cNvPr id="6" name="Text 4"/>
          <p:cNvSpPr/>
          <p:nvPr/>
        </p:nvSpPr>
        <p:spPr>
          <a:xfrm>
            <a:off x="640080" y="1554480"/>
            <a:ext cx="3657600" cy="301752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Admin provides credentials + endpoints.</a:t>
            </a:r>
            <a:endParaRPr lang="en-US" sz="1200" dirty="0"/>
          </a:p>
          <a:p>
            <a:pPr marL="0" indent="0">
              <a:buNone/>
            </a:pPr>
            <a:r>
              <a:rPr lang="en-US" sz="1200" b="1" dirty="0">
                <a:solidFill>
                  <a:srgbClr val="0891B2"/>
                </a:solidFill>
                <a:latin typeface="Calibri" pitchFamily="34" charset="0"/>
                <a:ea typeface="Calibri" pitchFamily="34" charset="-122"/>
                <a:cs typeface="Calibri" pitchFamily="34" charset="-120"/>
              </a:rPr>
              <a:t>Agent decides what to query.</a:t>
            </a:r>
            <a:endParaRPr lang="en-US" sz="1200" dirty="0"/>
          </a:p>
          <a:p>
            <a:pPr marL="0" indent="0">
              <a:buNone/>
            </a:pPr>
            <a:endParaRPr lang="en-US" sz="1200" dirty="0"/>
          </a:p>
          <a:p>
            <a:pPr marL="0" indent="0">
              <a:buNone/>
            </a:pPr>
            <a:r>
              <a:rPr lang="en-US" sz="1100" dirty="0">
                <a:solidFill>
                  <a:srgbClr val="64748B"/>
                </a:solidFill>
                <a:latin typeface="Calibri" pitchFamily="34" charset="0"/>
                <a:ea typeface="Calibri" pitchFamily="34" charset="-122"/>
                <a:cs typeface="Calibri" pitchFamily="34" charset="-120"/>
              </a:rPr>
              <a:t>No predefined query sequences. Each investigation step is an autonomous decision based on findings so far.</a:t>
            </a:r>
            <a:endParaRPr lang="en-US" sz="1200" dirty="0"/>
          </a:p>
          <a:p>
            <a:pPr marL="0" indent="0">
              <a:buNone/>
            </a:pP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Guardrails:</a:t>
            </a:r>
            <a:endParaRPr lang="en-US" sz="12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Read-only by default</a:t>
            </a:r>
            <a:endParaRPr lang="en-US" sz="12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Rate limiting per connector</a:t>
            </a:r>
            <a:endParaRPr lang="en-US" sz="12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Cost awareness for pay-per-query APIs</a:t>
            </a:r>
            <a:endParaRPr lang="en-US" sz="1200" dirty="0"/>
          </a:p>
          <a:p>
            <a:pPr marL="342900" indent="-342900">
              <a:buSzPct val="100000"/>
              <a:buChar char="•"/>
            </a:pPr>
            <a:r>
              <a:rPr lang="en-US" sz="1100" dirty="0">
                <a:solidFill>
                  <a:srgbClr val="1E293B"/>
                </a:solidFill>
                <a:latin typeface="Calibri" pitchFamily="34" charset="0"/>
                <a:ea typeface="Calibri" pitchFamily="34" charset="-122"/>
                <a:cs typeface="Calibri" pitchFamily="34" charset="-120"/>
              </a:rPr>
              <a:t>Write ops via Executor Agent (L0-L3)</a:t>
            </a:r>
            <a:endParaRPr lang="en-US" sz="1200" dirty="0"/>
          </a:p>
          <a:p>
            <a:pPr marL="0" indent="0">
              <a:buNone/>
            </a:pPr>
            <a:endParaRPr lang="en-US" sz="1200" dirty="0"/>
          </a:p>
          <a:p>
            <a:pPr marL="0" indent="0">
              <a:buNone/>
            </a:pPr>
            <a:r>
              <a:rPr lang="en-US" sz="1100" i="1" dirty="0">
                <a:solidFill>
                  <a:srgbClr val="64748B"/>
                </a:solidFill>
                <a:latin typeface="Calibri" pitchFamily="34" charset="0"/>
                <a:ea typeface="Calibri" pitchFamily="34" charset="-122"/>
                <a:cs typeface="Calibri" pitchFamily="34" charset="-120"/>
              </a:rPr>
              <a:t>No connector? Agent works with what it has.</a:t>
            </a:r>
            <a:endParaRPr lang="en-US" sz="1200" dirty="0"/>
          </a:p>
        </p:txBody>
      </p:sp>
      <p:sp>
        <p:nvSpPr>
          <p:cNvPr id="7" name="Shape 5"/>
          <p:cNvSpPr/>
          <p:nvPr/>
        </p:nvSpPr>
        <p:spPr>
          <a:xfrm>
            <a:off x="4754880" y="1097280"/>
            <a:ext cx="3931920" cy="3657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8" name="Text 6"/>
          <p:cNvSpPr/>
          <p:nvPr/>
        </p:nvSpPr>
        <p:spPr>
          <a:xfrm>
            <a:off x="4937760" y="1188720"/>
            <a:ext cx="3657600" cy="320040"/>
          </a:xfrm>
          <a:prstGeom prst="rect">
            <a:avLst/>
          </a:prstGeom>
          <a:noFill/>
          <a:ln/>
        </p:spPr>
        <p:txBody>
          <a:bodyPr wrap="square" lIns="0" tIns="0" rIns="0" bIns="0" rtlCol="0" anchor="ctr"/>
          <a:lstStyle/>
          <a:p>
            <a:pPr marL="0" indent="0">
              <a:buNone/>
            </a:pPr>
            <a:r>
              <a:rPr lang="en-US" sz="1500" b="1" dirty="0">
                <a:solidFill>
                  <a:srgbClr val="0891B2"/>
                </a:solidFill>
                <a:latin typeface="Georgia" pitchFamily="34" charset="0"/>
                <a:ea typeface="Georgia" pitchFamily="34" charset="-122"/>
                <a:cs typeface="Georgia" pitchFamily="34" charset="-120"/>
              </a:rPr>
              <a:t>Initial Connectors</a:t>
            </a:r>
            <a:endParaRPr lang="en-US" sz="1500" dirty="0"/>
          </a:p>
        </p:txBody>
      </p:sp>
      <p:sp>
        <p:nvSpPr>
          <p:cNvPr id="9" name="Shape 7"/>
          <p:cNvSpPr/>
          <p:nvPr/>
        </p:nvSpPr>
        <p:spPr>
          <a:xfrm>
            <a:off x="4937760" y="1645920"/>
            <a:ext cx="3566160" cy="594360"/>
          </a:xfrm>
          <a:prstGeom prst="rect">
            <a:avLst/>
          </a:prstGeom>
          <a:solidFill>
            <a:srgbClr val="F0F9FF"/>
          </a:solidFill>
          <a:ln/>
        </p:spPr>
        <p:txBody>
          <a:bodyPr/>
          <a:lstStyle/>
          <a:p>
            <a:endParaRPr lang="en-CN"/>
          </a:p>
        </p:txBody>
      </p:sp>
      <p:sp>
        <p:nvSpPr>
          <p:cNvPr id="10" name="Text 8"/>
          <p:cNvSpPr/>
          <p:nvPr/>
        </p:nvSpPr>
        <p:spPr>
          <a:xfrm>
            <a:off x="5074920" y="1645920"/>
            <a:ext cx="1371600" cy="320040"/>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AWS</a:t>
            </a:r>
            <a:endParaRPr lang="en-US" sz="1300" dirty="0"/>
          </a:p>
        </p:txBody>
      </p:sp>
      <p:sp>
        <p:nvSpPr>
          <p:cNvPr id="11" name="Text 9"/>
          <p:cNvSpPr/>
          <p:nvPr/>
        </p:nvSpPr>
        <p:spPr>
          <a:xfrm>
            <a:off x="6675120" y="1664208"/>
            <a:ext cx="1371600" cy="274320"/>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Wrap existing</a:t>
            </a:r>
            <a:endParaRPr lang="en-US" sz="900" dirty="0"/>
          </a:p>
        </p:txBody>
      </p:sp>
      <p:sp>
        <p:nvSpPr>
          <p:cNvPr id="12" name="Text 10"/>
          <p:cNvSpPr/>
          <p:nvPr/>
        </p:nvSpPr>
        <p:spPr>
          <a:xfrm>
            <a:off x="5074920" y="1938528"/>
            <a:ext cx="32004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CloudTrail, CloudWatch, AWS CLI</a:t>
            </a:r>
            <a:endParaRPr lang="en-US" sz="1000" dirty="0"/>
          </a:p>
        </p:txBody>
      </p:sp>
      <p:sp>
        <p:nvSpPr>
          <p:cNvPr id="13" name="Shape 11"/>
          <p:cNvSpPr/>
          <p:nvPr/>
        </p:nvSpPr>
        <p:spPr>
          <a:xfrm>
            <a:off x="4937760" y="2377440"/>
            <a:ext cx="3566160" cy="594360"/>
          </a:xfrm>
          <a:prstGeom prst="rect">
            <a:avLst/>
          </a:prstGeom>
          <a:solidFill>
            <a:srgbClr val="F0F9FF"/>
          </a:solidFill>
          <a:ln/>
        </p:spPr>
        <p:txBody>
          <a:bodyPr/>
          <a:lstStyle/>
          <a:p>
            <a:endParaRPr lang="en-CN"/>
          </a:p>
        </p:txBody>
      </p:sp>
      <p:sp>
        <p:nvSpPr>
          <p:cNvPr id="14" name="Text 12"/>
          <p:cNvSpPr/>
          <p:nvPr/>
        </p:nvSpPr>
        <p:spPr>
          <a:xfrm>
            <a:off x="5074920" y="2377440"/>
            <a:ext cx="1371600" cy="320040"/>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Kubernetes</a:t>
            </a:r>
            <a:endParaRPr lang="en-US" sz="1300" dirty="0"/>
          </a:p>
        </p:txBody>
      </p:sp>
      <p:sp>
        <p:nvSpPr>
          <p:cNvPr id="15" name="Text 13"/>
          <p:cNvSpPr/>
          <p:nvPr/>
        </p:nvSpPr>
        <p:spPr>
          <a:xfrm>
            <a:off x="6675120" y="2395728"/>
            <a:ext cx="1371600" cy="274320"/>
          </a:xfrm>
          <a:prstGeom prst="rect">
            <a:avLst/>
          </a:prstGeom>
          <a:noFill/>
          <a:ln/>
        </p:spPr>
        <p:txBody>
          <a:bodyPr wrap="square" lIns="0" tIns="0" rIns="0" bIns="0" rtlCol="0" anchor="ctr"/>
          <a:lstStyle/>
          <a:p>
            <a:pPr marL="0" indent="0" algn="r">
              <a:buNone/>
            </a:pPr>
            <a:r>
              <a:rPr lang="en-US" sz="900" b="1" dirty="0">
                <a:solidFill>
                  <a:srgbClr val="64748B"/>
                </a:solidFill>
                <a:latin typeface="Calibri" pitchFamily="34" charset="0"/>
                <a:ea typeface="Calibri" pitchFamily="34" charset="-122"/>
                <a:cs typeface="Calibri" pitchFamily="34" charset="-120"/>
              </a:rPr>
              <a:t>Wrap existing</a:t>
            </a:r>
            <a:endParaRPr lang="en-US" sz="900" dirty="0"/>
          </a:p>
        </p:txBody>
      </p:sp>
      <p:sp>
        <p:nvSpPr>
          <p:cNvPr id="16" name="Text 14"/>
          <p:cNvSpPr/>
          <p:nvPr/>
        </p:nvSpPr>
        <p:spPr>
          <a:xfrm>
            <a:off x="5074920" y="2670048"/>
            <a:ext cx="32004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kubectl, events, logs</a:t>
            </a:r>
            <a:endParaRPr lang="en-US" sz="1000" dirty="0"/>
          </a:p>
        </p:txBody>
      </p:sp>
      <p:sp>
        <p:nvSpPr>
          <p:cNvPr id="17" name="Shape 15"/>
          <p:cNvSpPr/>
          <p:nvPr/>
        </p:nvSpPr>
        <p:spPr>
          <a:xfrm>
            <a:off x="4937760" y="3108960"/>
            <a:ext cx="3566160" cy="594360"/>
          </a:xfrm>
          <a:prstGeom prst="rect">
            <a:avLst/>
          </a:prstGeom>
          <a:solidFill>
            <a:srgbClr val="F0F9FF"/>
          </a:solidFill>
          <a:ln/>
        </p:spPr>
        <p:txBody>
          <a:bodyPr/>
          <a:lstStyle/>
          <a:p>
            <a:endParaRPr lang="en-CN"/>
          </a:p>
        </p:txBody>
      </p:sp>
      <p:sp>
        <p:nvSpPr>
          <p:cNvPr id="18" name="Text 16"/>
          <p:cNvSpPr/>
          <p:nvPr/>
        </p:nvSpPr>
        <p:spPr>
          <a:xfrm>
            <a:off x="5074920" y="3108960"/>
            <a:ext cx="1371600" cy="320040"/>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Datadog</a:t>
            </a:r>
            <a:endParaRPr lang="en-US" sz="1300" dirty="0"/>
          </a:p>
        </p:txBody>
      </p:sp>
      <p:sp>
        <p:nvSpPr>
          <p:cNvPr id="19" name="Text 17"/>
          <p:cNvSpPr/>
          <p:nvPr/>
        </p:nvSpPr>
        <p:spPr>
          <a:xfrm>
            <a:off x="6675120" y="3127248"/>
            <a:ext cx="1371600" cy="274320"/>
          </a:xfrm>
          <a:prstGeom prst="rect">
            <a:avLst/>
          </a:prstGeom>
          <a:noFill/>
          <a:ln/>
        </p:spPr>
        <p:txBody>
          <a:bodyPr wrap="square" lIns="0" tIns="0" rIns="0" bIns="0" rtlCol="0" anchor="ctr"/>
          <a:lstStyle/>
          <a:p>
            <a:pPr marL="0" indent="0" algn="r">
              <a:buNone/>
            </a:pPr>
            <a:r>
              <a:rPr lang="en-US" sz="900" b="1" dirty="0">
                <a:solidFill>
                  <a:srgbClr val="0891B2"/>
                </a:solidFill>
                <a:latin typeface="Calibri" pitchFamily="34" charset="0"/>
                <a:ea typeface="Calibri" pitchFamily="34" charset="-122"/>
                <a:cs typeface="Calibri" pitchFamily="34" charset="-120"/>
              </a:rPr>
              <a:t>New</a:t>
            </a:r>
            <a:endParaRPr lang="en-US" sz="900" dirty="0"/>
          </a:p>
        </p:txBody>
      </p:sp>
      <p:sp>
        <p:nvSpPr>
          <p:cNvPr id="20" name="Text 18"/>
          <p:cNvSpPr/>
          <p:nvPr/>
        </p:nvSpPr>
        <p:spPr>
          <a:xfrm>
            <a:off x="5074920" y="3401568"/>
            <a:ext cx="32004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Metrics, logs, monitors, events</a:t>
            </a:r>
            <a:endParaRPr lang="en-US" sz="1000" dirty="0"/>
          </a:p>
        </p:txBody>
      </p:sp>
      <p:sp>
        <p:nvSpPr>
          <p:cNvPr id="21" name="Shape 19"/>
          <p:cNvSpPr/>
          <p:nvPr/>
        </p:nvSpPr>
        <p:spPr>
          <a:xfrm>
            <a:off x="4937760" y="3840480"/>
            <a:ext cx="3566160" cy="594360"/>
          </a:xfrm>
          <a:prstGeom prst="rect">
            <a:avLst/>
          </a:prstGeom>
          <a:solidFill>
            <a:srgbClr val="F0F9FF"/>
          </a:solidFill>
          <a:ln/>
        </p:spPr>
        <p:txBody>
          <a:bodyPr/>
          <a:lstStyle/>
          <a:p>
            <a:endParaRPr lang="en-CN"/>
          </a:p>
        </p:txBody>
      </p:sp>
      <p:sp>
        <p:nvSpPr>
          <p:cNvPr id="22" name="Text 20"/>
          <p:cNvSpPr/>
          <p:nvPr/>
        </p:nvSpPr>
        <p:spPr>
          <a:xfrm>
            <a:off x="5074920" y="3840480"/>
            <a:ext cx="1371600" cy="320040"/>
          </a:xfrm>
          <a:prstGeom prst="rect">
            <a:avLst/>
          </a:prstGeom>
          <a:noFill/>
          <a:ln/>
        </p:spPr>
        <p:txBody>
          <a:bodyPr wrap="square" lIns="0" tIns="0" rIns="0" bIns="0" rtlCol="0" anchor="ctr"/>
          <a:lstStyle/>
          <a:p>
            <a:pPr marL="0" indent="0">
              <a:buNone/>
            </a:pPr>
            <a:r>
              <a:rPr lang="en-US" sz="1300" b="1" dirty="0">
                <a:solidFill>
                  <a:srgbClr val="1E293B"/>
                </a:solidFill>
                <a:latin typeface="Georgia" pitchFamily="34" charset="0"/>
                <a:ea typeface="Georgia" pitchFamily="34" charset="-122"/>
                <a:cs typeface="Georgia" pitchFamily="34" charset="-120"/>
              </a:rPr>
              <a:t>Prometheus</a:t>
            </a:r>
            <a:endParaRPr lang="en-US" sz="1300" dirty="0"/>
          </a:p>
        </p:txBody>
      </p:sp>
      <p:sp>
        <p:nvSpPr>
          <p:cNvPr id="23" name="Text 21"/>
          <p:cNvSpPr/>
          <p:nvPr/>
        </p:nvSpPr>
        <p:spPr>
          <a:xfrm>
            <a:off x="6675120" y="3858768"/>
            <a:ext cx="1371600" cy="274320"/>
          </a:xfrm>
          <a:prstGeom prst="rect">
            <a:avLst/>
          </a:prstGeom>
          <a:noFill/>
          <a:ln/>
        </p:spPr>
        <p:txBody>
          <a:bodyPr wrap="square" lIns="0" tIns="0" rIns="0" bIns="0" rtlCol="0" anchor="ctr"/>
          <a:lstStyle/>
          <a:p>
            <a:pPr marL="0" indent="0" algn="r">
              <a:buNone/>
            </a:pPr>
            <a:r>
              <a:rPr lang="en-US" sz="900" b="1" dirty="0">
                <a:solidFill>
                  <a:srgbClr val="0891B2"/>
                </a:solidFill>
                <a:latin typeface="Calibri" pitchFamily="34" charset="0"/>
                <a:ea typeface="Calibri" pitchFamily="34" charset="-122"/>
                <a:cs typeface="Calibri" pitchFamily="34" charset="-120"/>
              </a:rPr>
              <a:t>New</a:t>
            </a:r>
            <a:endParaRPr lang="en-US" sz="900" dirty="0"/>
          </a:p>
        </p:txBody>
      </p:sp>
      <p:sp>
        <p:nvSpPr>
          <p:cNvPr id="24" name="Text 22"/>
          <p:cNvSpPr/>
          <p:nvPr/>
        </p:nvSpPr>
        <p:spPr>
          <a:xfrm>
            <a:off x="5074920" y="4133088"/>
            <a:ext cx="32004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PromQL queries, alerts, targets</a:t>
            </a:r>
            <a:endParaRPr lang="en-US" sz="1000" dirty="0"/>
          </a:p>
        </p:txBody>
      </p:sp>
      <p:sp>
        <p:nvSpPr>
          <p:cNvPr id="25" name="Text 23"/>
          <p:cNvSpPr/>
          <p:nvPr/>
        </p:nvSpPr>
        <p:spPr>
          <a:xfrm>
            <a:off x="4937760" y="4572000"/>
            <a:ext cx="3566160" cy="18288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config/connectors.yaml (gitignored, admin-managed)</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lIns="0" tIns="0" rIns="0" bIns="0" rtlCol="0" anchor="ctr"/>
          <a:lstStyle/>
          <a:p>
            <a:pPr marL="0" indent="0">
              <a:buNone/>
            </a:pPr>
            <a:r>
              <a:rPr lang="en-US" sz="2800" b="1" dirty="0">
                <a:solidFill>
                  <a:srgbClr val="0F2B46"/>
                </a:solidFill>
                <a:latin typeface="Georgia" pitchFamily="34" charset="0"/>
                <a:ea typeface="Georgia" pitchFamily="34" charset="-122"/>
                <a:cs typeface="Georgia" pitchFamily="34" charset="-120"/>
              </a:rPr>
              <a:t>Phase 1: Prompt Optimization Engine</a:t>
            </a:r>
            <a:endParaRPr lang="en-US" sz="2800" dirty="0"/>
          </a:p>
        </p:txBody>
      </p:sp>
      <p:sp>
        <p:nvSpPr>
          <p:cNvPr id="3" name="Text 1"/>
          <p:cNvSpPr/>
          <p:nvPr/>
        </p:nvSpPr>
        <p:spPr>
          <a:xfrm>
            <a:off x="731520" y="822960"/>
            <a:ext cx="7315200" cy="274320"/>
          </a:xfrm>
          <a:prstGeom prst="rect">
            <a:avLst/>
          </a:prstGeom>
          <a:noFill/>
          <a:ln/>
        </p:spPr>
        <p:txBody>
          <a:bodyPr wrap="square" lIns="0" tIns="0" rIns="0" bIns="0" rtlCol="0" anchor="ctr"/>
          <a:lstStyle/>
          <a:p>
            <a:pPr marL="0" indent="0">
              <a:buNone/>
            </a:pPr>
            <a:r>
              <a:rPr lang="en-US" sz="1200" dirty="0">
                <a:solidFill>
                  <a:srgbClr val="0891B2"/>
                </a:solidFill>
                <a:latin typeface="Calibri" pitchFamily="34" charset="0"/>
                <a:ea typeface="Calibri" pitchFamily="34" charset="-122"/>
                <a:cs typeface="Calibri" pitchFamily="34" charset="-120"/>
              </a:rPr>
              <a:t>Based on eARCO (Microsoft): Prompt &gt; RAG &gt; Fine-tuning, +21% accuracy on 180K incidents</a:t>
            </a:r>
            <a:endParaRPr lang="en-US" sz="1200" dirty="0"/>
          </a:p>
        </p:txBody>
      </p:sp>
      <p:sp>
        <p:nvSpPr>
          <p:cNvPr id="4" name="Shape 2"/>
          <p:cNvSpPr/>
          <p:nvPr/>
        </p:nvSpPr>
        <p:spPr>
          <a:xfrm>
            <a:off x="457200" y="1371600"/>
            <a:ext cx="1920240" cy="1645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5" name="Shape 3"/>
          <p:cNvSpPr/>
          <p:nvPr/>
        </p:nvSpPr>
        <p:spPr>
          <a:xfrm>
            <a:off x="457200" y="1371600"/>
            <a:ext cx="1920240" cy="502920"/>
          </a:xfrm>
          <a:prstGeom prst="rect">
            <a:avLst/>
          </a:prstGeom>
          <a:solidFill>
            <a:srgbClr val="0891B2"/>
          </a:solidFill>
          <a:ln/>
        </p:spPr>
        <p:txBody>
          <a:bodyPr/>
          <a:lstStyle/>
          <a:p>
            <a:endParaRPr lang="en-CN"/>
          </a:p>
        </p:txBody>
      </p:sp>
      <p:sp>
        <p:nvSpPr>
          <p:cNvPr id="6" name="Text 4"/>
          <p:cNvSpPr/>
          <p:nvPr/>
        </p:nvSpPr>
        <p:spPr>
          <a:xfrm>
            <a:off x="457200" y="1389888"/>
            <a:ext cx="19202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Alert</a:t>
            </a:r>
            <a:endParaRPr lang="en-US" sz="1200" dirty="0"/>
          </a:p>
          <a:p>
            <a:pPr marL="0" indent="0" algn="ctr">
              <a:buNone/>
            </a:pPr>
            <a:r>
              <a:rPr lang="en-US" sz="1200" b="1" dirty="0">
                <a:solidFill>
                  <a:srgbClr val="FFFFFF"/>
                </a:solidFill>
                <a:latin typeface="Georgia" pitchFamily="34" charset="0"/>
                <a:ea typeface="Georgia" pitchFamily="34" charset="-122"/>
                <a:cs typeface="Georgia" pitchFamily="34" charset="-120"/>
              </a:rPr>
              <a:t>Classifier</a:t>
            </a:r>
            <a:endParaRPr lang="en-US" sz="1200" dirty="0"/>
          </a:p>
        </p:txBody>
      </p:sp>
      <p:sp>
        <p:nvSpPr>
          <p:cNvPr id="7" name="Text 5"/>
          <p:cNvSpPr/>
          <p:nvPr/>
        </p:nvSpPr>
        <p:spPr>
          <a:xfrm>
            <a:off x="566928" y="1965960"/>
            <a:ext cx="1691640" cy="9144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Alert text</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&gt; Category</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&gt; Pattern label</a:t>
            </a:r>
            <a:endParaRPr lang="en-US" sz="1000" dirty="0"/>
          </a:p>
        </p:txBody>
      </p:sp>
      <p:sp>
        <p:nvSpPr>
          <p:cNvPr id="8" name="Text 6"/>
          <p:cNvSpPr/>
          <p:nvPr/>
        </p:nvSpPr>
        <p:spPr>
          <a:xfrm>
            <a:off x="2331720" y="1920240"/>
            <a:ext cx="320040" cy="365760"/>
          </a:xfrm>
          <a:prstGeom prst="rect">
            <a:avLst/>
          </a:prstGeom>
          <a:noFill/>
          <a:ln/>
        </p:spPr>
        <p:txBody>
          <a:bodyPr wrap="square" lIns="0" tIns="0" rIns="0" bIns="0" rtlCol="0" anchor="ctr"/>
          <a:lstStyle/>
          <a:p>
            <a:pPr marL="0" indent="0" algn="ctr">
              <a:buNone/>
            </a:pPr>
            <a:r>
              <a:rPr lang="en-US" sz="2000" dirty="0">
                <a:solidFill>
                  <a:srgbClr val="0891B2"/>
                </a:solidFill>
                <a:latin typeface="Calibri" pitchFamily="34" charset="0"/>
                <a:ea typeface="Calibri" pitchFamily="34" charset="-122"/>
                <a:cs typeface="Calibri" pitchFamily="34" charset="-120"/>
              </a:rPr>
              <a:t>&gt;</a:t>
            </a:r>
            <a:endParaRPr lang="en-US" sz="2000" dirty="0"/>
          </a:p>
        </p:txBody>
      </p:sp>
      <p:sp>
        <p:nvSpPr>
          <p:cNvPr id="9" name="Shape 7"/>
          <p:cNvSpPr/>
          <p:nvPr/>
        </p:nvSpPr>
        <p:spPr>
          <a:xfrm>
            <a:off x="2606040" y="1371600"/>
            <a:ext cx="1920240" cy="1645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10" name="Shape 8"/>
          <p:cNvSpPr/>
          <p:nvPr/>
        </p:nvSpPr>
        <p:spPr>
          <a:xfrm>
            <a:off x="2606040" y="1371600"/>
            <a:ext cx="1920240" cy="502920"/>
          </a:xfrm>
          <a:prstGeom prst="rect">
            <a:avLst/>
          </a:prstGeom>
          <a:solidFill>
            <a:srgbClr val="0891B2"/>
          </a:solidFill>
          <a:ln/>
        </p:spPr>
        <p:txBody>
          <a:bodyPr/>
          <a:lstStyle/>
          <a:p>
            <a:endParaRPr lang="en-CN"/>
          </a:p>
        </p:txBody>
      </p:sp>
      <p:sp>
        <p:nvSpPr>
          <p:cNvPr id="11" name="Text 9"/>
          <p:cNvSpPr/>
          <p:nvPr/>
        </p:nvSpPr>
        <p:spPr>
          <a:xfrm>
            <a:off x="2606040" y="1389888"/>
            <a:ext cx="19202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Strategy</a:t>
            </a:r>
            <a:endParaRPr lang="en-US" sz="1200" dirty="0"/>
          </a:p>
          <a:p>
            <a:pPr marL="0" indent="0" algn="ctr">
              <a:buNone/>
            </a:pPr>
            <a:r>
              <a:rPr lang="en-US" sz="1200" b="1" dirty="0">
                <a:solidFill>
                  <a:srgbClr val="FFFFFF"/>
                </a:solidFill>
                <a:latin typeface="Georgia" pitchFamily="34" charset="0"/>
                <a:ea typeface="Georgia" pitchFamily="34" charset="-122"/>
                <a:cs typeface="Georgia" pitchFamily="34" charset="-120"/>
              </a:rPr>
              <a:t>Selector</a:t>
            </a:r>
            <a:endParaRPr lang="en-US" sz="1200" dirty="0"/>
          </a:p>
        </p:txBody>
      </p:sp>
      <p:sp>
        <p:nvSpPr>
          <p:cNvPr id="12" name="Text 10"/>
          <p:cNvSpPr/>
          <p:nvPr/>
        </p:nvSpPr>
        <p:spPr>
          <a:xfrm>
            <a:off x="2715768" y="1965960"/>
            <a:ext cx="1691640" cy="9144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Pattern</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&gt; Wisdom lookup</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&gt; Default fallback</a:t>
            </a:r>
            <a:endParaRPr lang="en-US" sz="1000" dirty="0"/>
          </a:p>
        </p:txBody>
      </p:sp>
      <p:sp>
        <p:nvSpPr>
          <p:cNvPr id="13" name="Text 11"/>
          <p:cNvSpPr/>
          <p:nvPr/>
        </p:nvSpPr>
        <p:spPr>
          <a:xfrm>
            <a:off x="4480560" y="1920240"/>
            <a:ext cx="320040" cy="365760"/>
          </a:xfrm>
          <a:prstGeom prst="rect">
            <a:avLst/>
          </a:prstGeom>
          <a:noFill/>
          <a:ln/>
        </p:spPr>
        <p:txBody>
          <a:bodyPr wrap="square" lIns="0" tIns="0" rIns="0" bIns="0" rtlCol="0" anchor="ctr"/>
          <a:lstStyle/>
          <a:p>
            <a:pPr marL="0" indent="0" algn="ctr">
              <a:buNone/>
            </a:pPr>
            <a:r>
              <a:rPr lang="en-US" sz="2000" dirty="0">
                <a:solidFill>
                  <a:srgbClr val="0891B2"/>
                </a:solidFill>
                <a:latin typeface="Calibri" pitchFamily="34" charset="0"/>
                <a:ea typeface="Calibri" pitchFamily="34" charset="-122"/>
                <a:cs typeface="Calibri" pitchFamily="34" charset="-120"/>
              </a:rPr>
              <a:t>&gt;</a:t>
            </a:r>
            <a:endParaRPr lang="en-US" sz="2000" dirty="0"/>
          </a:p>
        </p:txBody>
      </p:sp>
      <p:sp>
        <p:nvSpPr>
          <p:cNvPr id="14" name="Shape 12"/>
          <p:cNvSpPr/>
          <p:nvPr/>
        </p:nvSpPr>
        <p:spPr>
          <a:xfrm>
            <a:off x="4754880" y="1371600"/>
            <a:ext cx="1920240" cy="1645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15" name="Shape 13"/>
          <p:cNvSpPr/>
          <p:nvPr/>
        </p:nvSpPr>
        <p:spPr>
          <a:xfrm>
            <a:off x="4754880" y="1371600"/>
            <a:ext cx="1920240" cy="502920"/>
          </a:xfrm>
          <a:prstGeom prst="rect">
            <a:avLst/>
          </a:prstGeom>
          <a:solidFill>
            <a:srgbClr val="0891B2"/>
          </a:solidFill>
          <a:ln/>
        </p:spPr>
        <p:txBody>
          <a:bodyPr/>
          <a:lstStyle/>
          <a:p>
            <a:endParaRPr lang="en-CN"/>
          </a:p>
        </p:txBody>
      </p:sp>
      <p:sp>
        <p:nvSpPr>
          <p:cNvPr id="16" name="Text 14"/>
          <p:cNvSpPr/>
          <p:nvPr/>
        </p:nvSpPr>
        <p:spPr>
          <a:xfrm>
            <a:off x="4754880" y="1389888"/>
            <a:ext cx="19202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Few-Shot</a:t>
            </a:r>
            <a:endParaRPr lang="en-US" sz="1200" dirty="0"/>
          </a:p>
          <a:p>
            <a:pPr marL="0" indent="0" algn="ctr">
              <a:buNone/>
            </a:pPr>
            <a:r>
              <a:rPr lang="en-US" sz="1200" b="1" dirty="0">
                <a:solidFill>
                  <a:srgbClr val="FFFFFF"/>
                </a:solidFill>
                <a:latin typeface="Georgia" pitchFamily="34" charset="0"/>
                <a:ea typeface="Georgia" pitchFamily="34" charset="-122"/>
                <a:cs typeface="Georgia" pitchFamily="34" charset="-120"/>
              </a:rPr>
              <a:t>Retriever</a:t>
            </a:r>
            <a:endParaRPr lang="en-US" sz="1200" dirty="0"/>
          </a:p>
        </p:txBody>
      </p:sp>
      <p:sp>
        <p:nvSpPr>
          <p:cNvPr id="17" name="Text 15"/>
          <p:cNvSpPr/>
          <p:nvPr/>
        </p:nvSpPr>
        <p:spPr>
          <a:xfrm>
            <a:off x="4864608" y="1965960"/>
            <a:ext cx="1691640" cy="9144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Category</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&gt; KB vector search</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&gt; Top-K cases</a:t>
            </a:r>
            <a:endParaRPr lang="en-US" sz="1000" dirty="0"/>
          </a:p>
        </p:txBody>
      </p:sp>
      <p:sp>
        <p:nvSpPr>
          <p:cNvPr id="18" name="Text 16"/>
          <p:cNvSpPr/>
          <p:nvPr/>
        </p:nvSpPr>
        <p:spPr>
          <a:xfrm>
            <a:off x="6629400" y="1920240"/>
            <a:ext cx="320040" cy="365760"/>
          </a:xfrm>
          <a:prstGeom prst="rect">
            <a:avLst/>
          </a:prstGeom>
          <a:noFill/>
          <a:ln/>
        </p:spPr>
        <p:txBody>
          <a:bodyPr wrap="square" lIns="0" tIns="0" rIns="0" bIns="0" rtlCol="0" anchor="ctr"/>
          <a:lstStyle/>
          <a:p>
            <a:pPr marL="0" indent="0" algn="ctr">
              <a:buNone/>
            </a:pPr>
            <a:r>
              <a:rPr lang="en-US" sz="2000" dirty="0">
                <a:solidFill>
                  <a:srgbClr val="0891B2"/>
                </a:solidFill>
                <a:latin typeface="Calibri" pitchFamily="34" charset="0"/>
                <a:ea typeface="Calibri" pitchFamily="34" charset="-122"/>
                <a:cs typeface="Calibri" pitchFamily="34" charset="-120"/>
              </a:rPr>
              <a:t>&gt;</a:t>
            </a:r>
            <a:endParaRPr lang="en-US" sz="2000" dirty="0"/>
          </a:p>
        </p:txBody>
      </p:sp>
      <p:sp>
        <p:nvSpPr>
          <p:cNvPr id="19" name="Shape 17"/>
          <p:cNvSpPr/>
          <p:nvPr/>
        </p:nvSpPr>
        <p:spPr>
          <a:xfrm>
            <a:off x="6903720" y="1371600"/>
            <a:ext cx="1920240" cy="1645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20" name="Shape 18"/>
          <p:cNvSpPr/>
          <p:nvPr/>
        </p:nvSpPr>
        <p:spPr>
          <a:xfrm>
            <a:off x="6903720" y="1371600"/>
            <a:ext cx="1920240" cy="502920"/>
          </a:xfrm>
          <a:prstGeom prst="rect">
            <a:avLst/>
          </a:prstGeom>
          <a:solidFill>
            <a:srgbClr val="0891B2"/>
          </a:solidFill>
          <a:ln/>
        </p:spPr>
        <p:txBody>
          <a:bodyPr/>
          <a:lstStyle/>
          <a:p>
            <a:endParaRPr lang="en-CN"/>
          </a:p>
        </p:txBody>
      </p:sp>
      <p:sp>
        <p:nvSpPr>
          <p:cNvPr id="21" name="Text 19"/>
          <p:cNvSpPr/>
          <p:nvPr/>
        </p:nvSpPr>
        <p:spPr>
          <a:xfrm>
            <a:off x="6903720" y="1389888"/>
            <a:ext cx="19202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Prompt</a:t>
            </a:r>
            <a:endParaRPr lang="en-US" sz="1200" dirty="0"/>
          </a:p>
          <a:p>
            <a:pPr marL="0" indent="0" algn="ctr">
              <a:buNone/>
            </a:pPr>
            <a:r>
              <a:rPr lang="en-US" sz="1200" b="1" dirty="0">
                <a:solidFill>
                  <a:srgbClr val="FFFFFF"/>
                </a:solidFill>
                <a:latin typeface="Georgia" pitchFamily="34" charset="0"/>
                <a:ea typeface="Georgia" pitchFamily="34" charset="-122"/>
                <a:cs typeface="Georgia" pitchFamily="34" charset="-120"/>
              </a:rPr>
              <a:t>Assembler</a:t>
            </a:r>
            <a:endParaRPr lang="en-US" sz="1200" dirty="0"/>
          </a:p>
        </p:txBody>
      </p:sp>
      <p:sp>
        <p:nvSpPr>
          <p:cNvPr id="22" name="Text 20"/>
          <p:cNvSpPr/>
          <p:nvPr/>
        </p:nvSpPr>
        <p:spPr>
          <a:xfrm>
            <a:off x="7013448" y="1965960"/>
            <a:ext cx="1691640" cy="9144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Strategy + Cases</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 Service context</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&gt; 3000 token budget</a:t>
            </a:r>
            <a:endParaRPr lang="en-US" sz="1000" dirty="0"/>
          </a:p>
        </p:txBody>
      </p:sp>
      <p:sp>
        <p:nvSpPr>
          <p:cNvPr id="23" name="Shape 21"/>
          <p:cNvSpPr/>
          <p:nvPr/>
        </p:nvSpPr>
        <p:spPr>
          <a:xfrm>
            <a:off x="457200" y="3291840"/>
            <a:ext cx="3931920" cy="1463040"/>
          </a:xfrm>
          <a:prstGeom prst="rect">
            <a:avLst/>
          </a:prstGeom>
          <a:solidFill>
            <a:srgbClr val="FEF2F2"/>
          </a:solidFill>
          <a:ln/>
          <a:effectLst>
            <a:outerShdw blurRad="76200" dist="25400" dir="8100000" algn="bl" rotWithShape="0">
              <a:srgbClr val="000000">
                <a:alpha val="10000"/>
              </a:srgbClr>
            </a:outerShdw>
          </a:effectLst>
        </p:spPr>
        <p:txBody>
          <a:bodyPr/>
          <a:lstStyle/>
          <a:p>
            <a:endParaRPr lang="en-CN"/>
          </a:p>
        </p:txBody>
      </p:sp>
      <p:sp>
        <p:nvSpPr>
          <p:cNvPr id="24" name="Text 22"/>
          <p:cNvSpPr/>
          <p:nvPr/>
        </p:nvSpPr>
        <p:spPr>
          <a:xfrm>
            <a:off x="594360" y="3337560"/>
            <a:ext cx="3657600" cy="274320"/>
          </a:xfrm>
          <a:prstGeom prst="rect">
            <a:avLst/>
          </a:prstGeom>
          <a:noFill/>
          <a:ln/>
        </p:spPr>
        <p:txBody>
          <a:bodyPr wrap="square" lIns="0" tIns="0" rIns="0" bIns="0" rtlCol="0" anchor="ctr"/>
          <a:lstStyle/>
          <a:p>
            <a:pPr marL="0" indent="0">
              <a:buNone/>
            </a:pPr>
            <a:r>
              <a:rPr lang="en-US" sz="1100" b="1" dirty="0">
                <a:solidFill>
                  <a:srgbClr val="DC2626"/>
                </a:solidFill>
                <a:latin typeface="Georgia" pitchFamily="34" charset="0"/>
                <a:ea typeface="Georgia" pitchFamily="34" charset="-122"/>
                <a:cs typeface="Georgia" pitchFamily="34" charset="-120"/>
              </a:rPr>
              <a:t>BEFORE (hand-written prompt)</a:t>
            </a:r>
            <a:endParaRPr lang="en-US" sz="1100" dirty="0"/>
          </a:p>
        </p:txBody>
      </p:sp>
      <p:sp>
        <p:nvSpPr>
          <p:cNvPr id="25" name="Text 23"/>
          <p:cNvSpPr/>
          <p:nvPr/>
        </p:nvSpPr>
        <p:spPr>
          <a:xfrm>
            <a:off x="594360" y="3611880"/>
            <a:ext cx="3657600" cy="91440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"You are an AIOps expert. Analyze this alert."</a:t>
            </a:r>
            <a:endParaRPr lang="en-US" sz="1000" dirty="0"/>
          </a:p>
          <a:p>
            <a:pPr marL="0" indent="0">
              <a:buNone/>
            </a:pPr>
            <a:r>
              <a:rPr lang="en-US" sz="1000" i="1" dirty="0">
                <a:solidFill>
                  <a:srgbClr val="1E293B"/>
                </a:solidFill>
                <a:latin typeface="Calibri" pitchFamily="34" charset="0"/>
                <a:ea typeface="Calibri" pitchFamily="34" charset="-122"/>
                <a:cs typeface="Calibri" pitchFamily="34" charset="-120"/>
              </a:rPr>
              <a:t>&gt; Agent wanders, checks random metrics, slow</a:t>
            </a:r>
            <a:endParaRPr lang="en-US" sz="1000" dirty="0"/>
          </a:p>
        </p:txBody>
      </p:sp>
      <p:sp>
        <p:nvSpPr>
          <p:cNvPr id="26" name="Shape 24"/>
          <p:cNvSpPr/>
          <p:nvPr/>
        </p:nvSpPr>
        <p:spPr>
          <a:xfrm>
            <a:off x="4754880" y="3291840"/>
            <a:ext cx="3931920" cy="1463040"/>
          </a:xfrm>
          <a:prstGeom prst="rect">
            <a:avLst/>
          </a:prstGeom>
          <a:solidFill>
            <a:srgbClr val="F0FDF4"/>
          </a:solidFill>
          <a:ln/>
          <a:effectLst>
            <a:outerShdw blurRad="76200" dist="25400" dir="8100000" algn="bl" rotWithShape="0">
              <a:srgbClr val="000000">
                <a:alpha val="10000"/>
              </a:srgbClr>
            </a:outerShdw>
          </a:effectLst>
        </p:spPr>
        <p:txBody>
          <a:bodyPr/>
          <a:lstStyle/>
          <a:p>
            <a:endParaRPr lang="en-CN"/>
          </a:p>
        </p:txBody>
      </p:sp>
      <p:sp>
        <p:nvSpPr>
          <p:cNvPr id="27" name="Text 25"/>
          <p:cNvSpPr/>
          <p:nvPr/>
        </p:nvSpPr>
        <p:spPr>
          <a:xfrm>
            <a:off x="4892040" y="3337560"/>
            <a:ext cx="3657600" cy="274320"/>
          </a:xfrm>
          <a:prstGeom prst="rect">
            <a:avLst/>
          </a:prstGeom>
          <a:noFill/>
          <a:ln/>
        </p:spPr>
        <p:txBody>
          <a:bodyPr wrap="square" lIns="0" tIns="0" rIns="0" bIns="0" rtlCol="0" anchor="ctr"/>
          <a:lstStyle/>
          <a:p>
            <a:pPr marL="0" indent="0">
              <a:buNone/>
            </a:pPr>
            <a:r>
              <a:rPr lang="en-US" sz="1100" b="1" dirty="0">
                <a:solidFill>
                  <a:srgbClr val="059669"/>
                </a:solidFill>
                <a:latin typeface="Georgia" pitchFamily="34" charset="0"/>
                <a:ea typeface="Georgia" pitchFamily="34" charset="-122"/>
                <a:cs typeface="Georgia" pitchFamily="34" charset="-120"/>
              </a:rPr>
              <a:t>AFTER (optimized prompt)</a:t>
            </a:r>
            <a:endParaRPr lang="en-US" sz="1100" dirty="0"/>
          </a:p>
        </p:txBody>
      </p:sp>
      <p:sp>
        <p:nvSpPr>
          <p:cNvPr id="28" name="Text 26"/>
          <p:cNvSpPr/>
          <p:nvPr/>
        </p:nvSpPr>
        <p:spPr>
          <a:xfrm>
            <a:off x="4892040" y="3611880"/>
            <a:ext cx="3657600" cy="914400"/>
          </a:xfrm>
          <a:prstGeom prst="rect">
            <a:avLst/>
          </a:prstGeom>
          <a:noFill/>
          <a:ln/>
        </p:spPr>
        <p:txBody>
          <a:bodyPr wrap="square" lIns="0" tIns="0" rIns="0" bIns="0" rtlCol="0" anchor="ctr"/>
          <a:lstStyle/>
          <a:p>
            <a:pPr marL="0" indent="0">
              <a:buNone/>
            </a:pPr>
            <a:r>
              <a:rPr lang="en-US" sz="1000" i="1" dirty="0">
                <a:solidFill>
                  <a:srgbClr val="1E293B"/>
                </a:solidFill>
                <a:latin typeface="Calibri" pitchFamily="34" charset="0"/>
                <a:ea typeface="Calibri" pitchFamily="34" charset="-122"/>
                <a:cs typeface="Calibri" pitchFamily="34" charset="-120"/>
              </a:rPr>
              <a:t>"ALB 5xx on payment-service. Historical: 85%</a:t>
            </a:r>
            <a:endParaRPr lang="en-US" sz="1000" dirty="0"/>
          </a:p>
          <a:p>
            <a:pPr marL="0" indent="0">
              <a:buNone/>
            </a:pPr>
            <a:r>
              <a:rPr lang="en-US" sz="1000" i="1" dirty="0">
                <a:solidFill>
                  <a:srgbClr val="1E293B"/>
                </a:solidFill>
                <a:latin typeface="Calibri" pitchFamily="34" charset="0"/>
                <a:ea typeface="Calibri" pitchFamily="34" charset="-122"/>
                <a:cs typeface="Calibri" pitchFamily="34" charset="-120"/>
              </a:rPr>
              <a:t>deployment-related. Steps: 1) CloudTrail 2) ECS</a:t>
            </a:r>
            <a:endParaRPr lang="en-US" sz="1000" dirty="0"/>
          </a:p>
          <a:p>
            <a:pPr marL="0" indent="0">
              <a:buNone/>
            </a:pPr>
            <a:r>
              <a:rPr lang="en-US" sz="1000" i="1" dirty="0">
                <a:solidFill>
                  <a:srgbClr val="1E293B"/>
                </a:solidFill>
                <a:latin typeface="Calibri" pitchFamily="34" charset="0"/>
                <a:ea typeface="Calibri" pitchFamily="34" charset="-122"/>
                <a:cs typeface="Calibri" pitchFamily="34" charset="-120"/>
              </a:rPr>
              <a:t>3) Redis. Evidence from 3 past cases attached."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lIns="0" tIns="0" rIns="0" bIns="0" rtlCol="0" anchor="ctr"/>
          <a:lstStyle/>
          <a:p>
            <a:pPr marL="0" indent="0">
              <a:buNone/>
            </a:pPr>
            <a:r>
              <a:rPr lang="en-US" sz="3200" b="1" dirty="0">
                <a:solidFill>
                  <a:srgbClr val="0F2B46"/>
                </a:solidFill>
                <a:latin typeface="Georgia" pitchFamily="34" charset="0"/>
                <a:ea typeface="Georgia" pitchFamily="34" charset="-122"/>
                <a:cs typeface="Georgia" pitchFamily="34" charset="-120"/>
              </a:rPr>
              <a:t>Phase 2: Verification + Learning</a:t>
            </a:r>
            <a:endParaRPr lang="en-US" sz="3200" dirty="0"/>
          </a:p>
        </p:txBody>
      </p:sp>
      <p:sp>
        <p:nvSpPr>
          <p:cNvPr id="3" name="Text 1"/>
          <p:cNvSpPr/>
          <p:nvPr/>
        </p:nvSpPr>
        <p:spPr>
          <a:xfrm>
            <a:off x="731520" y="822960"/>
            <a:ext cx="7315200" cy="320040"/>
          </a:xfrm>
          <a:prstGeom prst="rect">
            <a:avLst/>
          </a:prstGeom>
          <a:noFill/>
          <a:ln/>
        </p:spPr>
        <p:txBody>
          <a:bodyPr wrap="square" lIns="0" tIns="0" rIns="0" bIns="0" rtlCol="0" anchor="ctr"/>
          <a:lstStyle/>
          <a:p>
            <a:pPr marL="0" indent="0">
              <a:buNone/>
            </a:pPr>
            <a:r>
              <a:rPr lang="en-US" sz="1300" dirty="0">
                <a:solidFill>
                  <a:srgbClr val="0E7490"/>
                </a:solidFill>
                <a:latin typeface="Calibri" pitchFamily="34" charset="0"/>
                <a:ea typeface="Calibri" pitchFamily="34" charset="-122"/>
                <a:cs typeface="Calibri" pitchFamily="34" charset="-120"/>
              </a:rPr>
              <a:t>Q3-Q4 2026  |  14 Tasks  |  The Learning Loop</a:t>
            </a:r>
            <a:endParaRPr lang="en-US" sz="1300" dirty="0"/>
          </a:p>
        </p:txBody>
      </p:sp>
      <p:sp>
        <p:nvSpPr>
          <p:cNvPr id="4" name="Shape 2"/>
          <p:cNvSpPr/>
          <p:nvPr/>
        </p:nvSpPr>
        <p:spPr>
          <a:xfrm>
            <a:off x="320040" y="1371600"/>
            <a:ext cx="2697480" cy="3474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5" name="Shape 3"/>
          <p:cNvSpPr/>
          <p:nvPr/>
        </p:nvSpPr>
        <p:spPr>
          <a:xfrm>
            <a:off x="320040" y="1371600"/>
            <a:ext cx="2697480" cy="502920"/>
          </a:xfrm>
          <a:prstGeom prst="rect">
            <a:avLst/>
          </a:prstGeom>
          <a:solidFill>
            <a:srgbClr val="0891B2"/>
          </a:solidFill>
          <a:ln/>
        </p:spPr>
        <p:txBody>
          <a:bodyPr/>
          <a:lstStyle/>
          <a:p>
            <a:endParaRPr lang="en-CN"/>
          </a:p>
        </p:txBody>
      </p:sp>
      <p:sp>
        <p:nvSpPr>
          <p:cNvPr id="6" name="Text 4"/>
          <p:cNvSpPr/>
          <p:nvPr/>
        </p:nvSpPr>
        <p:spPr>
          <a:xfrm>
            <a:off x="320040" y="1389888"/>
            <a:ext cx="26974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PostActionValidator</a:t>
            </a:r>
            <a:endParaRPr lang="en-US" sz="1300" dirty="0"/>
          </a:p>
        </p:txBody>
      </p:sp>
      <p:sp>
        <p:nvSpPr>
          <p:cNvPr id="7" name="Text 5"/>
          <p:cNvSpPr/>
          <p:nvPr/>
        </p:nvSpPr>
        <p:spPr>
          <a:xfrm>
            <a:off x="320040" y="1645920"/>
            <a:ext cx="2697480" cy="20116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3 tasks</a:t>
            </a:r>
            <a:endParaRPr lang="en-US" sz="1000" dirty="0"/>
          </a:p>
        </p:txBody>
      </p:sp>
      <p:sp>
        <p:nvSpPr>
          <p:cNvPr id="8" name="Text 6"/>
          <p:cNvSpPr/>
          <p:nvPr/>
        </p:nvSpPr>
        <p:spPr>
          <a:xfrm>
            <a:off x="457200" y="2011680"/>
            <a:ext cx="2423160" cy="2651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T0 (30s): Command succeeded?</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T1 (2min): Metric improving?</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T2 (5min): Alert cleared?</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T3 (15min): No new alerts?</a:t>
            </a:r>
            <a:endParaRPr lang="en-US" sz="1000" dirty="0"/>
          </a:p>
          <a:p>
            <a:pPr marL="0" indent="0">
              <a:buNone/>
            </a:pP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Verdicts:</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SUCCESS &gt; auto-resolve</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PARTIAL &gt; keep open</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FAILED &gt; rollback to RCA</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UNCERTAIN &gt; human decides</a:t>
            </a:r>
            <a:endParaRPr lang="en-US" sz="1000" dirty="0"/>
          </a:p>
        </p:txBody>
      </p:sp>
      <p:sp>
        <p:nvSpPr>
          <p:cNvPr id="9" name="Shape 7"/>
          <p:cNvSpPr/>
          <p:nvPr/>
        </p:nvSpPr>
        <p:spPr>
          <a:xfrm>
            <a:off x="3200400" y="1371600"/>
            <a:ext cx="2697480" cy="3474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10" name="Shape 8"/>
          <p:cNvSpPr/>
          <p:nvPr/>
        </p:nvSpPr>
        <p:spPr>
          <a:xfrm>
            <a:off x="3200400" y="1371600"/>
            <a:ext cx="2697480" cy="502920"/>
          </a:xfrm>
          <a:prstGeom prst="rect">
            <a:avLst/>
          </a:prstGeom>
          <a:solidFill>
            <a:srgbClr val="0E7490"/>
          </a:solidFill>
          <a:ln/>
        </p:spPr>
        <p:txBody>
          <a:bodyPr/>
          <a:lstStyle/>
          <a:p>
            <a:endParaRPr lang="en-CN"/>
          </a:p>
        </p:txBody>
      </p:sp>
      <p:sp>
        <p:nvSpPr>
          <p:cNvPr id="11" name="Text 9"/>
          <p:cNvSpPr/>
          <p:nvPr/>
        </p:nvSpPr>
        <p:spPr>
          <a:xfrm>
            <a:off x="3200400" y="1389888"/>
            <a:ext cx="26974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Human Review</a:t>
            </a:r>
            <a:endParaRPr lang="en-US" sz="1300" dirty="0"/>
          </a:p>
        </p:txBody>
      </p:sp>
      <p:sp>
        <p:nvSpPr>
          <p:cNvPr id="12" name="Text 10"/>
          <p:cNvSpPr/>
          <p:nvPr/>
        </p:nvSpPr>
        <p:spPr>
          <a:xfrm>
            <a:off x="3200400" y="1645920"/>
            <a:ext cx="2697480" cy="20116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4 tasks</a:t>
            </a:r>
            <a:endParaRPr lang="en-US" sz="1000" dirty="0"/>
          </a:p>
        </p:txBody>
      </p:sp>
      <p:sp>
        <p:nvSpPr>
          <p:cNvPr id="13" name="Text 11"/>
          <p:cNvSpPr/>
          <p:nvPr/>
        </p:nvSpPr>
        <p:spPr>
          <a:xfrm>
            <a:off x="3337560" y="2011680"/>
            <a:ext cx="2423160" cy="2651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3 review points:</a:t>
            </a:r>
            <a:endParaRPr lang="en-US" sz="1000" dirty="0"/>
          </a:p>
          <a:p>
            <a:pPr marL="0" indent="0">
              <a:buNone/>
            </a:pP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1. RCA Review</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   Accurate / Partial / Inaccurate</a:t>
            </a:r>
            <a:endParaRPr lang="en-US" sz="1000" dirty="0"/>
          </a:p>
          <a:p>
            <a:pPr marL="0" indent="0">
              <a:buNone/>
            </a:pP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2. Fix Effectiveness (24h)</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   Resolved / Mitigated / Unresolved</a:t>
            </a:r>
            <a:endParaRPr lang="en-US" sz="1000" dirty="0"/>
          </a:p>
          <a:p>
            <a:pPr marL="0" indent="0">
              <a:buNone/>
            </a:pP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3. Service Model Confirm</a:t>
            </a:r>
            <a:endParaRPr lang="en-US" sz="1000" dirty="0"/>
          </a:p>
          <a:p>
            <a:pPr marL="0" indent="0">
              <a:buNone/>
            </a:pP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One click = one Ground Truth</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Calibration updated incrementally</a:t>
            </a:r>
            <a:endParaRPr lang="en-US" sz="1000" dirty="0"/>
          </a:p>
        </p:txBody>
      </p:sp>
      <p:sp>
        <p:nvSpPr>
          <p:cNvPr id="14" name="Shape 12"/>
          <p:cNvSpPr/>
          <p:nvPr/>
        </p:nvSpPr>
        <p:spPr>
          <a:xfrm>
            <a:off x="6080760" y="1371600"/>
            <a:ext cx="2697480" cy="3474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15" name="Shape 13"/>
          <p:cNvSpPr/>
          <p:nvPr/>
        </p:nvSpPr>
        <p:spPr>
          <a:xfrm>
            <a:off x="6080760" y="1371600"/>
            <a:ext cx="2697480" cy="502920"/>
          </a:xfrm>
          <a:prstGeom prst="rect">
            <a:avLst/>
          </a:prstGeom>
          <a:solidFill>
            <a:srgbClr val="7C3AED"/>
          </a:solidFill>
          <a:ln/>
        </p:spPr>
        <p:txBody>
          <a:bodyPr/>
          <a:lstStyle/>
          <a:p>
            <a:endParaRPr lang="en-CN"/>
          </a:p>
        </p:txBody>
      </p:sp>
      <p:sp>
        <p:nvSpPr>
          <p:cNvPr id="16" name="Text 14"/>
          <p:cNvSpPr/>
          <p:nvPr/>
        </p:nvSpPr>
        <p:spPr>
          <a:xfrm>
            <a:off x="6080760" y="1389888"/>
            <a:ext cx="26974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Wisdom Roadmap</a:t>
            </a:r>
            <a:endParaRPr lang="en-US" sz="1300" dirty="0"/>
          </a:p>
        </p:txBody>
      </p:sp>
      <p:sp>
        <p:nvSpPr>
          <p:cNvPr id="17" name="Text 15"/>
          <p:cNvSpPr/>
          <p:nvPr/>
        </p:nvSpPr>
        <p:spPr>
          <a:xfrm>
            <a:off x="6080760" y="1645920"/>
            <a:ext cx="2697480" cy="20116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5 tasks</a:t>
            </a:r>
            <a:endParaRPr lang="en-US" sz="1000" dirty="0"/>
          </a:p>
        </p:txBody>
      </p:sp>
      <p:sp>
        <p:nvSpPr>
          <p:cNvPr id="18" name="Text 16"/>
          <p:cNvSpPr/>
          <p:nvPr/>
        </p:nvSpPr>
        <p:spPr>
          <a:xfrm>
            <a:off x="6217920" y="2011680"/>
            <a:ext cx="2423160" cy="265176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Pattern &gt; Strategy mapping:</a:t>
            </a:r>
            <a:endParaRPr lang="en-US" sz="1000" dirty="0"/>
          </a:p>
          <a:p>
            <a:pPr marL="0" indent="0">
              <a:buNone/>
            </a:pP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cache_memory_exhaustion</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&gt; check deploys first (85%)</a:t>
            </a:r>
            <a:endParaRPr lang="en-US" sz="1000" dirty="0"/>
          </a:p>
          <a:p>
            <a:pPr marL="0" indent="0">
              <a:buNone/>
            </a:pP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Distilled from resolved cases</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Top-K retrieval (max 3)</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2000 token budget</a:t>
            </a:r>
            <a:endParaRPr lang="en-US" sz="1000" dirty="0"/>
          </a:p>
          <a:p>
            <a:pPr marL="0" indent="0">
              <a:buNone/>
            </a:pP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4-Layer Memory:</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Episodic &gt; Procedural &gt;</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Semantic &gt; Skill &gt; SOP</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lIns="0" tIns="0" rIns="0" bIns="0" rtlCol="0" anchor="ctr"/>
          <a:lstStyle/>
          <a:p>
            <a:pPr marL="0" indent="0">
              <a:buNone/>
            </a:pPr>
            <a:r>
              <a:rPr lang="en-US" sz="2800" b="1" dirty="0">
                <a:solidFill>
                  <a:srgbClr val="0F2B46"/>
                </a:solidFill>
                <a:latin typeface="Georgia" pitchFamily="34" charset="0"/>
                <a:ea typeface="Georgia" pitchFamily="34" charset="-122"/>
                <a:cs typeface="Georgia" pitchFamily="34" charset="-120"/>
              </a:rPr>
              <a:t>Evidence-Weighted Confidence System</a:t>
            </a:r>
            <a:endParaRPr lang="en-US" sz="2800" dirty="0"/>
          </a:p>
        </p:txBody>
      </p:sp>
      <p:sp>
        <p:nvSpPr>
          <p:cNvPr id="3" name="Shape 1"/>
          <p:cNvSpPr/>
          <p:nvPr/>
        </p:nvSpPr>
        <p:spPr>
          <a:xfrm>
            <a:off x="731520" y="822960"/>
            <a:ext cx="1097280" cy="36576"/>
          </a:xfrm>
          <a:prstGeom prst="rect">
            <a:avLst/>
          </a:prstGeom>
          <a:solidFill>
            <a:srgbClr val="0891B2"/>
          </a:solidFill>
          <a:ln/>
        </p:spPr>
        <p:txBody>
          <a:bodyPr/>
          <a:lstStyle/>
          <a:p>
            <a:endParaRPr lang="en-CN"/>
          </a:p>
        </p:txBody>
      </p:sp>
      <p:sp>
        <p:nvSpPr>
          <p:cNvPr id="4" name="Text 2"/>
          <p:cNvSpPr/>
          <p:nvPr/>
        </p:nvSpPr>
        <p:spPr>
          <a:xfrm>
            <a:off x="457200" y="1051560"/>
            <a:ext cx="4114800" cy="3200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Evidence Source Weights</a:t>
            </a:r>
            <a:endParaRPr lang="en-US" sz="1500" dirty="0"/>
          </a:p>
        </p:txBody>
      </p:sp>
      <p:sp>
        <p:nvSpPr>
          <p:cNvPr id="5" name="Text 3"/>
          <p:cNvSpPr/>
          <p:nvPr/>
        </p:nvSpPr>
        <p:spPr>
          <a:xfrm>
            <a:off x="457200" y="1463040"/>
            <a:ext cx="1828800" cy="320040"/>
          </a:xfrm>
          <a:prstGeom prst="rect">
            <a:avLst/>
          </a:prstGeom>
          <a:noFill/>
          <a:ln/>
        </p:spPr>
        <p:txBody>
          <a:bodyPr wrap="square" lIns="0" tIns="0" rIns="0" bIns="0" rtlCol="0" anchor="ctr"/>
          <a:lstStyle/>
          <a:p>
            <a:pPr marL="0" indent="0" algn="r">
              <a:buNone/>
            </a:pPr>
            <a:r>
              <a:rPr lang="en-US" sz="1000" dirty="0">
                <a:solidFill>
                  <a:srgbClr val="1E293B"/>
                </a:solidFill>
                <a:latin typeface="Calibri" pitchFamily="34" charset="0"/>
                <a:ea typeface="Calibri" pitchFamily="34" charset="-122"/>
                <a:cs typeface="Calibri" pitchFamily="34" charset="-120"/>
              </a:rPr>
              <a:t>CloudTrail change</a:t>
            </a:r>
            <a:endParaRPr lang="en-US" sz="1000" dirty="0"/>
          </a:p>
        </p:txBody>
      </p:sp>
      <p:sp>
        <p:nvSpPr>
          <p:cNvPr id="6" name="Shape 4"/>
          <p:cNvSpPr/>
          <p:nvPr/>
        </p:nvSpPr>
        <p:spPr>
          <a:xfrm>
            <a:off x="2377440" y="1527048"/>
            <a:ext cx="3474720" cy="201168"/>
          </a:xfrm>
          <a:prstGeom prst="rect">
            <a:avLst/>
          </a:prstGeom>
          <a:solidFill>
            <a:srgbClr val="059669"/>
          </a:solidFill>
          <a:ln/>
        </p:spPr>
        <p:txBody>
          <a:bodyPr/>
          <a:lstStyle/>
          <a:p>
            <a:endParaRPr lang="en-CN"/>
          </a:p>
        </p:txBody>
      </p:sp>
      <p:sp>
        <p:nvSpPr>
          <p:cNvPr id="7" name="Text 5"/>
          <p:cNvSpPr/>
          <p:nvPr/>
        </p:nvSpPr>
        <p:spPr>
          <a:xfrm>
            <a:off x="5943600" y="1463040"/>
            <a:ext cx="457200" cy="320040"/>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0.95</a:t>
            </a:r>
            <a:endParaRPr lang="en-US" sz="1000" dirty="0"/>
          </a:p>
        </p:txBody>
      </p:sp>
      <p:sp>
        <p:nvSpPr>
          <p:cNvPr id="8" name="Text 6"/>
          <p:cNvSpPr/>
          <p:nvPr/>
        </p:nvSpPr>
        <p:spPr>
          <a:xfrm>
            <a:off x="457200" y="1865376"/>
            <a:ext cx="1828800" cy="320040"/>
          </a:xfrm>
          <a:prstGeom prst="rect">
            <a:avLst/>
          </a:prstGeom>
          <a:noFill/>
          <a:ln/>
        </p:spPr>
        <p:txBody>
          <a:bodyPr wrap="square" lIns="0" tIns="0" rIns="0" bIns="0" rtlCol="0" anchor="ctr"/>
          <a:lstStyle/>
          <a:p>
            <a:pPr marL="0" indent="0" algn="r">
              <a:buNone/>
            </a:pPr>
            <a:r>
              <a:rPr lang="en-US" sz="1000" dirty="0">
                <a:solidFill>
                  <a:srgbClr val="1E293B"/>
                </a:solidFill>
                <a:latin typeface="Calibri" pitchFamily="34" charset="0"/>
                <a:ea typeface="Calibri" pitchFamily="34" charset="-122"/>
                <a:cs typeface="Calibri" pitchFamily="34" charset="-120"/>
              </a:rPr>
              <a:t>APM trace error</a:t>
            </a:r>
            <a:endParaRPr lang="en-US" sz="1000" dirty="0"/>
          </a:p>
        </p:txBody>
      </p:sp>
      <p:sp>
        <p:nvSpPr>
          <p:cNvPr id="9" name="Shape 7"/>
          <p:cNvSpPr/>
          <p:nvPr/>
        </p:nvSpPr>
        <p:spPr>
          <a:xfrm>
            <a:off x="2377440" y="1929384"/>
            <a:ext cx="3291840" cy="201168"/>
          </a:xfrm>
          <a:prstGeom prst="rect">
            <a:avLst/>
          </a:prstGeom>
          <a:solidFill>
            <a:srgbClr val="059669"/>
          </a:solidFill>
          <a:ln/>
        </p:spPr>
        <p:txBody>
          <a:bodyPr/>
          <a:lstStyle/>
          <a:p>
            <a:endParaRPr lang="en-CN"/>
          </a:p>
        </p:txBody>
      </p:sp>
      <p:sp>
        <p:nvSpPr>
          <p:cNvPr id="10" name="Text 8"/>
          <p:cNvSpPr/>
          <p:nvPr/>
        </p:nvSpPr>
        <p:spPr>
          <a:xfrm>
            <a:off x="5760720" y="1865376"/>
            <a:ext cx="457200" cy="320040"/>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0.90</a:t>
            </a:r>
            <a:endParaRPr lang="en-US" sz="1000" dirty="0"/>
          </a:p>
        </p:txBody>
      </p:sp>
      <p:sp>
        <p:nvSpPr>
          <p:cNvPr id="11" name="Text 9"/>
          <p:cNvSpPr/>
          <p:nvPr/>
        </p:nvSpPr>
        <p:spPr>
          <a:xfrm>
            <a:off x="457200" y="2267712"/>
            <a:ext cx="1828800" cy="320040"/>
          </a:xfrm>
          <a:prstGeom prst="rect">
            <a:avLst/>
          </a:prstGeom>
          <a:noFill/>
          <a:ln/>
        </p:spPr>
        <p:txBody>
          <a:bodyPr wrap="square" lIns="0" tIns="0" rIns="0" bIns="0" rtlCol="0" anchor="ctr"/>
          <a:lstStyle/>
          <a:p>
            <a:pPr marL="0" indent="0" algn="r">
              <a:buNone/>
            </a:pPr>
            <a:r>
              <a:rPr lang="en-US" sz="1000" dirty="0">
                <a:solidFill>
                  <a:srgbClr val="1E293B"/>
                </a:solidFill>
                <a:latin typeface="Calibri" pitchFamily="34" charset="0"/>
                <a:ea typeface="Calibri" pitchFamily="34" charset="-122"/>
                <a:cs typeface="Calibri" pitchFamily="34" charset="-120"/>
              </a:rPr>
              <a:t>Deployment match</a:t>
            </a:r>
            <a:endParaRPr lang="en-US" sz="1000" dirty="0"/>
          </a:p>
        </p:txBody>
      </p:sp>
      <p:sp>
        <p:nvSpPr>
          <p:cNvPr id="12" name="Shape 10"/>
          <p:cNvSpPr/>
          <p:nvPr/>
        </p:nvSpPr>
        <p:spPr>
          <a:xfrm>
            <a:off x="2377440" y="2331720"/>
            <a:ext cx="3108960" cy="201168"/>
          </a:xfrm>
          <a:prstGeom prst="rect">
            <a:avLst/>
          </a:prstGeom>
          <a:solidFill>
            <a:srgbClr val="059669"/>
          </a:solidFill>
          <a:ln/>
        </p:spPr>
        <p:txBody>
          <a:bodyPr/>
          <a:lstStyle/>
          <a:p>
            <a:endParaRPr lang="en-CN"/>
          </a:p>
        </p:txBody>
      </p:sp>
      <p:sp>
        <p:nvSpPr>
          <p:cNvPr id="13" name="Text 11"/>
          <p:cNvSpPr/>
          <p:nvPr/>
        </p:nvSpPr>
        <p:spPr>
          <a:xfrm>
            <a:off x="5577840" y="2267712"/>
            <a:ext cx="457200" cy="320040"/>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0.85</a:t>
            </a:r>
            <a:endParaRPr lang="en-US" sz="1000" dirty="0"/>
          </a:p>
        </p:txBody>
      </p:sp>
      <p:sp>
        <p:nvSpPr>
          <p:cNvPr id="14" name="Text 12"/>
          <p:cNvSpPr/>
          <p:nvPr/>
        </p:nvSpPr>
        <p:spPr>
          <a:xfrm>
            <a:off x="457200" y="2670048"/>
            <a:ext cx="1828800" cy="320040"/>
          </a:xfrm>
          <a:prstGeom prst="rect">
            <a:avLst/>
          </a:prstGeom>
          <a:noFill/>
          <a:ln/>
        </p:spPr>
        <p:txBody>
          <a:bodyPr wrap="square" lIns="0" tIns="0" rIns="0" bIns="0" rtlCol="0" anchor="ctr"/>
          <a:lstStyle/>
          <a:p>
            <a:pPr marL="0" indent="0" algn="r">
              <a:buNone/>
            </a:pPr>
            <a:r>
              <a:rPr lang="en-US" sz="1000" dirty="0">
                <a:solidFill>
                  <a:srgbClr val="1E293B"/>
                </a:solidFill>
                <a:latin typeface="Calibri" pitchFamily="34" charset="0"/>
                <a:ea typeface="Calibri" pitchFamily="34" charset="-122"/>
                <a:cs typeface="Calibri" pitchFamily="34" charset="-120"/>
              </a:rPr>
              <a:t>CloudWatch metric</a:t>
            </a:r>
            <a:endParaRPr lang="en-US" sz="1000" dirty="0"/>
          </a:p>
        </p:txBody>
      </p:sp>
      <p:sp>
        <p:nvSpPr>
          <p:cNvPr id="15" name="Shape 13"/>
          <p:cNvSpPr/>
          <p:nvPr/>
        </p:nvSpPr>
        <p:spPr>
          <a:xfrm>
            <a:off x="2377440" y="2734056"/>
            <a:ext cx="2926080" cy="201168"/>
          </a:xfrm>
          <a:prstGeom prst="rect">
            <a:avLst/>
          </a:prstGeom>
          <a:solidFill>
            <a:srgbClr val="059669"/>
          </a:solidFill>
          <a:ln/>
        </p:spPr>
        <p:txBody>
          <a:bodyPr/>
          <a:lstStyle/>
          <a:p>
            <a:endParaRPr lang="en-CN"/>
          </a:p>
        </p:txBody>
      </p:sp>
      <p:sp>
        <p:nvSpPr>
          <p:cNvPr id="16" name="Text 14"/>
          <p:cNvSpPr/>
          <p:nvPr/>
        </p:nvSpPr>
        <p:spPr>
          <a:xfrm>
            <a:off x="5394960" y="2670048"/>
            <a:ext cx="457200" cy="320040"/>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0.80</a:t>
            </a:r>
            <a:endParaRPr lang="en-US" sz="1000" dirty="0"/>
          </a:p>
        </p:txBody>
      </p:sp>
      <p:sp>
        <p:nvSpPr>
          <p:cNvPr id="17" name="Text 15"/>
          <p:cNvSpPr/>
          <p:nvPr/>
        </p:nvSpPr>
        <p:spPr>
          <a:xfrm>
            <a:off x="457200" y="3072384"/>
            <a:ext cx="1828800" cy="320040"/>
          </a:xfrm>
          <a:prstGeom prst="rect">
            <a:avLst/>
          </a:prstGeom>
          <a:noFill/>
          <a:ln/>
        </p:spPr>
        <p:txBody>
          <a:bodyPr wrap="square" lIns="0" tIns="0" rIns="0" bIns="0" rtlCol="0" anchor="ctr"/>
          <a:lstStyle/>
          <a:p>
            <a:pPr marL="0" indent="0" algn="r">
              <a:buNone/>
            </a:pPr>
            <a:r>
              <a:rPr lang="en-US" sz="1000" dirty="0">
                <a:solidFill>
                  <a:srgbClr val="1E293B"/>
                </a:solidFill>
                <a:latin typeface="Calibri" pitchFamily="34" charset="0"/>
                <a:ea typeface="Calibri" pitchFamily="34" charset="-122"/>
                <a:cs typeface="Calibri" pitchFamily="34" charset="-120"/>
              </a:rPr>
              <a:t>Log pattern match</a:t>
            </a:r>
            <a:endParaRPr lang="en-US" sz="1000" dirty="0"/>
          </a:p>
        </p:txBody>
      </p:sp>
      <p:sp>
        <p:nvSpPr>
          <p:cNvPr id="18" name="Shape 16"/>
          <p:cNvSpPr/>
          <p:nvPr/>
        </p:nvSpPr>
        <p:spPr>
          <a:xfrm>
            <a:off x="2377440" y="3136392"/>
            <a:ext cx="2743200" cy="201168"/>
          </a:xfrm>
          <a:prstGeom prst="rect">
            <a:avLst/>
          </a:prstGeom>
          <a:solidFill>
            <a:srgbClr val="D97706"/>
          </a:solidFill>
          <a:ln/>
        </p:spPr>
        <p:txBody>
          <a:bodyPr/>
          <a:lstStyle/>
          <a:p>
            <a:endParaRPr lang="en-CN"/>
          </a:p>
        </p:txBody>
      </p:sp>
      <p:sp>
        <p:nvSpPr>
          <p:cNvPr id="19" name="Text 17"/>
          <p:cNvSpPr/>
          <p:nvPr/>
        </p:nvSpPr>
        <p:spPr>
          <a:xfrm>
            <a:off x="5212080" y="3072384"/>
            <a:ext cx="457200" cy="320040"/>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0.75</a:t>
            </a:r>
            <a:endParaRPr lang="en-US" sz="1000" dirty="0"/>
          </a:p>
        </p:txBody>
      </p:sp>
      <p:sp>
        <p:nvSpPr>
          <p:cNvPr id="20" name="Text 18"/>
          <p:cNvSpPr/>
          <p:nvPr/>
        </p:nvSpPr>
        <p:spPr>
          <a:xfrm>
            <a:off x="457200" y="3474720"/>
            <a:ext cx="1828800" cy="320040"/>
          </a:xfrm>
          <a:prstGeom prst="rect">
            <a:avLst/>
          </a:prstGeom>
          <a:noFill/>
          <a:ln/>
        </p:spPr>
        <p:txBody>
          <a:bodyPr wrap="square" lIns="0" tIns="0" rIns="0" bIns="0" rtlCol="0" anchor="ctr"/>
          <a:lstStyle/>
          <a:p>
            <a:pPr marL="0" indent="0" algn="r">
              <a:buNone/>
            </a:pPr>
            <a:r>
              <a:rPr lang="en-US" sz="1000" dirty="0">
                <a:solidFill>
                  <a:srgbClr val="1E293B"/>
                </a:solidFill>
                <a:latin typeface="Calibri" pitchFamily="34" charset="0"/>
                <a:ea typeface="Calibri" pitchFamily="34" charset="-122"/>
                <a:cs typeface="Calibri" pitchFamily="34" charset="-120"/>
              </a:rPr>
              <a:t>SG/Network analysis</a:t>
            </a:r>
            <a:endParaRPr lang="en-US" sz="1000" dirty="0"/>
          </a:p>
        </p:txBody>
      </p:sp>
      <p:sp>
        <p:nvSpPr>
          <p:cNvPr id="21" name="Shape 19"/>
          <p:cNvSpPr/>
          <p:nvPr/>
        </p:nvSpPr>
        <p:spPr>
          <a:xfrm>
            <a:off x="2377440" y="3538728"/>
            <a:ext cx="2560320" cy="201168"/>
          </a:xfrm>
          <a:prstGeom prst="rect">
            <a:avLst/>
          </a:prstGeom>
          <a:solidFill>
            <a:srgbClr val="D97706"/>
          </a:solidFill>
          <a:ln/>
        </p:spPr>
        <p:txBody>
          <a:bodyPr/>
          <a:lstStyle/>
          <a:p>
            <a:endParaRPr lang="en-CN"/>
          </a:p>
        </p:txBody>
      </p:sp>
      <p:sp>
        <p:nvSpPr>
          <p:cNvPr id="22" name="Text 20"/>
          <p:cNvSpPr/>
          <p:nvPr/>
        </p:nvSpPr>
        <p:spPr>
          <a:xfrm>
            <a:off x="5029200" y="3474720"/>
            <a:ext cx="457200" cy="320040"/>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0.70</a:t>
            </a:r>
            <a:endParaRPr lang="en-US" sz="1000" dirty="0"/>
          </a:p>
        </p:txBody>
      </p:sp>
      <p:sp>
        <p:nvSpPr>
          <p:cNvPr id="23" name="Text 21"/>
          <p:cNvSpPr/>
          <p:nvPr/>
        </p:nvSpPr>
        <p:spPr>
          <a:xfrm>
            <a:off x="457200" y="3877056"/>
            <a:ext cx="1828800" cy="320040"/>
          </a:xfrm>
          <a:prstGeom prst="rect">
            <a:avLst/>
          </a:prstGeom>
          <a:noFill/>
          <a:ln/>
        </p:spPr>
        <p:txBody>
          <a:bodyPr wrap="square" lIns="0" tIns="0" rIns="0" bIns="0" rtlCol="0" anchor="ctr"/>
          <a:lstStyle/>
          <a:p>
            <a:pPr marL="0" indent="0" algn="r">
              <a:buNone/>
            </a:pPr>
            <a:r>
              <a:rPr lang="en-US" sz="1000" dirty="0">
                <a:solidFill>
                  <a:srgbClr val="1E293B"/>
                </a:solidFill>
                <a:latin typeface="Calibri" pitchFamily="34" charset="0"/>
                <a:ea typeface="Calibri" pitchFamily="34" charset="-122"/>
                <a:cs typeface="Calibri" pitchFamily="34" charset="-120"/>
              </a:rPr>
              <a:t>KB similar case</a:t>
            </a:r>
            <a:endParaRPr lang="en-US" sz="1000" dirty="0"/>
          </a:p>
        </p:txBody>
      </p:sp>
      <p:sp>
        <p:nvSpPr>
          <p:cNvPr id="24" name="Shape 22"/>
          <p:cNvSpPr/>
          <p:nvPr/>
        </p:nvSpPr>
        <p:spPr>
          <a:xfrm>
            <a:off x="2377440" y="3941064"/>
            <a:ext cx="1828800" cy="201168"/>
          </a:xfrm>
          <a:prstGeom prst="rect">
            <a:avLst/>
          </a:prstGeom>
          <a:solidFill>
            <a:srgbClr val="DC2626"/>
          </a:solidFill>
          <a:ln/>
        </p:spPr>
        <p:txBody>
          <a:bodyPr/>
          <a:lstStyle/>
          <a:p>
            <a:endParaRPr lang="en-CN"/>
          </a:p>
        </p:txBody>
      </p:sp>
      <p:sp>
        <p:nvSpPr>
          <p:cNvPr id="25" name="Text 23"/>
          <p:cNvSpPr/>
          <p:nvPr/>
        </p:nvSpPr>
        <p:spPr>
          <a:xfrm>
            <a:off x="4297680" y="3877056"/>
            <a:ext cx="457200" cy="320040"/>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0.50</a:t>
            </a:r>
            <a:endParaRPr lang="en-US" sz="1000" dirty="0"/>
          </a:p>
        </p:txBody>
      </p:sp>
      <p:sp>
        <p:nvSpPr>
          <p:cNvPr id="26" name="Text 24"/>
          <p:cNvSpPr/>
          <p:nvPr/>
        </p:nvSpPr>
        <p:spPr>
          <a:xfrm>
            <a:off x="457200" y="4279392"/>
            <a:ext cx="1828800" cy="320040"/>
          </a:xfrm>
          <a:prstGeom prst="rect">
            <a:avLst/>
          </a:prstGeom>
          <a:noFill/>
          <a:ln/>
        </p:spPr>
        <p:txBody>
          <a:bodyPr wrap="square" lIns="0" tIns="0" rIns="0" bIns="0" rtlCol="0" anchor="ctr"/>
          <a:lstStyle/>
          <a:p>
            <a:pPr marL="0" indent="0" algn="r">
              <a:buNone/>
            </a:pPr>
            <a:r>
              <a:rPr lang="en-US" sz="1000" dirty="0">
                <a:solidFill>
                  <a:srgbClr val="1E293B"/>
                </a:solidFill>
                <a:latin typeface="Calibri" pitchFamily="34" charset="0"/>
                <a:ea typeface="Calibri" pitchFamily="34" charset="-122"/>
                <a:cs typeface="Calibri" pitchFamily="34" charset="-120"/>
              </a:rPr>
              <a:t>LLM pure inference</a:t>
            </a:r>
            <a:endParaRPr lang="en-US" sz="1000" dirty="0"/>
          </a:p>
        </p:txBody>
      </p:sp>
      <p:sp>
        <p:nvSpPr>
          <p:cNvPr id="27" name="Shape 25"/>
          <p:cNvSpPr/>
          <p:nvPr/>
        </p:nvSpPr>
        <p:spPr>
          <a:xfrm>
            <a:off x="2377440" y="4343400"/>
            <a:ext cx="1097280" cy="201168"/>
          </a:xfrm>
          <a:prstGeom prst="rect">
            <a:avLst/>
          </a:prstGeom>
          <a:solidFill>
            <a:srgbClr val="DC2626"/>
          </a:solidFill>
          <a:ln/>
        </p:spPr>
        <p:txBody>
          <a:bodyPr/>
          <a:lstStyle/>
          <a:p>
            <a:endParaRPr lang="en-CN"/>
          </a:p>
        </p:txBody>
      </p:sp>
      <p:sp>
        <p:nvSpPr>
          <p:cNvPr id="28" name="Text 26"/>
          <p:cNvSpPr/>
          <p:nvPr/>
        </p:nvSpPr>
        <p:spPr>
          <a:xfrm>
            <a:off x="3566160" y="4279392"/>
            <a:ext cx="457200" cy="320040"/>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0.30</a:t>
            </a:r>
            <a:endParaRPr lang="en-US" sz="1000" dirty="0"/>
          </a:p>
        </p:txBody>
      </p:sp>
      <p:sp>
        <p:nvSpPr>
          <p:cNvPr id="29" name="Shape 27"/>
          <p:cNvSpPr/>
          <p:nvPr/>
        </p:nvSpPr>
        <p:spPr>
          <a:xfrm>
            <a:off x="5029200" y="1051560"/>
            <a:ext cx="3474720" cy="38404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30" name="Text 28"/>
          <p:cNvSpPr/>
          <p:nvPr/>
        </p:nvSpPr>
        <p:spPr>
          <a:xfrm>
            <a:off x="5212080" y="1143000"/>
            <a:ext cx="2926080" cy="320040"/>
          </a:xfrm>
          <a:prstGeom prst="rect">
            <a:avLst/>
          </a:prstGeom>
          <a:noFill/>
          <a:ln/>
        </p:spPr>
        <p:txBody>
          <a:bodyPr wrap="square" lIns="0" tIns="0" rIns="0" bIns="0" rtlCol="0" anchor="ctr"/>
          <a:lstStyle/>
          <a:p>
            <a:pPr marL="0" indent="0">
              <a:buNone/>
            </a:pPr>
            <a:r>
              <a:rPr lang="en-US" sz="1500" b="1" dirty="0">
                <a:solidFill>
                  <a:srgbClr val="0891B2"/>
                </a:solidFill>
                <a:latin typeface="Georgia" pitchFamily="34" charset="0"/>
                <a:ea typeface="Georgia" pitchFamily="34" charset="-122"/>
                <a:cs typeface="Georgia" pitchFamily="34" charset="-120"/>
              </a:rPr>
              <a:t>Two-Layer Calibration</a:t>
            </a:r>
            <a:endParaRPr lang="en-US" sz="1500" dirty="0"/>
          </a:p>
        </p:txBody>
      </p:sp>
      <p:sp>
        <p:nvSpPr>
          <p:cNvPr id="31" name="Text 29"/>
          <p:cNvSpPr/>
          <p:nvPr/>
        </p:nvSpPr>
        <p:spPr>
          <a:xfrm>
            <a:off x="5212080" y="1508760"/>
            <a:ext cx="2926080" cy="320040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Layer 1: Evidence-Weighted</a:t>
            </a:r>
            <a:endParaRPr lang="en-US" sz="1200" dirty="0"/>
          </a:p>
          <a:p>
            <a:pPr marL="0" indent="0">
              <a:buNone/>
            </a:pPr>
            <a:r>
              <a:rPr lang="en-US" sz="1000" dirty="0">
                <a:solidFill>
                  <a:srgbClr val="64748B"/>
                </a:solidFill>
                <a:latin typeface="Calibri" pitchFamily="34" charset="0"/>
                <a:ea typeface="Calibri" pitchFamily="34" charset="-122"/>
                <a:cs typeface="Calibri" pitchFamily="34" charset="-120"/>
              </a:rPr>
              <a:t>Weighted average of evidence chain
per data source reliability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Layer 2: Human-Calibrated</a:t>
            </a:r>
            <a:endParaRPr lang="en-US" sz="1200" dirty="0"/>
          </a:p>
          <a:p>
            <a:pPr marL="0" indent="0">
              <a:buNone/>
            </a:pPr>
            <a:r>
              <a:rPr lang="en-US" sz="1000" dirty="0">
                <a:solidFill>
                  <a:srgbClr val="64748B"/>
                </a:solidFill>
                <a:latin typeface="Calibri" pitchFamily="34" charset="0"/>
                <a:ea typeface="Calibri" pitchFamily="34" charset="-122"/>
                <a:cs typeface="Calibri" pitchFamily="34" charset="-120"/>
              </a:rPr>
              <a:t>Bin-based: 0-0.5, 0.5-0.7, 0.7-0.9, 0.9-1.0
Updated on each human review
Segmented by category (30+ samples)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Display:</a:t>
            </a:r>
            <a:endParaRPr lang="en-US" sz="1200" dirty="0"/>
          </a:p>
          <a:p>
            <a:pPr marL="0" indent="0">
              <a:buNone/>
            </a:pPr>
            <a:r>
              <a:rPr lang="en-US" sz="1000" dirty="0">
                <a:solidFill>
                  <a:srgbClr val="64748B"/>
                </a:solidFill>
                <a:latin typeface="Calibri" pitchFamily="34" charset="0"/>
                <a:ea typeface="Calibri" pitchFamily="34" charset="-122"/>
                <a:cs typeface="Calibri" pitchFamily="34" charset="-120"/>
              </a:rPr>
              <a:t>"Confidence: 0.85 (calibrated: 0.73)"</a:t>
            </a:r>
            <a:endParaRPr lang="en-US" sz="1200" dirty="0"/>
          </a:p>
          <a:p>
            <a:pPr marL="0" indent="0">
              <a:buNone/>
            </a:pPr>
            <a:r>
              <a:rPr lang="en-US" sz="1000" dirty="0">
                <a:solidFill>
                  <a:srgbClr val="64748B"/>
                </a:solidFill>
                <a:latin typeface="Calibri" pitchFamily="34" charset="0"/>
                <a:ea typeface="Calibri" pitchFamily="34" charset="-122"/>
                <a:cs typeface="Calibri" pitchFamily="34" charset="-120"/>
              </a:rPr>
              <a:t>Calibrated &lt; 0.5 = auto-flag for review</a:t>
            </a:r>
            <a:endParaRPr lang="en-US" sz="1200" dirty="0"/>
          </a:p>
          <a:p>
            <a:pPr marL="0" indent="0">
              <a:buNone/>
            </a:pP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Confidence Decay:</a:t>
            </a:r>
            <a:endParaRPr lang="en-US" sz="1200" dirty="0"/>
          </a:p>
          <a:p>
            <a:pPr marL="0" indent="0">
              <a:buNone/>
            </a:pPr>
            <a:r>
              <a:rPr lang="en-US" sz="1000" dirty="0">
                <a:solidFill>
                  <a:srgbClr val="64748B"/>
                </a:solidFill>
                <a:latin typeface="Calibri" pitchFamily="34" charset="0"/>
                <a:ea typeface="Calibri" pitchFamily="34" charset="-122"/>
                <a:cs typeface="Calibri" pitchFamily="34" charset="-120"/>
              </a:rPr>
              <a:t>base * 0.99^age_days * (1 + 0.1 * min(recall, 10))</a:t>
            </a:r>
            <a:endParaRPr lang="en-US" sz="1200" dirty="0"/>
          </a:p>
          <a:p>
            <a:pPr marL="0" indent="0">
              <a:buNone/>
            </a:pPr>
            <a:r>
              <a:rPr lang="en-US" sz="1000" dirty="0">
                <a:solidFill>
                  <a:srgbClr val="64748B"/>
                </a:solidFill>
                <a:latin typeface="Calibri" pitchFamily="34" charset="0"/>
                <a:ea typeface="Calibri" pitchFamily="34" charset="-122"/>
                <a:cs typeface="Calibri" pitchFamily="34" charset="-120"/>
              </a:rPr>
              <a:t>Used often = stays high</a:t>
            </a:r>
            <a:endParaRPr lang="en-US" sz="1200" dirty="0"/>
          </a:p>
          <a:p>
            <a:pPr marL="0" indent="0">
              <a:buNone/>
            </a:pPr>
            <a:r>
              <a:rPr lang="en-US" sz="1000" dirty="0">
                <a:solidFill>
                  <a:srgbClr val="64748B"/>
                </a:solidFill>
                <a:latin typeface="Calibri" pitchFamily="34" charset="0"/>
                <a:ea typeface="Calibri" pitchFamily="34" charset="-122"/>
                <a:cs typeface="Calibri" pitchFamily="34" charset="-120"/>
              </a:rPr>
              <a:t>Unused = slowly decays</a:t>
            </a:r>
            <a:endParaRPr lang="en-US" sz="1200" dirty="0"/>
          </a:p>
          <a:p>
            <a:pPr marL="0" indent="0">
              <a:buNone/>
            </a:pPr>
            <a:r>
              <a:rPr lang="en-US" sz="1000" dirty="0">
                <a:solidFill>
                  <a:srgbClr val="64748B"/>
                </a:solidFill>
                <a:latin typeface="Calibri" pitchFamily="34" charset="0"/>
                <a:ea typeface="Calibri" pitchFamily="34" charset="-122"/>
                <a:cs typeface="Calibri" pitchFamily="34" charset="-120"/>
              </a:rPr>
              <a:t>Wrong = actively penalized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lIns="0" tIns="0" rIns="0" bIns="0" rtlCol="0" anchor="ctr"/>
          <a:lstStyle/>
          <a:p>
            <a:pPr marL="0" indent="0">
              <a:buNone/>
            </a:pPr>
            <a:r>
              <a:rPr lang="en-US" sz="3200" b="1" dirty="0">
                <a:solidFill>
                  <a:srgbClr val="0F2B46"/>
                </a:solidFill>
                <a:latin typeface="Georgia" pitchFamily="34" charset="0"/>
                <a:ea typeface="Georgia" pitchFamily="34" charset="-122"/>
                <a:cs typeface="Georgia" pitchFamily="34" charset="-120"/>
              </a:rPr>
              <a:t>Phase 3: Self-Evolution</a:t>
            </a:r>
            <a:endParaRPr lang="en-US" sz="3200" dirty="0"/>
          </a:p>
        </p:txBody>
      </p:sp>
      <p:sp>
        <p:nvSpPr>
          <p:cNvPr id="3" name="Text 1"/>
          <p:cNvSpPr/>
          <p:nvPr/>
        </p:nvSpPr>
        <p:spPr>
          <a:xfrm>
            <a:off x="731520" y="822960"/>
            <a:ext cx="7315200" cy="320040"/>
          </a:xfrm>
          <a:prstGeom prst="rect">
            <a:avLst/>
          </a:prstGeom>
          <a:noFill/>
          <a:ln/>
        </p:spPr>
        <p:txBody>
          <a:bodyPr wrap="square" lIns="0" tIns="0" rIns="0" bIns="0" rtlCol="0" anchor="ctr"/>
          <a:lstStyle/>
          <a:p>
            <a:pPr marL="0" indent="0">
              <a:buNone/>
            </a:pPr>
            <a:r>
              <a:rPr lang="en-US" sz="1300" dirty="0">
                <a:solidFill>
                  <a:srgbClr val="7C3AED"/>
                </a:solidFill>
                <a:latin typeface="Calibri" pitchFamily="34" charset="0"/>
                <a:ea typeface="Calibri" pitchFamily="34" charset="-122"/>
                <a:cs typeface="Calibri" pitchFamily="34" charset="-120"/>
              </a:rPr>
              <a:t>2027  |  8 Tasks  |  System Gets Smarter Autonomously</a:t>
            </a:r>
            <a:endParaRPr lang="en-US" sz="1300" dirty="0"/>
          </a:p>
        </p:txBody>
      </p:sp>
      <p:sp>
        <p:nvSpPr>
          <p:cNvPr id="4" name="Shape 2"/>
          <p:cNvSpPr/>
          <p:nvPr/>
        </p:nvSpPr>
        <p:spPr>
          <a:xfrm>
            <a:off x="457200" y="1371600"/>
            <a:ext cx="4023360" cy="731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5" name="Shape 3"/>
          <p:cNvSpPr/>
          <p:nvPr/>
        </p:nvSpPr>
        <p:spPr>
          <a:xfrm>
            <a:off x="457200" y="1371600"/>
            <a:ext cx="64008" cy="731520"/>
          </a:xfrm>
          <a:prstGeom prst="rect">
            <a:avLst/>
          </a:prstGeom>
          <a:solidFill>
            <a:srgbClr val="7C3AED"/>
          </a:solidFill>
          <a:ln/>
        </p:spPr>
        <p:txBody>
          <a:bodyPr/>
          <a:lstStyle/>
          <a:p>
            <a:endParaRPr lang="en-CN"/>
          </a:p>
        </p:txBody>
      </p:sp>
      <p:sp>
        <p:nvSpPr>
          <p:cNvPr id="6" name="Text 4"/>
          <p:cNvSpPr/>
          <p:nvPr/>
        </p:nvSpPr>
        <p:spPr>
          <a:xfrm>
            <a:off x="640080" y="1399032"/>
            <a:ext cx="2286000" cy="27432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SkillGapDetector</a:t>
            </a:r>
            <a:endParaRPr lang="en-US" sz="1200" dirty="0"/>
          </a:p>
        </p:txBody>
      </p:sp>
      <p:sp>
        <p:nvSpPr>
          <p:cNvPr id="7" name="Text 5"/>
          <p:cNvSpPr/>
          <p:nvPr/>
        </p:nvSpPr>
        <p:spPr>
          <a:xfrm>
            <a:off x="640080" y="1673352"/>
            <a:ext cx="365760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After RCA: detect capabilities the investigation needed but no skill covers.</a:t>
            </a:r>
            <a:endParaRPr lang="en-US" sz="900" dirty="0"/>
          </a:p>
        </p:txBody>
      </p:sp>
      <p:sp>
        <p:nvSpPr>
          <p:cNvPr id="8" name="Text 6"/>
          <p:cNvSpPr/>
          <p:nvPr/>
        </p:nvSpPr>
        <p:spPr>
          <a:xfrm>
            <a:off x="640080" y="1874520"/>
            <a:ext cx="3657600" cy="182880"/>
          </a:xfrm>
          <a:prstGeom prst="rect">
            <a:avLst/>
          </a:prstGeom>
          <a:noFill/>
          <a:ln/>
        </p:spPr>
        <p:txBody>
          <a:bodyPr wrap="square" lIns="0" tIns="0" rIns="0" bIns="0" rtlCol="0" anchor="ctr"/>
          <a:lstStyle/>
          <a:p>
            <a:pPr marL="0" indent="0">
              <a:buNone/>
            </a:pPr>
            <a:r>
              <a:rPr lang="en-US" sz="800" i="1" dirty="0">
                <a:solidFill>
                  <a:srgbClr val="D97706"/>
                </a:solidFill>
                <a:latin typeface="Calibri" pitchFamily="34" charset="0"/>
                <a:ea typeface="Calibri" pitchFamily="34" charset="-122"/>
                <a:cs typeface="Calibri" pitchFamily="34" charset="-120"/>
              </a:rPr>
              <a:t>High false positive rate</a:t>
            </a:r>
            <a:endParaRPr lang="en-US" sz="800" dirty="0"/>
          </a:p>
        </p:txBody>
      </p:sp>
      <p:sp>
        <p:nvSpPr>
          <p:cNvPr id="9" name="Shape 7"/>
          <p:cNvSpPr/>
          <p:nvPr/>
        </p:nvSpPr>
        <p:spPr>
          <a:xfrm>
            <a:off x="457200" y="2240280"/>
            <a:ext cx="4023360" cy="731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10" name="Shape 8"/>
          <p:cNvSpPr/>
          <p:nvPr/>
        </p:nvSpPr>
        <p:spPr>
          <a:xfrm>
            <a:off x="457200" y="2240280"/>
            <a:ext cx="64008" cy="731520"/>
          </a:xfrm>
          <a:prstGeom prst="rect">
            <a:avLst/>
          </a:prstGeom>
          <a:solidFill>
            <a:srgbClr val="7C3AED"/>
          </a:solidFill>
          <a:ln/>
        </p:spPr>
        <p:txBody>
          <a:bodyPr/>
          <a:lstStyle/>
          <a:p>
            <a:endParaRPr lang="en-CN"/>
          </a:p>
        </p:txBody>
      </p:sp>
      <p:sp>
        <p:nvSpPr>
          <p:cNvPr id="11" name="Text 9"/>
          <p:cNvSpPr/>
          <p:nvPr/>
        </p:nvSpPr>
        <p:spPr>
          <a:xfrm>
            <a:off x="640080" y="2267712"/>
            <a:ext cx="2286000" cy="27432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SOPAutoWriter</a:t>
            </a:r>
            <a:endParaRPr lang="en-US" sz="1200" dirty="0"/>
          </a:p>
        </p:txBody>
      </p:sp>
      <p:sp>
        <p:nvSpPr>
          <p:cNvPr id="12" name="Text 10"/>
          <p:cNvSpPr/>
          <p:nvPr/>
        </p:nvSpPr>
        <p:spPr>
          <a:xfrm>
            <a:off x="640080" y="2542032"/>
            <a:ext cx="365760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Auto-generate draft skill from successful RCA investigation path.</a:t>
            </a:r>
            <a:endParaRPr lang="en-US" sz="900" dirty="0"/>
          </a:p>
        </p:txBody>
      </p:sp>
      <p:sp>
        <p:nvSpPr>
          <p:cNvPr id="13" name="Text 11"/>
          <p:cNvSpPr/>
          <p:nvPr/>
        </p:nvSpPr>
        <p:spPr>
          <a:xfrm>
            <a:off x="640080" y="2743200"/>
            <a:ext cx="3657600" cy="182880"/>
          </a:xfrm>
          <a:prstGeom prst="rect">
            <a:avLst/>
          </a:prstGeom>
          <a:noFill/>
          <a:ln/>
        </p:spPr>
        <p:txBody>
          <a:bodyPr wrap="square" lIns="0" tIns="0" rIns="0" bIns="0" rtlCol="0" anchor="ctr"/>
          <a:lstStyle/>
          <a:p>
            <a:pPr marL="0" indent="0">
              <a:buNone/>
            </a:pPr>
            <a:r>
              <a:rPr lang="en-US" sz="800" i="1" dirty="0">
                <a:solidFill>
                  <a:srgbClr val="D97706"/>
                </a:solidFill>
                <a:latin typeface="Calibri" pitchFamily="34" charset="0"/>
                <a:ea typeface="Calibri" pitchFamily="34" charset="-122"/>
                <a:cs typeface="Calibri" pitchFamily="34" charset="-120"/>
              </a:rPr>
              <a:t>Quality of generated SOPs</a:t>
            </a:r>
            <a:endParaRPr lang="en-US" sz="800" dirty="0"/>
          </a:p>
        </p:txBody>
      </p:sp>
      <p:sp>
        <p:nvSpPr>
          <p:cNvPr id="14" name="Shape 12"/>
          <p:cNvSpPr/>
          <p:nvPr/>
        </p:nvSpPr>
        <p:spPr>
          <a:xfrm>
            <a:off x="457200" y="3108960"/>
            <a:ext cx="4023360" cy="731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15" name="Shape 13"/>
          <p:cNvSpPr/>
          <p:nvPr/>
        </p:nvSpPr>
        <p:spPr>
          <a:xfrm>
            <a:off x="457200" y="3108960"/>
            <a:ext cx="64008" cy="731520"/>
          </a:xfrm>
          <a:prstGeom prst="rect">
            <a:avLst/>
          </a:prstGeom>
          <a:solidFill>
            <a:srgbClr val="7C3AED"/>
          </a:solidFill>
          <a:ln/>
        </p:spPr>
        <p:txBody>
          <a:bodyPr/>
          <a:lstStyle/>
          <a:p>
            <a:endParaRPr lang="en-CN"/>
          </a:p>
        </p:txBody>
      </p:sp>
      <p:sp>
        <p:nvSpPr>
          <p:cNvPr id="16" name="Text 14"/>
          <p:cNvSpPr/>
          <p:nvPr/>
        </p:nvSpPr>
        <p:spPr>
          <a:xfrm>
            <a:off x="640080" y="3136392"/>
            <a:ext cx="2286000" cy="27432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Sandbox Replay</a:t>
            </a:r>
            <a:endParaRPr lang="en-US" sz="1200" dirty="0"/>
          </a:p>
        </p:txBody>
      </p:sp>
      <p:sp>
        <p:nvSpPr>
          <p:cNvPr id="17" name="Text 15"/>
          <p:cNvSpPr/>
          <p:nvPr/>
        </p:nvSpPr>
        <p:spPr>
          <a:xfrm>
            <a:off x="640080" y="3410712"/>
            <a:ext cx="365760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Validate draft skills by replaying past fault scenarios.</a:t>
            </a:r>
            <a:endParaRPr lang="en-US" sz="900" dirty="0"/>
          </a:p>
        </p:txBody>
      </p:sp>
      <p:sp>
        <p:nvSpPr>
          <p:cNvPr id="18" name="Text 16"/>
          <p:cNvSpPr/>
          <p:nvPr/>
        </p:nvSpPr>
        <p:spPr>
          <a:xfrm>
            <a:off x="640080" y="3611880"/>
            <a:ext cx="3657600" cy="182880"/>
          </a:xfrm>
          <a:prstGeom prst="rect">
            <a:avLst/>
          </a:prstGeom>
          <a:noFill/>
          <a:ln/>
        </p:spPr>
        <p:txBody>
          <a:bodyPr wrap="square" lIns="0" tIns="0" rIns="0" bIns="0" rtlCol="0" anchor="ctr"/>
          <a:lstStyle/>
          <a:p>
            <a:pPr marL="0" indent="0">
              <a:buNone/>
            </a:pPr>
            <a:r>
              <a:rPr lang="en-US" sz="800" i="1" dirty="0">
                <a:solidFill>
                  <a:srgbClr val="D97706"/>
                </a:solidFill>
                <a:latin typeface="Calibri" pitchFamily="34" charset="0"/>
                <a:ea typeface="Calibri" pitchFamily="34" charset="-122"/>
                <a:cs typeface="Calibri" pitchFamily="34" charset="-120"/>
              </a:rPr>
              <a:t>Cost of fault injection env</a:t>
            </a:r>
            <a:endParaRPr lang="en-US" sz="800" dirty="0"/>
          </a:p>
        </p:txBody>
      </p:sp>
      <p:sp>
        <p:nvSpPr>
          <p:cNvPr id="19" name="Shape 17"/>
          <p:cNvSpPr/>
          <p:nvPr/>
        </p:nvSpPr>
        <p:spPr>
          <a:xfrm>
            <a:off x="457200" y="3977640"/>
            <a:ext cx="4023360" cy="731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20" name="Shape 18"/>
          <p:cNvSpPr/>
          <p:nvPr/>
        </p:nvSpPr>
        <p:spPr>
          <a:xfrm>
            <a:off x="457200" y="3977640"/>
            <a:ext cx="64008" cy="731520"/>
          </a:xfrm>
          <a:prstGeom prst="rect">
            <a:avLst/>
          </a:prstGeom>
          <a:solidFill>
            <a:srgbClr val="7C3AED"/>
          </a:solidFill>
          <a:ln/>
        </p:spPr>
        <p:txBody>
          <a:bodyPr/>
          <a:lstStyle/>
          <a:p>
            <a:endParaRPr lang="en-CN"/>
          </a:p>
        </p:txBody>
      </p:sp>
      <p:sp>
        <p:nvSpPr>
          <p:cNvPr id="21" name="Text 19"/>
          <p:cNvSpPr/>
          <p:nvPr/>
        </p:nvSpPr>
        <p:spPr>
          <a:xfrm>
            <a:off x="640080" y="4005072"/>
            <a:ext cx="2286000" cy="27432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Skill Expiration</a:t>
            </a:r>
            <a:endParaRPr lang="en-US" sz="1200" dirty="0"/>
          </a:p>
        </p:txBody>
      </p:sp>
      <p:sp>
        <p:nvSpPr>
          <p:cNvPr id="22" name="Text 20"/>
          <p:cNvSpPr/>
          <p:nvPr/>
        </p:nvSpPr>
        <p:spPr>
          <a:xfrm>
            <a:off x="640080" y="4279392"/>
            <a:ext cx="365760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Unused skills decay. Infra changes trigger re-validation.</a:t>
            </a:r>
            <a:endParaRPr lang="en-US" sz="900" dirty="0"/>
          </a:p>
        </p:txBody>
      </p:sp>
      <p:sp>
        <p:nvSpPr>
          <p:cNvPr id="23" name="Text 21"/>
          <p:cNvSpPr/>
          <p:nvPr/>
        </p:nvSpPr>
        <p:spPr>
          <a:xfrm>
            <a:off x="640080" y="4480560"/>
            <a:ext cx="3657600" cy="182880"/>
          </a:xfrm>
          <a:prstGeom prst="rect">
            <a:avLst/>
          </a:prstGeom>
          <a:noFill/>
          <a:ln/>
        </p:spPr>
        <p:txBody>
          <a:bodyPr wrap="square" lIns="0" tIns="0" rIns="0" bIns="0" rtlCol="0" anchor="ctr"/>
          <a:lstStyle/>
          <a:p>
            <a:pPr marL="0" indent="0">
              <a:buNone/>
            </a:pPr>
            <a:r>
              <a:rPr lang="en-US" sz="800" i="1" dirty="0">
                <a:solidFill>
                  <a:srgbClr val="D97706"/>
                </a:solidFill>
                <a:latin typeface="Calibri" pitchFamily="34" charset="0"/>
                <a:ea typeface="Calibri" pitchFamily="34" charset="-122"/>
                <a:cs typeface="Calibri" pitchFamily="34" charset="-120"/>
              </a:rPr>
              <a:t>Minimal</a:t>
            </a:r>
            <a:endParaRPr lang="en-US" sz="800" dirty="0"/>
          </a:p>
        </p:txBody>
      </p:sp>
      <p:sp>
        <p:nvSpPr>
          <p:cNvPr id="24" name="Shape 22"/>
          <p:cNvSpPr/>
          <p:nvPr/>
        </p:nvSpPr>
        <p:spPr>
          <a:xfrm>
            <a:off x="4754880" y="1371600"/>
            <a:ext cx="4023360" cy="731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25" name="Shape 23"/>
          <p:cNvSpPr/>
          <p:nvPr/>
        </p:nvSpPr>
        <p:spPr>
          <a:xfrm>
            <a:off x="4754880" y="1371600"/>
            <a:ext cx="64008" cy="731520"/>
          </a:xfrm>
          <a:prstGeom prst="rect">
            <a:avLst/>
          </a:prstGeom>
          <a:solidFill>
            <a:srgbClr val="7C3AED"/>
          </a:solidFill>
          <a:ln/>
        </p:spPr>
        <p:txBody>
          <a:bodyPr/>
          <a:lstStyle/>
          <a:p>
            <a:endParaRPr lang="en-CN"/>
          </a:p>
        </p:txBody>
      </p:sp>
      <p:sp>
        <p:nvSpPr>
          <p:cNvPr id="26" name="Text 24"/>
          <p:cNvSpPr/>
          <p:nvPr/>
        </p:nvSpPr>
        <p:spPr>
          <a:xfrm>
            <a:off x="4937760" y="1399032"/>
            <a:ext cx="2286000" cy="27432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Wisdom Maturation</a:t>
            </a:r>
            <a:endParaRPr lang="en-US" sz="1200" dirty="0"/>
          </a:p>
        </p:txBody>
      </p:sp>
      <p:sp>
        <p:nvSpPr>
          <p:cNvPr id="27" name="Text 25"/>
          <p:cNvSpPr/>
          <p:nvPr/>
        </p:nvSpPr>
        <p:spPr>
          <a:xfrm>
            <a:off x="4937760" y="1673352"/>
            <a:ext cx="365760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Reinforce, contradict, merge, and retire wisdom entries.</a:t>
            </a:r>
            <a:endParaRPr lang="en-US" sz="900" dirty="0"/>
          </a:p>
        </p:txBody>
      </p:sp>
      <p:sp>
        <p:nvSpPr>
          <p:cNvPr id="28" name="Text 26"/>
          <p:cNvSpPr/>
          <p:nvPr/>
        </p:nvSpPr>
        <p:spPr>
          <a:xfrm>
            <a:off x="4937760" y="1874520"/>
            <a:ext cx="3657600" cy="182880"/>
          </a:xfrm>
          <a:prstGeom prst="rect">
            <a:avLst/>
          </a:prstGeom>
          <a:noFill/>
          <a:ln/>
        </p:spPr>
        <p:txBody>
          <a:bodyPr wrap="square" lIns="0" tIns="0" rIns="0" bIns="0" rtlCol="0" anchor="ctr"/>
          <a:lstStyle/>
          <a:p>
            <a:pPr marL="0" indent="0">
              <a:buNone/>
            </a:pPr>
            <a:r>
              <a:rPr lang="en-US" sz="800" i="1" dirty="0">
                <a:solidFill>
                  <a:srgbClr val="D97706"/>
                </a:solidFill>
                <a:latin typeface="Calibri" pitchFamily="34" charset="0"/>
                <a:ea typeface="Calibri" pitchFamily="34" charset="-122"/>
                <a:cs typeface="Calibri" pitchFamily="34" charset="-120"/>
              </a:rPr>
              <a:t>LLM merge judgment quality</a:t>
            </a:r>
            <a:endParaRPr lang="en-US" sz="800" dirty="0"/>
          </a:p>
        </p:txBody>
      </p:sp>
      <p:sp>
        <p:nvSpPr>
          <p:cNvPr id="29" name="Shape 27"/>
          <p:cNvSpPr/>
          <p:nvPr/>
        </p:nvSpPr>
        <p:spPr>
          <a:xfrm>
            <a:off x="4754880" y="2240280"/>
            <a:ext cx="4023360" cy="731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30" name="Shape 28"/>
          <p:cNvSpPr/>
          <p:nvPr/>
        </p:nvSpPr>
        <p:spPr>
          <a:xfrm>
            <a:off x="4754880" y="2240280"/>
            <a:ext cx="64008" cy="731520"/>
          </a:xfrm>
          <a:prstGeom prst="rect">
            <a:avLst/>
          </a:prstGeom>
          <a:solidFill>
            <a:srgbClr val="7C3AED"/>
          </a:solidFill>
          <a:ln/>
        </p:spPr>
        <p:txBody>
          <a:bodyPr/>
          <a:lstStyle/>
          <a:p>
            <a:endParaRPr lang="en-CN"/>
          </a:p>
        </p:txBody>
      </p:sp>
      <p:sp>
        <p:nvSpPr>
          <p:cNvPr id="31" name="Text 29"/>
          <p:cNvSpPr/>
          <p:nvPr/>
        </p:nvSpPr>
        <p:spPr>
          <a:xfrm>
            <a:off x="4937760" y="2267712"/>
            <a:ext cx="2286000" cy="27432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Calibration by Category</a:t>
            </a:r>
            <a:endParaRPr lang="en-US" sz="1200" dirty="0"/>
          </a:p>
        </p:txBody>
      </p:sp>
      <p:sp>
        <p:nvSpPr>
          <p:cNvPr id="32" name="Text 30"/>
          <p:cNvSpPr/>
          <p:nvPr/>
        </p:nvSpPr>
        <p:spPr>
          <a:xfrm>
            <a:off x="4937760" y="2542032"/>
            <a:ext cx="365760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Separate calibration per issue category (30+ samples needed).</a:t>
            </a:r>
            <a:endParaRPr lang="en-US" sz="900" dirty="0"/>
          </a:p>
        </p:txBody>
      </p:sp>
      <p:sp>
        <p:nvSpPr>
          <p:cNvPr id="33" name="Text 31"/>
          <p:cNvSpPr/>
          <p:nvPr/>
        </p:nvSpPr>
        <p:spPr>
          <a:xfrm>
            <a:off x="4937760" y="2743200"/>
            <a:ext cx="3657600" cy="182880"/>
          </a:xfrm>
          <a:prstGeom prst="rect">
            <a:avLst/>
          </a:prstGeom>
          <a:noFill/>
          <a:ln/>
        </p:spPr>
        <p:txBody>
          <a:bodyPr wrap="square" lIns="0" tIns="0" rIns="0" bIns="0" rtlCol="0" anchor="ctr"/>
          <a:lstStyle/>
          <a:p>
            <a:pPr marL="0" indent="0">
              <a:buNone/>
            </a:pPr>
            <a:r>
              <a:rPr lang="en-US" sz="800" i="1" dirty="0">
                <a:solidFill>
                  <a:srgbClr val="D97706"/>
                </a:solidFill>
                <a:latin typeface="Calibri" pitchFamily="34" charset="0"/>
                <a:ea typeface="Calibri" pitchFamily="34" charset="-122"/>
                <a:cs typeface="Calibri" pitchFamily="34" charset="-120"/>
              </a:rPr>
              <a:t>Data volume requirement</a:t>
            </a:r>
            <a:endParaRPr lang="en-US" sz="800" dirty="0"/>
          </a:p>
        </p:txBody>
      </p:sp>
      <p:sp>
        <p:nvSpPr>
          <p:cNvPr id="34" name="Shape 32"/>
          <p:cNvSpPr/>
          <p:nvPr/>
        </p:nvSpPr>
        <p:spPr>
          <a:xfrm>
            <a:off x="4754880" y="3108960"/>
            <a:ext cx="4023360" cy="731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35" name="Shape 33"/>
          <p:cNvSpPr/>
          <p:nvPr/>
        </p:nvSpPr>
        <p:spPr>
          <a:xfrm>
            <a:off x="4754880" y="3108960"/>
            <a:ext cx="64008" cy="731520"/>
          </a:xfrm>
          <a:prstGeom prst="rect">
            <a:avLst/>
          </a:prstGeom>
          <a:solidFill>
            <a:srgbClr val="7C3AED"/>
          </a:solidFill>
          <a:ln/>
        </p:spPr>
        <p:txBody>
          <a:bodyPr/>
          <a:lstStyle/>
          <a:p>
            <a:endParaRPr lang="en-CN"/>
          </a:p>
        </p:txBody>
      </p:sp>
      <p:sp>
        <p:nvSpPr>
          <p:cNvPr id="36" name="Text 34"/>
          <p:cNvSpPr/>
          <p:nvPr/>
        </p:nvSpPr>
        <p:spPr>
          <a:xfrm>
            <a:off x="4937760" y="3136392"/>
            <a:ext cx="2286000" cy="27432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Self-Verification</a:t>
            </a:r>
            <a:endParaRPr lang="en-US" sz="1200" dirty="0"/>
          </a:p>
        </p:txBody>
      </p:sp>
      <p:sp>
        <p:nvSpPr>
          <p:cNvPr id="37" name="Text 35"/>
          <p:cNvSpPr/>
          <p:nvPr/>
        </p:nvSpPr>
        <p:spPr>
          <a:xfrm>
            <a:off x="4937760" y="3410712"/>
            <a:ext cx="365760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Independent reasoning quality check before RCA output (16 failure types).</a:t>
            </a:r>
            <a:endParaRPr lang="en-US" sz="900" dirty="0"/>
          </a:p>
        </p:txBody>
      </p:sp>
      <p:sp>
        <p:nvSpPr>
          <p:cNvPr id="38" name="Text 36"/>
          <p:cNvSpPr/>
          <p:nvPr/>
        </p:nvSpPr>
        <p:spPr>
          <a:xfrm>
            <a:off x="4937760" y="3611880"/>
            <a:ext cx="3657600" cy="182880"/>
          </a:xfrm>
          <a:prstGeom prst="rect">
            <a:avLst/>
          </a:prstGeom>
          <a:noFill/>
          <a:ln/>
        </p:spPr>
        <p:txBody>
          <a:bodyPr wrap="square" lIns="0" tIns="0" rIns="0" bIns="0" rtlCol="0" anchor="ctr"/>
          <a:lstStyle/>
          <a:p>
            <a:pPr marL="0" indent="0">
              <a:buNone/>
            </a:pPr>
            <a:r>
              <a:rPr lang="en-US" sz="800" i="1" dirty="0">
                <a:solidFill>
                  <a:srgbClr val="D97706"/>
                </a:solidFill>
                <a:latin typeface="Calibri" pitchFamily="34" charset="0"/>
                <a:ea typeface="Calibri" pitchFamily="34" charset="-122"/>
                <a:cs typeface="Calibri" pitchFamily="34" charset="-120"/>
              </a:rPr>
              <a:t>2x LLM cost per RCA</a:t>
            </a:r>
            <a:endParaRPr lang="en-US" sz="800" dirty="0"/>
          </a:p>
        </p:txBody>
      </p:sp>
      <p:sp>
        <p:nvSpPr>
          <p:cNvPr id="39" name="Shape 37"/>
          <p:cNvSpPr/>
          <p:nvPr/>
        </p:nvSpPr>
        <p:spPr>
          <a:xfrm>
            <a:off x="4754880" y="3977640"/>
            <a:ext cx="4023360" cy="731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40" name="Shape 38"/>
          <p:cNvSpPr/>
          <p:nvPr/>
        </p:nvSpPr>
        <p:spPr>
          <a:xfrm>
            <a:off x="4754880" y="3977640"/>
            <a:ext cx="64008" cy="731520"/>
          </a:xfrm>
          <a:prstGeom prst="rect">
            <a:avLst/>
          </a:prstGeom>
          <a:solidFill>
            <a:srgbClr val="7C3AED"/>
          </a:solidFill>
          <a:ln/>
        </p:spPr>
        <p:txBody>
          <a:bodyPr/>
          <a:lstStyle/>
          <a:p>
            <a:endParaRPr lang="en-CN"/>
          </a:p>
        </p:txBody>
      </p:sp>
      <p:sp>
        <p:nvSpPr>
          <p:cNvPr id="41" name="Text 39"/>
          <p:cNvSpPr/>
          <p:nvPr/>
        </p:nvSpPr>
        <p:spPr>
          <a:xfrm>
            <a:off x="4937760" y="4005072"/>
            <a:ext cx="2286000" cy="27432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Agent Skill Proposals</a:t>
            </a:r>
            <a:endParaRPr lang="en-US" sz="1200" dirty="0"/>
          </a:p>
        </p:txBody>
      </p:sp>
      <p:sp>
        <p:nvSpPr>
          <p:cNvPr id="42" name="Text 40"/>
          <p:cNvSpPr/>
          <p:nvPr/>
        </p:nvSpPr>
        <p:spPr>
          <a:xfrm>
            <a:off x="4937760" y="4279392"/>
            <a:ext cx="3657600" cy="201168"/>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 suggests skill improvements after deviating from existing skill.</a:t>
            </a:r>
            <a:endParaRPr lang="en-US" sz="900" dirty="0"/>
          </a:p>
        </p:txBody>
      </p:sp>
      <p:sp>
        <p:nvSpPr>
          <p:cNvPr id="43" name="Text 41"/>
          <p:cNvSpPr/>
          <p:nvPr/>
        </p:nvSpPr>
        <p:spPr>
          <a:xfrm>
            <a:off x="4937760" y="4480560"/>
            <a:ext cx="3657600" cy="182880"/>
          </a:xfrm>
          <a:prstGeom prst="rect">
            <a:avLst/>
          </a:prstGeom>
          <a:noFill/>
          <a:ln/>
        </p:spPr>
        <p:txBody>
          <a:bodyPr wrap="square" lIns="0" tIns="0" rIns="0" bIns="0" rtlCol="0" anchor="ctr"/>
          <a:lstStyle/>
          <a:p>
            <a:pPr marL="0" indent="0">
              <a:buNone/>
            </a:pPr>
            <a:r>
              <a:rPr lang="en-US" sz="800" i="1" dirty="0">
                <a:solidFill>
                  <a:srgbClr val="D97706"/>
                </a:solidFill>
                <a:latin typeface="Calibri" pitchFamily="34" charset="0"/>
                <a:ea typeface="Calibri" pitchFamily="34" charset="-122"/>
                <a:cs typeface="Calibri" pitchFamily="34" charset="-120"/>
              </a:rPr>
              <a:t>Minimal</a:t>
            </a:r>
            <a:endParaRPr lang="en-US" sz="800" dirty="0"/>
          </a:p>
        </p:txBody>
      </p:sp>
      <p:sp>
        <p:nvSpPr>
          <p:cNvPr id="44" name="Text 42"/>
          <p:cNvSpPr/>
          <p:nvPr/>
        </p:nvSpPr>
        <p:spPr>
          <a:xfrm>
            <a:off x="457200" y="4709160"/>
            <a:ext cx="8229600" cy="274320"/>
          </a:xfrm>
          <a:prstGeom prst="rect">
            <a:avLst/>
          </a:prstGeom>
          <a:noFill/>
          <a:ln/>
        </p:spPr>
        <p:txBody>
          <a:bodyPr wrap="square" lIns="0" tIns="0" rIns="0" bIns="0"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Each task requires A/B testing to prove ROI before production deployment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F2B4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txBody>
          <a:bodyPr/>
          <a:lstStyle/>
          <a:p>
            <a:endParaRPr lang="en-CN"/>
          </a:p>
        </p:txBody>
      </p:sp>
      <p:sp>
        <p:nvSpPr>
          <p:cNvPr id="3" name="Text 1"/>
          <p:cNvSpPr/>
          <p:nvPr/>
        </p:nvSpPr>
        <p:spPr>
          <a:xfrm>
            <a:off x="731520" y="274320"/>
            <a:ext cx="7315200" cy="5486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Phase 4: Autonomous Operations</a:t>
            </a:r>
            <a:endParaRPr lang="en-US" sz="3200" dirty="0"/>
          </a:p>
        </p:txBody>
      </p:sp>
      <p:sp>
        <p:nvSpPr>
          <p:cNvPr id="4" name="Text 2"/>
          <p:cNvSpPr/>
          <p:nvPr/>
        </p:nvSpPr>
        <p:spPr>
          <a:xfrm>
            <a:off x="731520" y="777240"/>
            <a:ext cx="7315200" cy="320040"/>
          </a:xfrm>
          <a:prstGeom prst="rect">
            <a:avLst/>
          </a:prstGeom>
          <a:noFill/>
          <a:ln/>
        </p:spPr>
        <p:txBody>
          <a:bodyPr wrap="square" lIns="0" tIns="0" rIns="0" bIns="0" rtlCol="0" anchor="ctr"/>
          <a:lstStyle/>
          <a:p>
            <a:pPr marL="0" indent="0">
              <a:buNone/>
            </a:pPr>
            <a:r>
              <a:rPr lang="en-US" sz="1300" dirty="0">
                <a:solidFill>
                  <a:srgbClr val="06B6D4"/>
                </a:solidFill>
                <a:latin typeface="Calibri" pitchFamily="34" charset="0"/>
                <a:ea typeface="Calibri" pitchFamily="34" charset="-122"/>
                <a:cs typeface="Calibri" pitchFamily="34" charset="-120"/>
              </a:rPr>
              <a:t>2028+  |  7 Tasks  |  The Ultimate Vision</a:t>
            </a:r>
            <a:endParaRPr lang="en-US" sz="1300" dirty="0"/>
          </a:p>
        </p:txBody>
      </p:sp>
      <p:sp>
        <p:nvSpPr>
          <p:cNvPr id="5" name="Shape 3"/>
          <p:cNvSpPr/>
          <p:nvPr/>
        </p:nvSpPr>
        <p:spPr>
          <a:xfrm>
            <a:off x="457200" y="1371600"/>
            <a:ext cx="4023360" cy="960120"/>
          </a:xfrm>
          <a:prstGeom prst="rect">
            <a:avLst/>
          </a:prstGeom>
          <a:solidFill>
            <a:srgbClr val="152E44"/>
          </a:solidFill>
          <a:ln/>
        </p:spPr>
        <p:txBody>
          <a:bodyPr/>
          <a:lstStyle/>
          <a:p>
            <a:endParaRPr lang="en-CN"/>
          </a:p>
        </p:txBody>
      </p:sp>
      <p:sp>
        <p:nvSpPr>
          <p:cNvPr id="6" name="Shape 4"/>
          <p:cNvSpPr/>
          <p:nvPr/>
        </p:nvSpPr>
        <p:spPr>
          <a:xfrm>
            <a:off x="457200" y="1371600"/>
            <a:ext cx="64008" cy="960120"/>
          </a:xfrm>
          <a:prstGeom prst="rect">
            <a:avLst/>
          </a:prstGeom>
          <a:solidFill>
            <a:srgbClr val="06B6D4"/>
          </a:solidFill>
          <a:ln/>
        </p:spPr>
        <p:txBody>
          <a:bodyPr/>
          <a:lstStyle/>
          <a:p>
            <a:endParaRPr lang="en-CN"/>
          </a:p>
        </p:txBody>
      </p:sp>
      <p:sp>
        <p:nvSpPr>
          <p:cNvPr id="7" name="Text 5"/>
          <p:cNvSpPr/>
          <p:nvPr/>
        </p:nvSpPr>
        <p:spPr>
          <a:xfrm>
            <a:off x="640080" y="1417320"/>
            <a:ext cx="3657600" cy="320040"/>
          </a:xfrm>
          <a:prstGeom prst="rect">
            <a:avLst/>
          </a:prstGeom>
          <a:noFill/>
          <a:ln/>
        </p:spPr>
        <p:txBody>
          <a:bodyPr wrap="square" lIns="0" tIns="0" rIns="0" bIns="0" rtlCol="0" anchor="ctr"/>
          <a:lstStyle/>
          <a:p>
            <a:pPr marL="0" indent="0">
              <a:buNone/>
            </a:pPr>
            <a:r>
              <a:rPr lang="en-US" sz="1300" b="1" dirty="0">
                <a:solidFill>
                  <a:srgbClr val="06B6D4"/>
                </a:solidFill>
                <a:latin typeface="Georgia" pitchFamily="34" charset="0"/>
                <a:ea typeface="Georgia" pitchFamily="34" charset="-122"/>
                <a:cs typeface="Georgia" pitchFamily="34" charset="-120"/>
              </a:rPr>
              <a:t>Cross-Service Correlation</a:t>
            </a:r>
            <a:endParaRPr lang="en-US" sz="1300" dirty="0"/>
          </a:p>
        </p:txBody>
      </p:sp>
      <p:sp>
        <p:nvSpPr>
          <p:cNvPr id="8" name="Text 6"/>
          <p:cNvSpPr/>
          <p:nvPr/>
        </p:nvSpPr>
        <p:spPr>
          <a:xfrm>
            <a:off x="640080" y="1737360"/>
            <a:ext cx="3657600" cy="5029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N alerts from different services mapped to 1 root incident via Service Model + dependency graph.</a:t>
            </a:r>
            <a:endParaRPr lang="en-US" sz="1000" dirty="0"/>
          </a:p>
        </p:txBody>
      </p:sp>
      <p:sp>
        <p:nvSpPr>
          <p:cNvPr id="9" name="Shape 7"/>
          <p:cNvSpPr/>
          <p:nvPr/>
        </p:nvSpPr>
        <p:spPr>
          <a:xfrm>
            <a:off x="457200" y="2514600"/>
            <a:ext cx="4023360" cy="960120"/>
          </a:xfrm>
          <a:prstGeom prst="rect">
            <a:avLst/>
          </a:prstGeom>
          <a:solidFill>
            <a:srgbClr val="152E44"/>
          </a:solidFill>
          <a:ln/>
        </p:spPr>
        <p:txBody>
          <a:bodyPr/>
          <a:lstStyle/>
          <a:p>
            <a:endParaRPr lang="en-CN"/>
          </a:p>
        </p:txBody>
      </p:sp>
      <p:sp>
        <p:nvSpPr>
          <p:cNvPr id="10" name="Shape 8"/>
          <p:cNvSpPr/>
          <p:nvPr/>
        </p:nvSpPr>
        <p:spPr>
          <a:xfrm>
            <a:off x="457200" y="2514600"/>
            <a:ext cx="64008" cy="960120"/>
          </a:xfrm>
          <a:prstGeom prst="rect">
            <a:avLst/>
          </a:prstGeom>
          <a:solidFill>
            <a:srgbClr val="06B6D4"/>
          </a:solidFill>
          <a:ln/>
        </p:spPr>
        <p:txBody>
          <a:bodyPr/>
          <a:lstStyle/>
          <a:p>
            <a:endParaRPr lang="en-CN"/>
          </a:p>
        </p:txBody>
      </p:sp>
      <p:sp>
        <p:nvSpPr>
          <p:cNvPr id="11" name="Text 9"/>
          <p:cNvSpPr/>
          <p:nvPr/>
        </p:nvSpPr>
        <p:spPr>
          <a:xfrm>
            <a:off x="640080" y="2560320"/>
            <a:ext cx="3657600" cy="320040"/>
          </a:xfrm>
          <a:prstGeom prst="rect">
            <a:avLst/>
          </a:prstGeom>
          <a:noFill/>
          <a:ln/>
        </p:spPr>
        <p:txBody>
          <a:bodyPr wrap="square" lIns="0" tIns="0" rIns="0" bIns="0" rtlCol="0" anchor="ctr"/>
          <a:lstStyle/>
          <a:p>
            <a:pPr marL="0" indent="0">
              <a:buNone/>
            </a:pPr>
            <a:r>
              <a:rPr lang="en-US" sz="1300" b="1" dirty="0">
                <a:solidFill>
                  <a:srgbClr val="06B6D4"/>
                </a:solidFill>
                <a:latin typeface="Georgia" pitchFamily="34" charset="0"/>
                <a:ea typeface="Georgia" pitchFamily="34" charset="-122"/>
                <a:cs typeface="Georgia" pitchFamily="34" charset="-120"/>
              </a:rPr>
              <a:t>Proactive Change Risk</a:t>
            </a:r>
            <a:endParaRPr lang="en-US" sz="1300" dirty="0"/>
          </a:p>
        </p:txBody>
      </p:sp>
      <p:sp>
        <p:nvSpPr>
          <p:cNvPr id="12" name="Text 10"/>
          <p:cNvSpPr/>
          <p:nvPr/>
        </p:nvSpPr>
        <p:spPr>
          <a:xfrm>
            <a:off x="640080" y="2880360"/>
            <a:ext cx="3657600" cy="5029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Monitor deploy announcements in IM channels. Cross-reference with Wisdom: 'payment-service deploys have 30% incident rate.'</a:t>
            </a:r>
            <a:endParaRPr lang="en-US" sz="1000" dirty="0"/>
          </a:p>
        </p:txBody>
      </p:sp>
      <p:sp>
        <p:nvSpPr>
          <p:cNvPr id="13" name="Shape 11"/>
          <p:cNvSpPr/>
          <p:nvPr/>
        </p:nvSpPr>
        <p:spPr>
          <a:xfrm>
            <a:off x="457200" y="3657600"/>
            <a:ext cx="4023360" cy="960120"/>
          </a:xfrm>
          <a:prstGeom prst="rect">
            <a:avLst/>
          </a:prstGeom>
          <a:solidFill>
            <a:srgbClr val="152E44"/>
          </a:solidFill>
          <a:ln/>
        </p:spPr>
        <p:txBody>
          <a:bodyPr/>
          <a:lstStyle/>
          <a:p>
            <a:endParaRPr lang="en-CN"/>
          </a:p>
        </p:txBody>
      </p:sp>
      <p:sp>
        <p:nvSpPr>
          <p:cNvPr id="14" name="Shape 12"/>
          <p:cNvSpPr/>
          <p:nvPr/>
        </p:nvSpPr>
        <p:spPr>
          <a:xfrm>
            <a:off x="457200" y="3657600"/>
            <a:ext cx="64008" cy="960120"/>
          </a:xfrm>
          <a:prstGeom prst="rect">
            <a:avLst/>
          </a:prstGeom>
          <a:solidFill>
            <a:srgbClr val="06B6D4"/>
          </a:solidFill>
          <a:ln/>
        </p:spPr>
        <p:txBody>
          <a:bodyPr/>
          <a:lstStyle/>
          <a:p>
            <a:endParaRPr lang="en-CN"/>
          </a:p>
        </p:txBody>
      </p:sp>
      <p:sp>
        <p:nvSpPr>
          <p:cNvPr id="15" name="Text 13"/>
          <p:cNvSpPr/>
          <p:nvPr/>
        </p:nvSpPr>
        <p:spPr>
          <a:xfrm>
            <a:off x="640080" y="3703320"/>
            <a:ext cx="3657600" cy="320040"/>
          </a:xfrm>
          <a:prstGeom prst="rect">
            <a:avLst/>
          </a:prstGeom>
          <a:noFill/>
          <a:ln/>
        </p:spPr>
        <p:txBody>
          <a:bodyPr wrap="square" lIns="0" tIns="0" rIns="0" bIns="0" rtlCol="0" anchor="ctr"/>
          <a:lstStyle/>
          <a:p>
            <a:pPr marL="0" indent="0">
              <a:buNone/>
            </a:pPr>
            <a:r>
              <a:rPr lang="en-US" sz="1300" b="1" dirty="0">
                <a:solidFill>
                  <a:srgbClr val="06B6D4"/>
                </a:solidFill>
                <a:latin typeface="Georgia" pitchFamily="34" charset="0"/>
                <a:ea typeface="Georgia" pitchFamily="34" charset="-122"/>
                <a:cs typeface="Georgia" pitchFamily="34" charset="-120"/>
              </a:rPr>
              <a:t>Skill Generalization</a:t>
            </a:r>
            <a:endParaRPr lang="en-US" sz="1300" dirty="0"/>
          </a:p>
        </p:txBody>
      </p:sp>
      <p:sp>
        <p:nvSpPr>
          <p:cNvPr id="16" name="Text 14"/>
          <p:cNvSpPr/>
          <p:nvPr/>
        </p:nvSpPr>
        <p:spPr>
          <a:xfrm>
            <a:off x="640080" y="4023360"/>
            <a:ext cx="3657600" cy="5029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Abstract specific skills into reusable templates. 'ECS OOM' + 'K8s OOM' = 'Container Memory Exhaustion' pattern.</a:t>
            </a:r>
            <a:endParaRPr lang="en-US" sz="1000" dirty="0"/>
          </a:p>
        </p:txBody>
      </p:sp>
      <p:sp>
        <p:nvSpPr>
          <p:cNvPr id="17" name="Shape 15"/>
          <p:cNvSpPr/>
          <p:nvPr/>
        </p:nvSpPr>
        <p:spPr>
          <a:xfrm>
            <a:off x="4754880" y="1371600"/>
            <a:ext cx="4023360" cy="960120"/>
          </a:xfrm>
          <a:prstGeom prst="rect">
            <a:avLst/>
          </a:prstGeom>
          <a:solidFill>
            <a:srgbClr val="152E44"/>
          </a:solidFill>
          <a:ln/>
        </p:spPr>
        <p:txBody>
          <a:bodyPr/>
          <a:lstStyle/>
          <a:p>
            <a:endParaRPr lang="en-CN"/>
          </a:p>
        </p:txBody>
      </p:sp>
      <p:sp>
        <p:nvSpPr>
          <p:cNvPr id="18" name="Shape 16"/>
          <p:cNvSpPr/>
          <p:nvPr/>
        </p:nvSpPr>
        <p:spPr>
          <a:xfrm>
            <a:off x="4754880" y="1371600"/>
            <a:ext cx="64008" cy="960120"/>
          </a:xfrm>
          <a:prstGeom prst="rect">
            <a:avLst/>
          </a:prstGeom>
          <a:solidFill>
            <a:srgbClr val="06B6D4"/>
          </a:solidFill>
          <a:ln/>
        </p:spPr>
        <p:txBody>
          <a:bodyPr/>
          <a:lstStyle/>
          <a:p>
            <a:endParaRPr lang="en-CN"/>
          </a:p>
        </p:txBody>
      </p:sp>
      <p:sp>
        <p:nvSpPr>
          <p:cNvPr id="19" name="Text 17"/>
          <p:cNvSpPr/>
          <p:nvPr/>
        </p:nvSpPr>
        <p:spPr>
          <a:xfrm>
            <a:off x="4937760" y="1417320"/>
            <a:ext cx="3657600" cy="320040"/>
          </a:xfrm>
          <a:prstGeom prst="rect">
            <a:avLst/>
          </a:prstGeom>
          <a:noFill/>
          <a:ln/>
        </p:spPr>
        <p:txBody>
          <a:bodyPr wrap="square" lIns="0" tIns="0" rIns="0" bIns="0" rtlCol="0" anchor="ctr"/>
          <a:lstStyle/>
          <a:p>
            <a:pPr marL="0" indent="0">
              <a:buNone/>
            </a:pPr>
            <a:r>
              <a:rPr lang="en-US" sz="1300" b="1" dirty="0">
                <a:solidFill>
                  <a:srgbClr val="06B6D4"/>
                </a:solidFill>
                <a:latin typeface="Georgia" pitchFamily="34" charset="0"/>
                <a:ea typeface="Georgia" pitchFamily="34" charset="-122"/>
                <a:cs typeface="Georgia" pitchFamily="34" charset="-120"/>
              </a:rPr>
              <a:t>Code Interpreter</a:t>
            </a:r>
            <a:endParaRPr lang="en-US" sz="1300" dirty="0"/>
          </a:p>
        </p:txBody>
      </p:sp>
      <p:sp>
        <p:nvSpPr>
          <p:cNvPr id="20" name="Text 18"/>
          <p:cNvSpPr/>
          <p:nvPr/>
        </p:nvSpPr>
        <p:spPr>
          <a:xfrm>
            <a:off x="4937760" y="1737360"/>
            <a:ext cx="3657600" cy="5029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Agent writes custom Python/SQL/PromQL queries for novel scenarios. Sandboxed execution.</a:t>
            </a:r>
            <a:endParaRPr lang="en-US" sz="1000" dirty="0"/>
          </a:p>
        </p:txBody>
      </p:sp>
      <p:sp>
        <p:nvSpPr>
          <p:cNvPr id="21" name="Shape 19"/>
          <p:cNvSpPr/>
          <p:nvPr/>
        </p:nvSpPr>
        <p:spPr>
          <a:xfrm>
            <a:off x="4754880" y="2514600"/>
            <a:ext cx="4023360" cy="960120"/>
          </a:xfrm>
          <a:prstGeom prst="rect">
            <a:avLst/>
          </a:prstGeom>
          <a:solidFill>
            <a:srgbClr val="152E44"/>
          </a:solidFill>
          <a:ln/>
        </p:spPr>
        <p:txBody>
          <a:bodyPr/>
          <a:lstStyle/>
          <a:p>
            <a:endParaRPr lang="en-CN"/>
          </a:p>
        </p:txBody>
      </p:sp>
      <p:sp>
        <p:nvSpPr>
          <p:cNvPr id="22" name="Shape 20"/>
          <p:cNvSpPr/>
          <p:nvPr/>
        </p:nvSpPr>
        <p:spPr>
          <a:xfrm>
            <a:off x="4754880" y="2514600"/>
            <a:ext cx="64008" cy="960120"/>
          </a:xfrm>
          <a:prstGeom prst="rect">
            <a:avLst/>
          </a:prstGeom>
          <a:solidFill>
            <a:srgbClr val="06B6D4"/>
          </a:solidFill>
          <a:ln/>
        </p:spPr>
        <p:txBody>
          <a:bodyPr/>
          <a:lstStyle/>
          <a:p>
            <a:endParaRPr lang="en-CN"/>
          </a:p>
        </p:txBody>
      </p:sp>
      <p:sp>
        <p:nvSpPr>
          <p:cNvPr id="23" name="Text 21"/>
          <p:cNvSpPr/>
          <p:nvPr/>
        </p:nvSpPr>
        <p:spPr>
          <a:xfrm>
            <a:off x="4937760" y="2560320"/>
            <a:ext cx="3657600" cy="320040"/>
          </a:xfrm>
          <a:prstGeom prst="rect">
            <a:avLst/>
          </a:prstGeom>
          <a:noFill/>
          <a:ln/>
        </p:spPr>
        <p:txBody>
          <a:bodyPr wrap="square" lIns="0" tIns="0" rIns="0" bIns="0" rtlCol="0" anchor="ctr"/>
          <a:lstStyle/>
          <a:p>
            <a:pPr marL="0" indent="0">
              <a:buNone/>
            </a:pPr>
            <a:r>
              <a:rPr lang="en-US" sz="1300" b="1" dirty="0">
                <a:solidFill>
                  <a:srgbClr val="06B6D4"/>
                </a:solidFill>
                <a:latin typeface="Georgia" pitchFamily="34" charset="0"/>
                <a:ea typeface="Georgia" pitchFamily="34" charset="-122"/>
                <a:cs typeface="Georgia" pitchFamily="34" charset="-120"/>
              </a:rPr>
              <a:t>Graduated Autonomy</a:t>
            </a:r>
            <a:endParaRPr lang="en-US" sz="1300" dirty="0"/>
          </a:p>
        </p:txBody>
      </p:sp>
      <p:sp>
        <p:nvSpPr>
          <p:cNvPr id="24" name="Text 22"/>
          <p:cNvSpPr/>
          <p:nvPr/>
        </p:nvSpPr>
        <p:spPr>
          <a:xfrm>
            <a:off x="4937760" y="2880360"/>
            <a:ext cx="3657600" cy="5029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Expand L-level boundaries as system proves reliability. L1 success &gt; 95% for 3 months = propose L1 expansion.</a:t>
            </a:r>
            <a:endParaRPr lang="en-US" sz="1000" dirty="0"/>
          </a:p>
        </p:txBody>
      </p:sp>
      <p:sp>
        <p:nvSpPr>
          <p:cNvPr id="25" name="Shape 23"/>
          <p:cNvSpPr/>
          <p:nvPr/>
        </p:nvSpPr>
        <p:spPr>
          <a:xfrm>
            <a:off x="4754880" y="3657600"/>
            <a:ext cx="4023360" cy="960120"/>
          </a:xfrm>
          <a:prstGeom prst="rect">
            <a:avLst/>
          </a:prstGeom>
          <a:solidFill>
            <a:srgbClr val="152E44"/>
          </a:solidFill>
          <a:ln/>
        </p:spPr>
        <p:txBody>
          <a:bodyPr/>
          <a:lstStyle/>
          <a:p>
            <a:endParaRPr lang="en-CN"/>
          </a:p>
        </p:txBody>
      </p:sp>
      <p:sp>
        <p:nvSpPr>
          <p:cNvPr id="26" name="Shape 24"/>
          <p:cNvSpPr/>
          <p:nvPr/>
        </p:nvSpPr>
        <p:spPr>
          <a:xfrm>
            <a:off x="4754880" y="3657600"/>
            <a:ext cx="64008" cy="960120"/>
          </a:xfrm>
          <a:prstGeom prst="rect">
            <a:avLst/>
          </a:prstGeom>
          <a:solidFill>
            <a:srgbClr val="06B6D4"/>
          </a:solidFill>
          <a:ln/>
        </p:spPr>
        <p:txBody>
          <a:bodyPr/>
          <a:lstStyle/>
          <a:p>
            <a:endParaRPr lang="en-CN"/>
          </a:p>
        </p:txBody>
      </p:sp>
      <p:sp>
        <p:nvSpPr>
          <p:cNvPr id="27" name="Text 25"/>
          <p:cNvSpPr/>
          <p:nvPr/>
        </p:nvSpPr>
        <p:spPr>
          <a:xfrm>
            <a:off x="4937760" y="3703320"/>
            <a:ext cx="3657600" cy="320040"/>
          </a:xfrm>
          <a:prstGeom prst="rect">
            <a:avLst/>
          </a:prstGeom>
          <a:noFill/>
          <a:ln/>
        </p:spPr>
        <p:txBody>
          <a:bodyPr wrap="square" lIns="0" tIns="0" rIns="0" bIns="0" rtlCol="0" anchor="ctr"/>
          <a:lstStyle/>
          <a:p>
            <a:pPr marL="0" indent="0">
              <a:buNone/>
            </a:pPr>
            <a:r>
              <a:rPr lang="en-US" sz="1300" b="1" dirty="0">
                <a:solidFill>
                  <a:srgbClr val="06B6D4"/>
                </a:solidFill>
                <a:latin typeface="Georgia" pitchFamily="34" charset="0"/>
                <a:ea typeface="Georgia" pitchFamily="34" charset="-122"/>
                <a:cs typeface="Georgia" pitchFamily="34" charset="-120"/>
              </a:rPr>
              <a:t>Multi-Agent Verification</a:t>
            </a:r>
            <a:endParaRPr lang="en-US" sz="1300" dirty="0"/>
          </a:p>
        </p:txBody>
      </p:sp>
      <p:sp>
        <p:nvSpPr>
          <p:cNvPr id="28" name="Text 26"/>
          <p:cNvSpPr/>
          <p:nvPr/>
        </p:nvSpPr>
        <p:spPr>
          <a:xfrm>
            <a:off x="4937760" y="4023360"/>
            <a:ext cx="3657600" cy="5029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2-3 RCA agents independently analyze same incident. Consensus determines confidence.</a:t>
            </a:r>
            <a:endParaRPr lang="en-US" sz="1000" dirty="0"/>
          </a:p>
        </p:txBody>
      </p:sp>
      <p:sp>
        <p:nvSpPr>
          <p:cNvPr id="29" name="Text 27"/>
          <p:cNvSpPr/>
          <p:nvPr/>
        </p:nvSpPr>
        <p:spPr>
          <a:xfrm>
            <a:off x="731520" y="4572000"/>
            <a:ext cx="7315200" cy="36576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"The goal: make every operator as effective as the best SRE — and eventually, better." — AIOpsLab Vision Paper</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lIns="0" tIns="0" rIns="0" bIns="0" rtlCol="0" anchor="ctr"/>
          <a:lstStyle/>
          <a:p>
            <a:pPr marL="0" indent="0">
              <a:buNone/>
            </a:pPr>
            <a:r>
              <a:rPr lang="en-US" sz="2800" b="1" dirty="0">
                <a:solidFill>
                  <a:srgbClr val="0F2B46"/>
                </a:solidFill>
                <a:latin typeface="Georgia" pitchFamily="34" charset="0"/>
                <a:ea typeface="Georgia" pitchFamily="34" charset="-122"/>
                <a:cs typeface="Georgia" pitchFamily="34" charset="-120"/>
              </a:rPr>
              <a:t>Practical vs Theoretical Assessment</a:t>
            </a:r>
            <a:endParaRPr lang="en-US" sz="2800" dirty="0"/>
          </a:p>
        </p:txBody>
      </p:sp>
      <p:sp>
        <p:nvSpPr>
          <p:cNvPr id="3" name="Shape 1"/>
          <p:cNvSpPr/>
          <p:nvPr/>
        </p:nvSpPr>
        <p:spPr>
          <a:xfrm>
            <a:off x="731520" y="822960"/>
            <a:ext cx="1097280" cy="36576"/>
          </a:xfrm>
          <a:prstGeom prst="rect">
            <a:avLst/>
          </a:prstGeom>
          <a:solidFill>
            <a:srgbClr val="0891B2"/>
          </a:solidFill>
          <a:ln/>
        </p:spPr>
        <p:txBody>
          <a:bodyPr/>
          <a:lstStyle/>
          <a:p>
            <a:endParaRPr lang="en-CN"/>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2788920"/>
        </p:xfrm>
        <a:graphic>
          <a:graphicData uri="http://schemas.openxmlformats.org/drawingml/2006/table">
            <a:tbl>
              <a:tblPr/>
              <a:tblGrid>
                <a:gridCol w="20116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1148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Components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Tasks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Risk Level</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Market Demand</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extLst>
                  <a:ext uri="{0D108BD9-81ED-4DB2-BD59-A6C34878D82A}">
                    <a16:rowId xmlns:a16="http://schemas.microsoft.com/office/drawing/2014/main" val="10000"/>
                  </a:ext>
                </a:extLst>
              </a:tr>
              <a:tr h="594360">
                <a:tc>
                  <a:txBody>
                    <a:bodyPr/>
                    <a:lstStyle/>
                    <a:p>
                      <a:pPr marL="0" indent="0">
                        <a:buNone/>
                      </a:pPr>
                      <a:r>
                        <a:rPr lang="en-US" sz="1000" b="1" dirty="0">
                          <a:solidFill>
                            <a:srgbClr val="059669"/>
                          </a:solidFill>
                          <a:latin typeface="Calibri" pitchFamily="34" charset="0"/>
                          <a:ea typeface="Calibri" pitchFamily="34" charset="-122"/>
                          <a:cs typeface="Calibri" pitchFamily="34" charset="-120"/>
                        </a:rPr>
                        <a:t>Immediate + Market Need</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Connectors, Service Model,</a:t>
                      </a:r>
                      <a:endParaRPr lang="en-US" sz="1000" dirty="0">
                        <a:latin typeface="Calibri" charset="0"/>
                        <a:ea typeface="Calibri" charset="0"/>
                        <a:cs typeface="Calibri" charset="0"/>
                      </a:endParaRPr>
                    </a:p>
                    <a:p>
                      <a:pPr marL="0" indent="0">
                        <a:buNone/>
                      </a:pPr>
                      <a:r>
                        <a:rPr lang="en-US" sz="1000" dirty="0">
                          <a:solidFill>
                            <a:srgbClr val="1E293B"/>
                          </a:solidFill>
                          <a:latin typeface="Calibri" pitchFamily="34" charset="0"/>
                          <a:ea typeface="Calibri" pitchFamily="34" charset="-122"/>
                          <a:cs typeface="Calibri" pitchFamily="34" charset="-120"/>
                        </a:rPr>
                        <a:t>Evidence, PostAction, Review</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E293B"/>
                          </a:solidFill>
                          <a:latin typeface="Calibri" pitchFamily="34" charset="0"/>
                          <a:ea typeface="Calibri" pitchFamily="34" charset="-122"/>
                          <a:cs typeface="Calibri" pitchFamily="34" charset="-120"/>
                        </a:rPr>
                        <a:t>28</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buNone/>
                      </a:pPr>
                      <a:r>
                        <a:rPr lang="en-US" sz="1000" b="1" dirty="0">
                          <a:solidFill>
                            <a:srgbClr val="D97706"/>
                          </a:solidFill>
                          <a:latin typeface="Calibri" pitchFamily="34" charset="0"/>
                          <a:ea typeface="Calibri" pitchFamily="34" charset="-122"/>
                          <a:cs typeface="Calibri" pitchFamily="34" charset="-120"/>
                        </a:rPr>
                        <a:t>Short-term + Data-Dependent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Prompt Engine, Wisdom,</a:t>
                      </a:r>
                      <a:endParaRPr lang="en-US" sz="1000" dirty="0">
                        <a:latin typeface="Calibri" charset="0"/>
                        <a:ea typeface="Calibri" charset="0"/>
                        <a:cs typeface="Calibri" charset="0"/>
                      </a:endParaRPr>
                    </a:p>
                    <a:p>
                      <a:pPr marL="0" indent="0">
                        <a:buNone/>
                      </a:pPr>
                      <a:r>
                        <a:rPr lang="en-US" sz="1000" dirty="0">
                          <a:solidFill>
                            <a:srgbClr val="1E293B"/>
                          </a:solidFill>
                          <a:latin typeface="Calibri" pitchFamily="34" charset="0"/>
                          <a:ea typeface="Calibri" pitchFamily="34" charset="-122"/>
                          <a:cs typeface="Calibri" pitchFamily="34" charset="-120"/>
                        </a:rPr>
                        <a:t>Calibration, Memory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E293B"/>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D97706"/>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D97706"/>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94360">
                <a:tc>
                  <a:txBody>
                    <a:bodyPr/>
                    <a:lstStyle/>
                    <a:p>
                      <a:pPr marL="0" indent="0">
                        <a:buNone/>
                      </a:pPr>
                      <a:r>
                        <a:rPr lang="en-US" sz="1000" b="1" dirty="0">
                          <a:solidFill>
                            <a:srgbClr val="EA580C"/>
                          </a:solidFill>
                          <a:latin typeface="Calibri" pitchFamily="34" charset="0"/>
                          <a:ea typeface="Calibri" pitchFamily="34" charset="-122"/>
                          <a:cs typeface="Calibri" pitchFamily="34" charset="-120"/>
                        </a:rPr>
                        <a:t>Theoretical + Needs Proof</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SkillGap, SOPWriter,</a:t>
                      </a:r>
                      <a:endParaRPr lang="en-US" sz="1000" dirty="0">
                        <a:latin typeface="Calibri" charset="0"/>
                        <a:ea typeface="Calibri" charset="0"/>
                        <a:cs typeface="Calibri" charset="0"/>
                      </a:endParaRPr>
                    </a:p>
                    <a:p>
                      <a:pPr marL="0" indent="0">
                        <a:buNone/>
                      </a:pPr>
                      <a:r>
                        <a:rPr lang="en-US" sz="1000" dirty="0">
                          <a:solidFill>
                            <a:srgbClr val="1E293B"/>
                          </a:solidFill>
                          <a:latin typeface="Calibri" pitchFamily="34" charset="0"/>
                          <a:ea typeface="Calibri" pitchFamily="34" charset="-122"/>
                          <a:cs typeface="Calibri" pitchFamily="34" charset="-120"/>
                        </a:rPr>
                        <a:t>Sandbox, Self-Verify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E293B"/>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DC2626"/>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D97706"/>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594360">
                <a:tc>
                  <a:txBody>
                    <a:bodyPr/>
                    <a:lstStyle/>
                    <a:p>
                      <a:pPr marL="0" indent="0">
                        <a:buNone/>
                      </a:pPr>
                      <a:r>
                        <a:rPr lang="en-US" sz="1000" b="1" dirty="0">
                          <a:solidFill>
                            <a:srgbClr val="64748B"/>
                          </a:solidFill>
                          <a:latin typeface="Calibri" pitchFamily="34" charset="0"/>
                          <a:ea typeface="Calibri" pitchFamily="34" charset="-122"/>
                          <a:cs typeface="Calibri" pitchFamily="34" charset="-120"/>
                        </a:rPr>
                        <a:t>Vision + Far Future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Cross-Service, Proactive,</a:t>
                      </a:r>
                      <a:endParaRPr lang="en-US" sz="1000" dirty="0">
                        <a:latin typeface="Calibri" charset="0"/>
                        <a:ea typeface="Calibri" charset="0"/>
                        <a:cs typeface="Calibri" charset="0"/>
                      </a:endParaRPr>
                    </a:p>
                    <a:p>
                      <a:pPr marL="0" indent="0">
                        <a:buNone/>
                      </a:pPr>
                      <a:r>
                        <a:rPr lang="en-US" sz="1000" dirty="0">
                          <a:solidFill>
                            <a:srgbClr val="1E293B"/>
                          </a:solidFill>
                          <a:latin typeface="Calibri" pitchFamily="34" charset="0"/>
                          <a:ea typeface="Calibri" pitchFamily="34" charset="-122"/>
                          <a:cs typeface="Calibri" pitchFamily="34" charset="-120"/>
                        </a:rPr>
                        <a:t>Multi-Agent, Code Interpreter</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1E293B"/>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64748B"/>
                          </a:solidFill>
                          <a:latin typeface="Calibri" pitchFamily="34" charset="0"/>
                          <a:ea typeface="Calibri" pitchFamily="34" charset="-122"/>
                          <a:cs typeface="Calibri" pitchFamily="34" charset="-120"/>
                        </a:rPr>
                        <a:t>UNKNOWN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64748B"/>
                          </a:solidFill>
                          <a:latin typeface="Calibri" pitchFamily="34" charset="0"/>
                          <a:ea typeface="Calibri" pitchFamily="34" charset="-122"/>
                          <a:cs typeface="Calibri" pitchFamily="34" charset="-120"/>
                        </a:rPr>
                        <a:t>HIGH (future)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457200" y="3840480"/>
            <a:ext cx="8229600" cy="10058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6" name="Shape 3"/>
          <p:cNvSpPr/>
          <p:nvPr/>
        </p:nvSpPr>
        <p:spPr>
          <a:xfrm>
            <a:off x="457200" y="3840480"/>
            <a:ext cx="64008" cy="1005840"/>
          </a:xfrm>
          <a:prstGeom prst="rect">
            <a:avLst/>
          </a:prstGeom>
          <a:solidFill>
            <a:srgbClr val="0891B2"/>
          </a:solidFill>
          <a:ln/>
        </p:spPr>
        <p:txBody>
          <a:bodyPr/>
          <a:lstStyle/>
          <a:p>
            <a:endParaRPr lang="en-CN"/>
          </a:p>
        </p:txBody>
      </p:sp>
      <p:sp>
        <p:nvSpPr>
          <p:cNvPr id="7" name="Text 4"/>
          <p:cNvSpPr/>
          <p:nvPr/>
        </p:nvSpPr>
        <p:spPr>
          <a:xfrm>
            <a:off x="685800" y="3886200"/>
            <a:ext cx="7772400" cy="274320"/>
          </a:xfrm>
          <a:prstGeom prst="rect">
            <a:avLst/>
          </a:prstGeom>
          <a:noFill/>
          <a:ln/>
        </p:spPr>
        <p:txBody>
          <a:bodyPr wrap="square" lIns="0" tIns="0" rIns="0" bIns="0" rtlCol="0" anchor="ctr"/>
          <a:lstStyle/>
          <a:p>
            <a:pPr marL="0" indent="0">
              <a:buNone/>
            </a:pPr>
            <a:r>
              <a:rPr lang="en-US" sz="1400" b="1" dirty="0">
                <a:solidFill>
                  <a:srgbClr val="0891B2"/>
                </a:solidFill>
                <a:latin typeface="Georgia" pitchFamily="34" charset="0"/>
                <a:ea typeface="Georgia" pitchFamily="34" charset="-122"/>
                <a:cs typeface="Georgia" pitchFamily="34" charset="-120"/>
              </a:rPr>
              <a:t>Strategic Principle</a:t>
            </a:r>
            <a:endParaRPr lang="en-US" sz="1400" dirty="0"/>
          </a:p>
        </p:txBody>
      </p:sp>
      <p:sp>
        <p:nvSpPr>
          <p:cNvPr id="8" name="Text 5"/>
          <p:cNvSpPr/>
          <p:nvPr/>
        </p:nvSpPr>
        <p:spPr>
          <a:xfrm>
            <a:off x="685800" y="4160520"/>
            <a:ext cx="7772400" cy="6400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Phase 1 + Phase 2 front half = Product (solves real pain, competitive moat)</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Phase 2 back half = Flywheel (needs data accumulation to prove value)</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Phase 3 = Research (each task needs A/B test before production)</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Phase 4 = Vision (directional guide, not commitment)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lIns="0" tIns="0" rIns="0" bIns="0" rtlCol="0" anchor="ctr"/>
          <a:lstStyle/>
          <a:p>
            <a:pPr marL="0" indent="0">
              <a:buNone/>
            </a:pPr>
            <a:r>
              <a:rPr lang="en-US" sz="2800" b="1" dirty="0">
                <a:solidFill>
                  <a:srgbClr val="0F2B46"/>
                </a:solidFill>
                <a:latin typeface="Georgia" pitchFamily="34" charset="0"/>
                <a:ea typeface="Georgia" pitchFamily="34" charset="-122"/>
                <a:cs typeface="Georgia" pitchFamily="34" charset="-120"/>
              </a:rPr>
              <a:t>Short-Term Priority: 28 Tasks</a:t>
            </a:r>
            <a:endParaRPr lang="en-US" sz="2800" dirty="0"/>
          </a:p>
        </p:txBody>
      </p:sp>
      <p:sp>
        <p:nvSpPr>
          <p:cNvPr id="3" name="Text 1"/>
          <p:cNvSpPr/>
          <p:nvPr/>
        </p:nvSpPr>
        <p:spPr>
          <a:xfrm>
            <a:off x="731520" y="822960"/>
            <a:ext cx="7315200" cy="274320"/>
          </a:xfrm>
          <a:prstGeom prst="rect">
            <a:avLst/>
          </a:prstGeom>
          <a:noFill/>
          <a:ln/>
        </p:spPr>
        <p:txBody>
          <a:bodyPr wrap="square" lIns="0" tIns="0" rIns="0" bIns="0" rtlCol="0" anchor="ctr"/>
          <a:lstStyle/>
          <a:p>
            <a:pPr marL="0" indent="0">
              <a:buNone/>
            </a:pPr>
            <a:r>
              <a:rPr lang="en-US" sz="1200" dirty="0">
                <a:solidFill>
                  <a:srgbClr val="0891B2"/>
                </a:solidFill>
                <a:latin typeface="Calibri" pitchFamily="34" charset="0"/>
                <a:ea typeface="Calibri" pitchFamily="34" charset="-122"/>
                <a:cs typeface="Calibri" pitchFamily="34" charset="-120"/>
              </a:rPr>
              <a:t>Phase 1 (all 21) + Phase 2 PostActionValidator (3) + Phase 2 Human Review (4)</a:t>
            </a:r>
            <a:endParaRPr lang="en-US" sz="1200" dirty="0"/>
          </a:p>
        </p:txBody>
      </p:sp>
      <p:sp>
        <p:nvSpPr>
          <p:cNvPr id="4" name="Shape 2"/>
          <p:cNvSpPr/>
          <p:nvPr/>
        </p:nvSpPr>
        <p:spPr>
          <a:xfrm>
            <a:off x="457200" y="1280160"/>
            <a:ext cx="8229600" cy="3474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5" name="Shape 3"/>
          <p:cNvSpPr/>
          <p:nvPr/>
        </p:nvSpPr>
        <p:spPr>
          <a:xfrm>
            <a:off x="594360" y="1417320"/>
            <a:ext cx="64008" cy="411480"/>
          </a:xfrm>
          <a:prstGeom prst="rect">
            <a:avLst/>
          </a:prstGeom>
          <a:solidFill>
            <a:srgbClr val="0891B2"/>
          </a:solidFill>
          <a:ln/>
        </p:spPr>
        <p:txBody>
          <a:bodyPr/>
          <a:lstStyle/>
          <a:p>
            <a:endParaRPr lang="en-CN"/>
          </a:p>
        </p:txBody>
      </p:sp>
      <p:sp>
        <p:nvSpPr>
          <p:cNvPr id="6" name="Text 4"/>
          <p:cNvSpPr/>
          <p:nvPr/>
        </p:nvSpPr>
        <p:spPr>
          <a:xfrm>
            <a:off x="822960" y="1417320"/>
            <a:ext cx="1371600" cy="41148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Connectors</a:t>
            </a:r>
            <a:endParaRPr lang="en-US" sz="1200" dirty="0"/>
          </a:p>
        </p:txBody>
      </p:sp>
      <p:sp>
        <p:nvSpPr>
          <p:cNvPr id="7" name="Text 5"/>
          <p:cNvSpPr/>
          <p:nvPr/>
        </p:nvSpPr>
        <p:spPr>
          <a:xfrm>
            <a:off x="2286000" y="1417320"/>
            <a:ext cx="2926080" cy="4114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Let Agent query external systems. Without this, Agent is blind.</a:t>
            </a:r>
            <a:endParaRPr lang="en-US" sz="1000" dirty="0"/>
          </a:p>
        </p:txBody>
      </p:sp>
      <p:sp>
        <p:nvSpPr>
          <p:cNvPr id="8" name="Text 6"/>
          <p:cNvSpPr/>
          <p:nvPr/>
        </p:nvSpPr>
        <p:spPr>
          <a:xfrm>
            <a:off x="5303520" y="1417320"/>
            <a:ext cx="3200400" cy="411480"/>
          </a:xfrm>
          <a:prstGeom prst="rect">
            <a:avLst/>
          </a:prstGeom>
          <a:noFill/>
          <a:ln/>
        </p:spPr>
        <p:txBody>
          <a:bodyPr wrap="square" lIns="0" tIns="0" rIns="0" bIns="0" rtlCol="0" anchor="ctr"/>
          <a:lstStyle/>
          <a:p>
            <a:pPr marL="0" indent="0">
              <a:buNone/>
            </a:pPr>
            <a:r>
              <a:rPr lang="en-US" sz="1000" i="1" dirty="0">
                <a:solidFill>
                  <a:srgbClr val="0891B2"/>
                </a:solidFill>
                <a:latin typeface="Calibri" pitchFamily="34" charset="0"/>
                <a:ea typeface="Calibri" pitchFamily="34" charset="-122"/>
                <a:cs typeface="Calibri" pitchFamily="34" charset="-120"/>
              </a:rPr>
              <a:t>Tool fragmentation is SRE's #1 complaint</a:t>
            </a:r>
            <a:endParaRPr lang="en-US" sz="1000" dirty="0"/>
          </a:p>
        </p:txBody>
      </p:sp>
      <p:sp>
        <p:nvSpPr>
          <p:cNvPr id="9" name="Shape 7"/>
          <p:cNvSpPr/>
          <p:nvPr/>
        </p:nvSpPr>
        <p:spPr>
          <a:xfrm>
            <a:off x="594360" y="1947672"/>
            <a:ext cx="64008" cy="411480"/>
          </a:xfrm>
          <a:prstGeom prst="rect">
            <a:avLst/>
          </a:prstGeom>
          <a:solidFill>
            <a:srgbClr val="0891B2"/>
          </a:solidFill>
          <a:ln/>
        </p:spPr>
        <p:txBody>
          <a:bodyPr/>
          <a:lstStyle/>
          <a:p>
            <a:endParaRPr lang="en-CN"/>
          </a:p>
        </p:txBody>
      </p:sp>
      <p:sp>
        <p:nvSpPr>
          <p:cNvPr id="10" name="Text 8"/>
          <p:cNvSpPr/>
          <p:nvPr/>
        </p:nvSpPr>
        <p:spPr>
          <a:xfrm>
            <a:off x="822960" y="1947672"/>
            <a:ext cx="1371600" cy="41148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Service Model</a:t>
            </a:r>
            <a:endParaRPr lang="en-US" sz="1200" dirty="0"/>
          </a:p>
        </p:txBody>
      </p:sp>
      <p:sp>
        <p:nvSpPr>
          <p:cNvPr id="11" name="Text 9"/>
          <p:cNvSpPr/>
          <p:nvPr/>
        </p:nvSpPr>
        <p:spPr>
          <a:xfrm>
            <a:off x="2286000" y="1947672"/>
            <a:ext cx="2926080" cy="4114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Know which service is affected, who owns it, what depends on it.</a:t>
            </a:r>
            <a:endParaRPr lang="en-US" sz="1000" dirty="0"/>
          </a:p>
        </p:txBody>
      </p:sp>
      <p:sp>
        <p:nvSpPr>
          <p:cNvPr id="12" name="Text 10"/>
          <p:cNvSpPr/>
          <p:nvPr/>
        </p:nvSpPr>
        <p:spPr>
          <a:xfrm>
            <a:off x="5303520" y="1947672"/>
            <a:ext cx="3200400" cy="411480"/>
          </a:xfrm>
          <a:prstGeom prst="rect">
            <a:avLst/>
          </a:prstGeom>
          <a:noFill/>
          <a:ln/>
        </p:spPr>
        <p:txBody>
          <a:bodyPr wrap="square" lIns="0" tIns="0" rIns="0" bIns="0" rtlCol="0" anchor="ctr"/>
          <a:lstStyle/>
          <a:p>
            <a:pPr marL="0" indent="0">
              <a:buNone/>
            </a:pPr>
            <a:r>
              <a:rPr lang="en-US" sz="1000" i="1" dirty="0">
                <a:solidFill>
                  <a:srgbClr val="0891B2"/>
                </a:solidFill>
                <a:latin typeface="Calibri" pitchFamily="34" charset="0"/>
                <a:ea typeface="Calibri" pitchFamily="34" charset="-122"/>
                <a:cs typeface="Calibri" pitchFamily="34" charset="-120"/>
              </a:rPr>
              <a:t>No existing tool provides service-level AIOps view</a:t>
            </a:r>
            <a:endParaRPr lang="en-US" sz="1000" dirty="0"/>
          </a:p>
        </p:txBody>
      </p:sp>
      <p:sp>
        <p:nvSpPr>
          <p:cNvPr id="13" name="Shape 11"/>
          <p:cNvSpPr/>
          <p:nvPr/>
        </p:nvSpPr>
        <p:spPr>
          <a:xfrm>
            <a:off x="594360" y="2478024"/>
            <a:ext cx="64008" cy="411480"/>
          </a:xfrm>
          <a:prstGeom prst="rect">
            <a:avLst/>
          </a:prstGeom>
          <a:solidFill>
            <a:srgbClr val="0891B2"/>
          </a:solidFill>
          <a:ln/>
        </p:spPr>
        <p:txBody>
          <a:bodyPr/>
          <a:lstStyle/>
          <a:p>
            <a:endParaRPr lang="en-CN"/>
          </a:p>
        </p:txBody>
      </p:sp>
      <p:sp>
        <p:nvSpPr>
          <p:cNvPr id="14" name="Text 12"/>
          <p:cNvSpPr/>
          <p:nvPr/>
        </p:nvSpPr>
        <p:spPr>
          <a:xfrm>
            <a:off x="822960" y="2478024"/>
            <a:ext cx="1371600" cy="41148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Evidence Weighting</a:t>
            </a:r>
            <a:endParaRPr lang="en-US" sz="1200" dirty="0"/>
          </a:p>
        </p:txBody>
      </p:sp>
      <p:sp>
        <p:nvSpPr>
          <p:cNvPr id="15" name="Text 13"/>
          <p:cNvSpPr/>
          <p:nvPr/>
        </p:nvSpPr>
        <p:spPr>
          <a:xfrm>
            <a:off x="2286000" y="2478024"/>
            <a:ext cx="2926080" cy="4114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Make RCA results explainable. CloudTrail proof vs pure guess.</a:t>
            </a:r>
            <a:endParaRPr lang="en-US" sz="1000" dirty="0"/>
          </a:p>
        </p:txBody>
      </p:sp>
      <p:sp>
        <p:nvSpPr>
          <p:cNvPr id="16" name="Text 14"/>
          <p:cNvSpPr/>
          <p:nvPr/>
        </p:nvSpPr>
        <p:spPr>
          <a:xfrm>
            <a:off x="5303520" y="2478024"/>
            <a:ext cx="3200400" cy="411480"/>
          </a:xfrm>
          <a:prstGeom prst="rect">
            <a:avLst/>
          </a:prstGeom>
          <a:noFill/>
          <a:ln/>
        </p:spPr>
        <p:txBody>
          <a:bodyPr wrap="square" lIns="0" tIns="0" rIns="0" bIns="0" rtlCol="0" anchor="ctr"/>
          <a:lstStyle/>
          <a:p>
            <a:pPr marL="0" indent="0">
              <a:buNone/>
            </a:pPr>
            <a:r>
              <a:rPr lang="en-US" sz="1000" i="1" dirty="0">
                <a:solidFill>
                  <a:srgbClr val="0891B2"/>
                </a:solidFill>
                <a:latin typeface="Calibri" pitchFamily="34" charset="0"/>
                <a:ea typeface="Calibri" pitchFamily="34" charset="-122"/>
                <a:cs typeface="Calibri" pitchFamily="34" charset="-120"/>
              </a:rPr>
              <a:t>Trust is the #1 barrier to AIOps adoption</a:t>
            </a:r>
            <a:endParaRPr lang="en-US" sz="1000" dirty="0"/>
          </a:p>
        </p:txBody>
      </p:sp>
      <p:sp>
        <p:nvSpPr>
          <p:cNvPr id="17" name="Shape 15"/>
          <p:cNvSpPr/>
          <p:nvPr/>
        </p:nvSpPr>
        <p:spPr>
          <a:xfrm>
            <a:off x="594360" y="3008376"/>
            <a:ext cx="64008" cy="411480"/>
          </a:xfrm>
          <a:prstGeom prst="rect">
            <a:avLst/>
          </a:prstGeom>
          <a:solidFill>
            <a:srgbClr val="0891B2"/>
          </a:solidFill>
          <a:ln/>
        </p:spPr>
        <p:txBody>
          <a:bodyPr/>
          <a:lstStyle/>
          <a:p>
            <a:endParaRPr lang="en-CN"/>
          </a:p>
        </p:txBody>
      </p:sp>
      <p:sp>
        <p:nvSpPr>
          <p:cNvPr id="18" name="Text 16"/>
          <p:cNvSpPr/>
          <p:nvPr/>
        </p:nvSpPr>
        <p:spPr>
          <a:xfrm>
            <a:off x="822960" y="3008376"/>
            <a:ext cx="1371600" cy="41148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Alert Classification</a:t>
            </a:r>
            <a:endParaRPr lang="en-US" sz="1200" dirty="0"/>
          </a:p>
        </p:txBody>
      </p:sp>
      <p:sp>
        <p:nvSpPr>
          <p:cNvPr id="19" name="Text 17"/>
          <p:cNvSpPr/>
          <p:nvPr/>
        </p:nvSpPr>
        <p:spPr>
          <a:xfrm>
            <a:off x="2286000" y="3008376"/>
            <a:ext cx="2926080" cy="4114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Route to correct strategy. Reuse historical experience.</a:t>
            </a:r>
            <a:endParaRPr lang="en-US" sz="1000" dirty="0"/>
          </a:p>
        </p:txBody>
      </p:sp>
      <p:sp>
        <p:nvSpPr>
          <p:cNvPr id="20" name="Text 18"/>
          <p:cNvSpPr/>
          <p:nvPr/>
        </p:nvSpPr>
        <p:spPr>
          <a:xfrm>
            <a:off x="5303520" y="3008376"/>
            <a:ext cx="3200400" cy="411480"/>
          </a:xfrm>
          <a:prstGeom prst="rect">
            <a:avLst/>
          </a:prstGeom>
          <a:noFill/>
          <a:ln/>
        </p:spPr>
        <p:txBody>
          <a:bodyPr wrap="square" lIns="0" tIns="0" rIns="0" bIns="0" rtlCol="0" anchor="ctr"/>
          <a:lstStyle/>
          <a:p>
            <a:pPr marL="0" indent="0">
              <a:buNone/>
            </a:pPr>
            <a:r>
              <a:rPr lang="en-US" sz="1000" i="1" dirty="0">
                <a:solidFill>
                  <a:srgbClr val="0891B2"/>
                </a:solidFill>
                <a:latin typeface="Calibri" pitchFamily="34" charset="0"/>
                <a:ea typeface="Calibri" pitchFamily="34" charset="-122"/>
                <a:cs typeface="Calibri" pitchFamily="34" charset="-120"/>
              </a:rPr>
              <a:t>Alert fatigue is universal SRE problem</a:t>
            </a:r>
            <a:endParaRPr lang="en-US" sz="1000" dirty="0"/>
          </a:p>
        </p:txBody>
      </p:sp>
      <p:sp>
        <p:nvSpPr>
          <p:cNvPr id="21" name="Shape 19"/>
          <p:cNvSpPr/>
          <p:nvPr/>
        </p:nvSpPr>
        <p:spPr>
          <a:xfrm>
            <a:off x="594360" y="3538728"/>
            <a:ext cx="64008" cy="411480"/>
          </a:xfrm>
          <a:prstGeom prst="rect">
            <a:avLst/>
          </a:prstGeom>
          <a:solidFill>
            <a:srgbClr val="0891B2"/>
          </a:solidFill>
          <a:ln/>
        </p:spPr>
        <p:txBody>
          <a:bodyPr/>
          <a:lstStyle/>
          <a:p>
            <a:endParaRPr lang="en-CN"/>
          </a:p>
        </p:txBody>
      </p:sp>
      <p:sp>
        <p:nvSpPr>
          <p:cNvPr id="22" name="Text 20"/>
          <p:cNvSpPr/>
          <p:nvPr/>
        </p:nvSpPr>
        <p:spPr>
          <a:xfrm>
            <a:off x="822960" y="3538728"/>
            <a:ext cx="1371600" cy="41148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PostActionValidator</a:t>
            </a:r>
            <a:endParaRPr lang="en-US" sz="1200" dirty="0"/>
          </a:p>
        </p:txBody>
      </p:sp>
      <p:sp>
        <p:nvSpPr>
          <p:cNvPr id="23" name="Text 21"/>
          <p:cNvSpPr/>
          <p:nvPr/>
        </p:nvSpPr>
        <p:spPr>
          <a:xfrm>
            <a:off x="2286000" y="3538728"/>
            <a:ext cx="2926080" cy="4114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Automated verify: did the fix actually work? No more staring at dashboards.</a:t>
            </a:r>
            <a:endParaRPr lang="en-US" sz="1000" dirty="0"/>
          </a:p>
        </p:txBody>
      </p:sp>
      <p:sp>
        <p:nvSpPr>
          <p:cNvPr id="24" name="Text 22"/>
          <p:cNvSpPr/>
          <p:nvPr/>
        </p:nvSpPr>
        <p:spPr>
          <a:xfrm>
            <a:off x="5303520" y="3538728"/>
            <a:ext cx="3200400" cy="411480"/>
          </a:xfrm>
          <a:prstGeom prst="rect">
            <a:avLst/>
          </a:prstGeom>
          <a:noFill/>
          <a:ln/>
        </p:spPr>
        <p:txBody>
          <a:bodyPr wrap="square" lIns="0" tIns="0" rIns="0" bIns="0" rtlCol="0" anchor="ctr"/>
          <a:lstStyle/>
          <a:p>
            <a:pPr marL="0" indent="0">
              <a:buNone/>
            </a:pPr>
            <a:r>
              <a:rPr lang="en-US" sz="1000" i="1" dirty="0">
                <a:solidFill>
                  <a:srgbClr val="0891B2"/>
                </a:solidFill>
                <a:latin typeface="Calibri" pitchFamily="34" charset="0"/>
                <a:ea typeface="Calibri" pitchFamily="34" charset="-122"/>
                <a:cs typeface="Calibri" pitchFamily="34" charset="-120"/>
              </a:rPr>
              <a:t>Post-fix verification is 100% manual today</a:t>
            </a:r>
            <a:endParaRPr lang="en-US" sz="1000" dirty="0"/>
          </a:p>
        </p:txBody>
      </p:sp>
      <p:sp>
        <p:nvSpPr>
          <p:cNvPr id="25" name="Shape 23"/>
          <p:cNvSpPr/>
          <p:nvPr/>
        </p:nvSpPr>
        <p:spPr>
          <a:xfrm>
            <a:off x="594360" y="4069080"/>
            <a:ext cx="64008" cy="411480"/>
          </a:xfrm>
          <a:prstGeom prst="rect">
            <a:avLst/>
          </a:prstGeom>
          <a:solidFill>
            <a:srgbClr val="0891B2"/>
          </a:solidFill>
          <a:ln/>
        </p:spPr>
        <p:txBody>
          <a:bodyPr/>
          <a:lstStyle/>
          <a:p>
            <a:endParaRPr lang="en-CN"/>
          </a:p>
        </p:txBody>
      </p:sp>
      <p:sp>
        <p:nvSpPr>
          <p:cNvPr id="26" name="Text 24"/>
          <p:cNvSpPr/>
          <p:nvPr/>
        </p:nvSpPr>
        <p:spPr>
          <a:xfrm>
            <a:off x="822960" y="4069080"/>
            <a:ext cx="1371600" cy="41148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Human Review</a:t>
            </a:r>
            <a:endParaRPr lang="en-US" sz="1200" dirty="0"/>
          </a:p>
        </p:txBody>
      </p:sp>
      <p:sp>
        <p:nvSpPr>
          <p:cNvPr id="27" name="Text 25"/>
          <p:cNvSpPr/>
          <p:nvPr/>
        </p:nvSpPr>
        <p:spPr>
          <a:xfrm>
            <a:off x="2286000" y="4069080"/>
            <a:ext cx="2926080" cy="411480"/>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One button = Ground Truth. Foundation for ALL future learning.</a:t>
            </a:r>
            <a:endParaRPr lang="en-US" sz="1000" dirty="0"/>
          </a:p>
        </p:txBody>
      </p:sp>
      <p:sp>
        <p:nvSpPr>
          <p:cNvPr id="28" name="Text 26"/>
          <p:cNvSpPr/>
          <p:nvPr/>
        </p:nvSpPr>
        <p:spPr>
          <a:xfrm>
            <a:off x="5303520" y="4069080"/>
            <a:ext cx="3200400" cy="411480"/>
          </a:xfrm>
          <a:prstGeom prst="rect">
            <a:avLst/>
          </a:prstGeom>
          <a:noFill/>
          <a:ln/>
        </p:spPr>
        <p:txBody>
          <a:bodyPr wrap="square" lIns="0" tIns="0" rIns="0" bIns="0" rtlCol="0" anchor="ctr"/>
          <a:lstStyle/>
          <a:p>
            <a:pPr marL="0" indent="0">
              <a:buNone/>
            </a:pPr>
            <a:r>
              <a:rPr lang="en-US" sz="1000" i="1" dirty="0">
                <a:solidFill>
                  <a:srgbClr val="0891B2"/>
                </a:solidFill>
                <a:latin typeface="Calibri" pitchFamily="34" charset="0"/>
                <a:ea typeface="Calibri" pitchFamily="34" charset="-122"/>
                <a:cs typeface="Calibri" pitchFamily="34" charset="-120"/>
              </a:rPr>
              <a:t>Enables the entire self-improvement flywheel</a:t>
            </a:r>
            <a:endParaRPr lang="en-US" sz="1000" dirty="0"/>
          </a:p>
        </p:txBody>
      </p:sp>
      <p:sp>
        <p:nvSpPr>
          <p:cNvPr id="29" name="Text 27"/>
          <p:cNvSpPr/>
          <p:nvPr/>
        </p:nvSpPr>
        <p:spPr>
          <a:xfrm>
            <a:off x="822960" y="1188720"/>
            <a:ext cx="1371600" cy="22860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Component</a:t>
            </a:r>
            <a:endParaRPr lang="en-US" sz="900" dirty="0"/>
          </a:p>
        </p:txBody>
      </p:sp>
      <p:sp>
        <p:nvSpPr>
          <p:cNvPr id="30" name="Text 28"/>
          <p:cNvSpPr/>
          <p:nvPr/>
        </p:nvSpPr>
        <p:spPr>
          <a:xfrm>
            <a:off x="2286000" y="1188720"/>
            <a:ext cx="2926080" cy="22860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Why Essential</a:t>
            </a:r>
            <a:endParaRPr lang="en-US" sz="900" dirty="0"/>
          </a:p>
        </p:txBody>
      </p:sp>
      <p:sp>
        <p:nvSpPr>
          <p:cNvPr id="31" name="Text 29"/>
          <p:cNvSpPr/>
          <p:nvPr/>
        </p:nvSpPr>
        <p:spPr>
          <a:xfrm>
            <a:off x="5303520" y="1188720"/>
            <a:ext cx="3200400" cy="22860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Market Signal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lIns="0" tIns="0" rIns="0" bIns="0" rtlCol="0" anchor="ctr"/>
          <a:lstStyle/>
          <a:p>
            <a:pPr marL="0" indent="0">
              <a:buNone/>
            </a:pPr>
            <a:r>
              <a:rPr lang="en-US" sz="2800" b="1" dirty="0">
                <a:solidFill>
                  <a:srgbClr val="0F2B46"/>
                </a:solidFill>
                <a:latin typeface="Georgia" pitchFamily="34" charset="0"/>
                <a:ea typeface="Georgia" pitchFamily="34" charset="-122"/>
                <a:cs typeface="Georgia" pitchFamily="34" charset="-120"/>
              </a:rPr>
              <a:t>Risk Assessment &amp; Mitigation</a:t>
            </a:r>
            <a:endParaRPr lang="en-US" sz="2800" dirty="0"/>
          </a:p>
        </p:txBody>
      </p:sp>
      <p:sp>
        <p:nvSpPr>
          <p:cNvPr id="3" name="Shape 1"/>
          <p:cNvSpPr/>
          <p:nvPr/>
        </p:nvSpPr>
        <p:spPr>
          <a:xfrm>
            <a:off x="731520" y="822960"/>
            <a:ext cx="1097280" cy="36576"/>
          </a:xfrm>
          <a:prstGeom prst="rect">
            <a:avLst/>
          </a:prstGeom>
          <a:solidFill>
            <a:srgbClr val="0891B2"/>
          </a:solidFill>
          <a:ln/>
        </p:spPr>
        <p:txBody>
          <a:bodyPr/>
          <a:lstStyle/>
          <a:p>
            <a:endParaRPr lang="en-CN"/>
          </a:p>
        </p:txBody>
      </p:sp>
      <p:sp>
        <p:nvSpPr>
          <p:cNvPr id="4" name="Shape 2"/>
          <p:cNvSpPr/>
          <p:nvPr/>
        </p:nvSpPr>
        <p:spPr>
          <a:xfrm>
            <a:off x="457200" y="1097280"/>
            <a:ext cx="4023360" cy="1097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5" name="Shape 3"/>
          <p:cNvSpPr/>
          <p:nvPr/>
        </p:nvSpPr>
        <p:spPr>
          <a:xfrm>
            <a:off x="457200" y="1097280"/>
            <a:ext cx="64008" cy="1097280"/>
          </a:xfrm>
          <a:prstGeom prst="rect">
            <a:avLst/>
          </a:prstGeom>
          <a:solidFill>
            <a:srgbClr val="D97706"/>
          </a:solidFill>
          <a:ln/>
        </p:spPr>
        <p:txBody>
          <a:bodyPr/>
          <a:lstStyle/>
          <a:p>
            <a:endParaRPr lang="en-CN"/>
          </a:p>
        </p:txBody>
      </p:sp>
      <p:sp>
        <p:nvSpPr>
          <p:cNvPr id="6" name="Text 4"/>
          <p:cNvSpPr/>
          <p:nvPr/>
        </p:nvSpPr>
        <p:spPr>
          <a:xfrm>
            <a:off x="640080" y="1124712"/>
            <a:ext cx="3017520" cy="27432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Cold Start Problem</a:t>
            </a:r>
            <a:endParaRPr lang="en-US" sz="1200" dirty="0"/>
          </a:p>
        </p:txBody>
      </p:sp>
      <p:sp>
        <p:nvSpPr>
          <p:cNvPr id="7" name="Text 5"/>
          <p:cNvSpPr/>
          <p:nvPr/>
        </p:nvSpPr>
        <p:spPr>
          <a:xfrm>
            <a:off x="3657600" y="1143000"/>
            <a:ext cx="640080" cy="228600"/>
          </a:xfrm>
          <a:prstGeom prst="rect">
            <a:avLst/>
          </a:prstGeom>
          <a:noFill/>
          <a:ln/>
        </p:spPr>
        <p:txBody>
          <a:bodyPr wrap="square" lIns="0" tIns="0" rIns="0" bIns="0" rtlCol="0" anchor="ctr"/>
          <a:lstStyle/>
          <a:p>
            <a:pPr marL="0" indent="0" algn="ctr">
              <a:buNone/>
            </a:pPr>
            <a:r>
              <a:rPr lang="en-US" sz="800" b="1" dirty="0">
                <a:solidFill>
                  <a:srgbClr val="D97706"/>
                </a:solidFill>
                <a:latin typeface="Calibri" pitchFamily="34" charset="0"/>
                <a:ea typeface="Calibri" pitchFamily="34" charset="-122"/>
                <a:cs typeface="Calibri" pitchFamily="34" charset="-120"/>
              </a:rPr>
              <a:t>MEDIUM</a:t>
            </a:r>
            <a:endParaRPr lang="en-US" sz="800" dirty="0"/>
          </a:p>
        </p:txBody>
      </p:sp>
      <p:sp>
        <p:nvSpPr>
          <p:cNvPr id="8" name="Text 6"/>
          <p:cNvSpPr/>
          <p:nvPr/>
        </p:nvSpPr>
        <p:spPr>
          <a:xfrm>
            <a:off x="640080" y="1399032"/>
            <a:ext cx="36576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First 20 cases have no historical data for Prompt Engine. Few-shot retriever returns empty.</a:t>
            </a:r>
            <a:endParaRPr lang="en-US" sz="900" dirty="0"/>
          </a:p>
        </p:txBody>
      </p:sp>
      <p:sp>
        <p:nvSpPr>
          <p:cNvPr id="9" name="Text 7"/>
          <p:cNvSpPr/>
          <p:nvPr/>
        </p:nvSpPr>
        <p:spPr>
          <a:xfrm>
            <a:off x="640080" y="1737360"/>
            <a:ext cx="3657600" cy="365760"/>
          </a:xfrm>
          <a:prstGeom prst="rect">
            <a:avLst/>
          </a:prstGeom>
          <a:noFill/>
          <a:ln/>
        </p:spPr>
        <p:txBody>
          <a:bodyPr wrap="square" lIns="0" tIns="0" rIns="0" bIns="0" rtlCol="0" anchor="ctr"/>
          <a:lstStyle/>
          <a:p>
            <a:pPr marL="0" indent="0">
              <a:buNone/>
            </a:pPr>
            <a:r>
              <a:rPr lang="en-US" sz="900" dirty="0">
                <a:solidFill>
                  <a:srgbClr val="059669"/>
                </a:solidFill>
                <a:latin typeface="Calibri" pitchFamily="34" charset="0"/>
                <a:ea typeface="Calibri" pitchFamily="34" charset="-122"/>
                <a:cs typeface="Calibri" pitchFamily="34" charset="-120"/>
              </a:rPr>
              <a:t>Default strategies per category. Keyword classification as fast path. Value grows with each case.</a:t>
            </a:r>
            <a:endParaRPr lang="en-US" sz="900" dirty="0"/>
          </a:p>
        </p:txBody>
      </p:sp>
      <p:sp>
        <p:nvSpPr>
          <p:cNvPr id="10" name="Shape 8"/>
          <p:cNvSpPr/>
          <p:nvPr/>
        </p:nvSpPr>
        <p:spPr>
          <a:xfrm>
            <a:off x="457200" y="2331720"/>
            <a:ext cx="4023360" cy="1097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11" name="Shape 9"/>
          <p:cNvSpPr/>
          <p:nvPr/>
        </p:nvSpPr>
        <p:spPr>
          <a:xfrm>
            <a:off x="457200" y="2331720"/>
            <a:ext cx="64008" cy="1097280"/>
          </a:xfrm>
          <a:prstGeom prst="rect">
            <a:avLst/>
          </a:prstGeom>
          <a:solidFill>
            <a:srgbClr val="059669"/>
          </a:solidFill>
          <a:ln/>
        </p:spPr>
        <p:txBody>
          <a:bodyPr/>
          <a:lstStyle/>
          <a:p>
            <a:endParaRPr lang="en-CN"/>
          </a:p>
        </p:txBody>
      </p:sp>
      <p:sp>
        <p:nvSpPr>
          <p:cNvPr id="12" name="Text 10"/>
          <p:cNvSpPr/>
          <p:nvPr/>
        </p:nvSpPr>
        <p:spPr>
          <a:xfrm>
            <a:off x="640080" y="2359152"/>
            <a:ext cx="3017520" cy="27432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Data Volume for Calibration</a:t>
            </a:r>
            <a:endParaRPr lang="en-US" sz="1200" dirty="0"/>
          </a:p>
        </p:txBody>
      </p:sp>
      <p:sp>
        <p:nvSpPr>
          <p:cNvPr id="13" name="Text 11"/>
          <p:cNvSpPr/>
          <p:nvPr/>
        </p:nvSpPr>
        <p:spPr>
          <a:xfrm>
            <a:off x="3657600" y="2377440"/>
            <a:ext cx="640080" cy="228600"/>
          </a:xfrm>
          <a:prstGeom prst="rect">
            <a:avLst/>
          </a:prstGeom>
          <a:noFill/>
          <a:ln/>
        </p:spPr>
        <p:txBody>
          <a:bodyPr wrap="square" lIns="0" tIns="0" rIns="0" bIns="0" rtlCol="0" anchor="ctr"/>
          <a:lstStyle/>
          <a:p>
            <a:pPr marL="0" indent="0" algn="ctr">
              <a:buNone/>
            </a:pPr>
            <a:r>
              <a:rPr lang="en-US" sz="800" b="1" dirty="0">
                <a:solidFill>
                  <a:srgbClr val="059669"/>
                </a:solidFill>
                <a:latin typeface="Calibri" pitchFamily="34" charset="0"/>
                <a:ea typeface="Calibri" pitchFamily="34" charset="-122"/>
                <a:cs typeface="Calibri" pitchFamily="34" charset="-120"/>
              </a:rPr>
              <a:t>LOW</a:t>
            </a:r>
            <a:endParaRPr lang="en-US" sz="800" dirty="0"/>
          </a:p>
        </p:txBody>
      </p:sp>
      <p:sp>
        <p:nvSpPr>
          <p:cNvPr id="14" name="Text 12"/>
          <p:cNvSpPr/>
          <p:nvPr/>
        </p:nvSpPr>
        <p:spPr>
          <a:xfrm>
            <a:off x="640080" y="2633472"/>
            <a:ext cx="36576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Confidence calibration needs 30+ reviews per bin. May take 3-6 months.</a:t>
            </a:r>
            <a:endParaRPr lang="en-US" sz="900" dirty="0"/>
          </a:p>
        </p:txBody>
      </p:sp>
      <p:sp>
        <p:nvSpPr>
          <p:cNvPr id="15" name="Text 13"/>
          <p:cNvSpPr/>
          <p:nvPr/>
        </p:nvSpPr>
        <p:spPr>
          <a:xfrm>
            <a:off x="640080" y="2971800"/>
            <a:ext cx="3657600" cy="365760"/>
          </a:xfrm>
          <a:prstGeom prst="rect">
            <a:avLst/>
          </a:prstGeom>
          <a:noFill/>
          <a:ln/>
        </p:spPr>
        <p:txBody>
          <a:bodyPr wrap="square" lIns="0" tIns="0" rIns="0" bIns="0" rtlCol="0" anchor="ctr"/>
          <a:lstStyle/>
          <a:p>
            <a:pPr marL="0" indent="0">
              <a:buNone/>
            </a:pPr>
            <a:r>
              <a:rPr lang="en-US" sz="900" dirty="0">
                <a:solidFill>
                  <a:srgbClr val="059669"/>
                </a:solidFill>
                <a:latin typeface="Calibri" pitchFamily="34" charset="0"/>
                <a:ea typeface="Calibri" pitchFamily="34" charset="-122"/>
                <a:cs typeface="Calibri" pitchFamily="34" charset="-120"/>
              </a:rPr>
              <a:t>Return raw confidence until bins fill. Display 'uncalibrated' indicator. Calibrate 'all' bin first.</a:t>
            </a:r>
            <a:endParaRPr lang="en-US" sz="900" dirty="0"/>
          </a:p>
        </p:txBody>
      </p:sp>
      <p:sp>
        <p:nvSpPr>
          <p:cNvPr id="16" name="Shape 14"/>
          <p:cNvSpPr/>
          <p:nvPr/>
        </p:nvSpPr>
        <p:spPr>
          <a:xfrm>
            <a:off x="457200" y="3566160"/>
            <a:ext cx="4023360" cy="1097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17" name="Shape 15"/>
          <p:cNvSpPr/>
          <p:nvPr/>
        </p:nvSpPr>
        <p:spPr>
          <a:xfrm>
            <a:off x="457200" y="3566160"/>
            <a:ext cx="64008" cy="1097280"/>
          </a:xfrm>
          <a:prstGeom prst="rect">
            <a:avLst/>
          </a:prstGeom>
          <a:solidFill>
            <a:srgbClr val="D97706"/>
          </a:solidFill>
          <a:ln/>
        </p:spPr>
        <p:txBody>
          <a:bodyPr/>
          <a:lstStyle/>
          <a:p>
            <a:endParaRPr lang="en-CN"/>
          </a:p>
        </p:txBody>
      </p:sp>
      <p:sp>
        <p:nvSpPr>
          <p:cNvPr id="18" name="Text 16"/>
          <p:cNvSpPr/>
          <p:nvPr/>
        </p:nvSpPr>
        <p:spPr>
          <a:xfrm>
            <a:off x="640080" y="3593592"/>
            <a:ext cx="3017520" cy="27432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Wisdom Sparsity</a:t>
            </a:r>
            <a:endParaRPr lang="en-US" sz="1200" dirty="0"/>
          </a:p>
        </p:txBody>
      </p:sp>
      <p:sp>
        <p:nvSpPr>
          <p:cNvPr id="19" name="Text 17"/>
          <p:cNvSpPr/>
          <p:nvPr/>
        </p:nvSpPr>
        <p:spPr>
          <a:xfrm>
            <a:off x="3657600" y="3611880"/>
            <a:ext cx="640080" cy="228600"/>
          </a:xfrm>
          <a:prstGeom prst="rect">
            <a:avLst/>
          </a:prstGeom>
          <a:noFill/>
          <a:ln/>
        </p:spPr>
        <p:txBody>
          <a:bodyPr wrap="square" lIns="0" tIns="0" rIns="0" bIns="0" rtlCol="0" anchor="ctr"/>
          <a:lstStyle/>
          <a:p>
            <a:pPr marL="0" indent="0" algn="ctr">
              <a:buNone/>
            </a:pPr>
            <a:r>
              <a:rPr lang="en-US" sz="800" b="1" dirty="0">
                <a:solidFill>
                  <a:srgbClr val="D97706"/>
                </a:solidFill>
                <a:latin typeface="Calibri" pitchFamily="34" charset="0"/>
                <a:ea typeface="Calibri" pitchFamily="34" charset="-122"/>
                <a:cs typeface="Calibri" pitchFamily="34" charset="-120"/>
              </a:rPr>
              <a:t>MEDIUM</a:t>
            </a:r>
            <a:endParaRPr lang="en-US" sz="800" dirty="0"/>
          </a:p>
        </p:txBody>
      </p:sp>
      <p:sp>
        <p:nvSpPr>
          <p:cNvPr id="20" name="Text 18"/>
          <p:cNvSpPr/>
          <p:nvPr/>
        </p:nvSpPr>
        <p:spPr>
          <a:xfrm>
            <a:off x="640080" y="3867912"/>
            <a:ext cx="36576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If environment is too diverse, each pattern appears only 1-2 times. Wisdom can't crystallize.</a:t>
            </a:r>
            <a:endParaRPr lang="en-US" sz="900" dirty="0"/>
          </a:p>
        </p:txBody>
      </p:sp>
      <p:sp>
        <p:nvSpPr>
          <p:cNvPr id="21" name="Text 19"/>
          <p:cNvSpPr/>
          <p:nvPr/>
        </p:nvSpPr>
        <p:spPr>
          <a:xfrm>
            <a:off x="640080" y="4206240"/>
            <a:ext cx="3657600" cy="365760"/>
          </a:xfrm>
          <a:prstGeom prst="rect">
            <a:avLst/>
          </a:prstGeom>
          <a:noFill/>
          <a:ln/>
        </p:spPr>
        <p:txBody>
          <a:bodyPr wrap="square" lIns="0" tIns="0" rIns="0" bIns="0" rtlCol="0" anchor="ctr"/>
          <a:lstStyle/>
          <a:p>
            <a:pPr marL="0" indent="0">
              <a:buNone/>
            </a:pPr>
            <a:r>
              <a:rPr lang="en-US" sz="900" dirty="0">
                <a:solidFill>
                  <a:srgbClr val="059669"/>
                </a:solidFill>
                <a:latin typeface="Calibri" pitchFamily="34" charset="0"/>
                <a:ea typeface="Calibri" pitchFamily="34" charset="-122"/>
                <a:cs typeface="Calibri" pitchFamily="34" charset="-120"/>
              </a:rPr>
              <a:t>Broader categories ('compute' vs 'ECS OOM'). Accept that Wisdom is supplementary, not required.</a:t>
            </a:r>
            <a:endParaRPr lang="en-US" sz="900" dirty="0"/>
          </a:p>
        </p:txBody>
      </p:sp>
      <p:sp>
        <p:nvSpPr>
          <p:cNvPr id="22" name="Shape 20"/>
          <p:cNvSpPr/>
          <p:nvPr/>
        </p:nvSpPr>
        <p:spPr>
          <a:xfrm>
            <a:off x="4754880" y="1097280"/>
            <a:ext cx="4023360" cy="1097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23" name="Shape 21"/>
          <p:cNvSpPr/>
          <p:nvPr/>
        </p:nvSpPr>
        <p:spPr>
          <a:xfrm>
            <a:off x="4754880" y="1097280"/>
            <a:ext cx="64008" cy="1097280"/>
          </a:xfrm>
          <a:prstGeom prst="rect">
            <a:avLst/>
          </a:prstGeom>
          <a:solidFill>
            <a:srgbClr val="DC2626"/>
          </a:solidFill>
          <a:ln/>
        </p:spPr>
        <p:txBody>
          <a:bodyPr/>
          <a:lstStyle/>
          <a:p>
            <a:endParaRPr lang="en-CN"/>
          </a:p>
        </p:txBody>
      </p:sp>
      <p:sp>
        <p:nvSpPr>
          <p:cNvPr id="24" name="Text 22"/>
          <p:cNvSpPr/>
          <p:nvPr/>
        </p:nvSpPr>
        <p:spPr>
          <a:xfrm>
            <a:off x="4937760" y="1124712"/>
            <a:ext cx="3017520" cy="27432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Sandbox Replay Cost (Phase 3)</a:t>
            </a:r>
            <a:endParaRPr lang="en-US" sz="1200" dirty="0"/>
          </a:p>
        </p:txBody>
      </p:sp>
      <p:sp>
        <p:nvSpPr>
          <p:cNvPr id="25" name="Text 23"/>
          <p:cNvSpPr/>
          <p:nvPr/>
        </p:nvSpPr>
        <p:spPr>
          <a:xfrm>
            <a:off x="7955280" y="1143000"/>
            <a:ext cx="640080" cy="228600"/>
          </a:xfrm>
          <a:prstGeom prst="rect">
            <a:avLst/>
          </a:prstGeom>
          <a:noFill/>
          <a:ln/>
        </p:spPr>
        <p:txBody>
          <a:bodyPr wrap="square" lIns="0" tIns="0" rIns="0" bIns="0" rtlCol="0" anchor="ctr"/>
          <a:lstStyle/>
          <a:p>
            <a:pPr marL="0" indent="0" algn="ctr">
              <a:buNone/>
            </a:pPr>
            <a:r>
              <a:rPr lang="en-US" sz="800" b="1" dirty="0">
                <a:solidFill>
                  <a:srgbClr val="DC2626"/>
                </a:solidFill>
                <a:latin typeface="Calibri" pitchFamily="34" charset="0"/>
                <a:ea typeface="Calibri" pitchFamily="34" charset="-122"/>
                <a:cs typeface="Calibri" pitchFamily="34" charset="-120"/>
              </a:rPr>
              <a:t>HIGH</a:t>
            </a:r>
            <a:endParaRPr lang="en-US" sz="800" dirty="0"/>
          </a:p>
        </p:txBody>
      </p:sp>
      <p:sp>
        <p:nvSpPr>
          <p:cNvPr id="26" name="Text 24"/>
          <p:cNvSpPr/>
          <p:nvPr/>
        </p:nvSpPr>
        <p:spPr>
          <a:xfrm>
            <a:off x="4937760" y="1399032"/>
            <a:ext cx="36576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Fault injection environment = significant infra cost. Production env impossible to test.</a:t>
            </a:r>
            <a:endParaRPr lang="en-US" sz="900" dirty="0"/>
          </a:p>
        </p:txBody>
      </p:sp>
      <p:sp>
        <p:nvSpPr>
          <p:cNvPr id="27" name="Text 25"/>
          <p:cNvSpPr/>
          <p:nvPr/>
        </p:nvSpPr>
        <p:spPr>
          <a:xfrm>
            <a:off x="4937760" y="1737360"/>
            <a:ext cx="3657600" cy="365760"/>
          </a:xfrm>
          <a:prstGeom prst="rect">
            <a:avLst/>
          </a:prstGeom>
          <a:noFill/>
          <a:ln/>
        </p:spPr>
        <p:txBody>
          <a:bodyPr wrap="square" lIns="0" tIns="0" rIns="0" bIns="0" rtlCol="0" anchor="ctr"/>
          <a:lstStyle/>
          <a:p>
            <a:pPr marL="0" indent="0">
              <a:buNone/>
            </a:pPr>
            <a:r>
              <a:rPr lang="en-US" sz="900" dirty="0">
                <a:solidFill>
                  <a:srgbClr val="059669"/>
                </a:solidFill>
                <a:latin typeface="Calibri" pitchFamily="34" charset="0"/>
                <a:ea typeface="Calibri" pitchFamily="34" charset="-122"/>
                <a:cs typeface="Calibri" pitchFamily="34" charset="-120"/>
              </a:rPr>
              <a:t>Use KB case replay instead of live fault injection. Validate against known Ground Truth.</a:t>
            </a:r>
            <a:endParaRPr lang="en-US" sz="900" dirty="0"/>
          </a:p>
        </p:txBody>
      </p:sp>
      <p:sp>
        <p:nvSpPr>
          <p:cNvPr id="28" name="Shape 26"/>
          <p:cNvSpPr/>
          <p:nvPr/>
        </p:nvSpPr>
        <p:spPr>
          <a:xfrm>
            <a:off x="4754880" y="2331720"/>
            <a:ext cx="4023360" cy="1097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29" name="Shape 27"/>
          <p:cNvSpPr/>
          <p:nvPr/>
        </p:nvSpPr>
        <p:spPr>
          <a:xfrm>
            <a:off x="4754880" y="2331720"/>
            <a:ext cx="64008" cy="1097280"/>
          </a:xfrm>
          <a:prstGeom prst="rect">
            <a:avLst/>
          </a:prstGeom>
          <a:solidFill>
            <a:srgbClr val="DC2626"/>
          </a:solidFill>
          <a:ln/>
        </p:spPr>
        <p:txBody>
          <a:bodyPr/>
          <a:lstStyle/>
          <a:p>
            <a:endParaRPr lang="en-CN"/>
          </a:p>
        </p:txBody>
      </p:sp>
      <p:sp>
        <p:nvSpPr>
          <p:cNvPr id="30" name="Text 28"/>
          <p:cNvSpPr/>
          <p:nvPr/>
        </p:nvSpPr>
        <p:spPr>
          <a:xfrm>
            <a:off x="4937760" y="2359152"/>
            <a:ext cx="3017520" cy="27432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Self-Verification LLM Cost</a:t>
            </a:r>
            <a:endParaRPr lang="en-US" sz="1200" dirty="0"/>
          </a:p>
        </p:txBody>
      </p:sp>
      <p:sp>
        <p:nvSpPr>
          <p:cNvPr id="31" name="Text 29"/>
          <p:cNvSpPr/>
          <p:nvPr/>
        </p:nvSpPr>
        <p:spPr>
          <a:xfrm>
            <a:off x="7955280" y="2377440"/>
            <a:ext cx="640080" cy="228600"/>
          </a:xfrm>
          <a:prstGeom prst="rect">
            <a:avLst/>
          </a:prstGeom>
          <a:noFill/>
          <a:ln/>
        </p:spPr>
        <p:txBody>
          <a:bodyPr wrap="square" lIns="0" tIns="0" rIns="0" bIns="0" rtlCol="0" anchor="ctr"/>
          <a:lstStyle/>
          <a:p>
            <a:pPr marL="0" indent="0" algn="ctr">
              <a:buNone/>
            </a:pPr>
            <a:r>
              <a:rPr lang="en-US" sz="800" b="1" dirty="0">
                <a:solidFill>
                  <a:srgbClr val="DC2626"/>
                </a:solidFill>
                <a:latin typeface="Calibri" pitchFamily="34" charset="0"/>
                <a:ea typeface="Calibri" pitchFamily="34" charset="-122"/>
                <a:cs typeface="Calibri" pitchFamily="34" charset="-120"/>
              </a:rPr>
              <a:t>HIGH</a:t>
            </a:r>
            <a:endParaRPr lang="en-US" sz="800" dirty="0"/>
          </a:p>
        </p:txBody>
      </p:sp>
      <p:sp>
        <p:nvSpPr>
          <p:cNvPr id="32" name="Text 30"/>
          <p:cNvSpPr/>
          <p:nvPr/>
        </p:nvSpPr>
        <p:spPr>
          <a:xfrm>
            <a:off x="4937760" y="2633472"/>
            <a:ext cx="36576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Double LLM call per RCA. At scale, significant token cost.</a:t>
            </a:r>
            <a:endParaRPr lang="en-US" sz="900" dirty="0"/>
          </a:p>
        </p:txBody>
      </p:sp>
      <p:sp>
        <p:nvSpPr>
          <p:cNvPr id="33" name="Text 31"/>
          <p:cNvSpPr/>
          <p:nvPr/>
        </p:nvSpPr>
        <p:spPr>
          <a:xfrm>
            <a:off x="4937760" y="2971800"/>
            <a:ext cx="3657600" cy="365760"/>
          </a:xfrm>
          <a:prstGeom prst="rect">
            <a:avLst/>
          </a:prstGeom>
          <a:noFill/>
          <a:ln/>
        </p:spPr>
        <p:txBody>
          <a:bodyPr wrap="square" lIns="0" tIns="0" rIns="0" bIns="0" rtlCol="0" anchor="ctr"/>
          <a:lstStyle/>
          <a:p>
            <a:pPr marL="0" indent="0">
              <a:buNone/>
            </a:pPr>
            <a:r>
              <a:rPr lang="en-US" sz="900" dirty="0">
                <a:solidFill>
                  <a:srgbClr val="059669"/>
                </a:solidFill>
                <a:latin typeface="Calibri" pitchFamily="34" charset="0"/>
                <a:ea typeface="Calibri" pitchFamily="34" charset="-122"/>
                <a:cs typeface="Calibri" pitchFamily="34" charset="-120"/>
              </a:rPr>
              <a:t>Only trigger for high-severity or low-confidence RCAs. Human review may be more cost-effective.</a:t>
            </a:r>
            <a:endParaRPr lang="en-US" sz="900" dirty="0"/>
          </a:p>
        </p:txBody>
      </p:sp>
      <p:sp>
        <p:nvSpPr>
          <p:cNvPr id="34" name="Shape 32"/>
          <p:cNvSpPr/>
          <p:nvPr/>
        </p:nvSpPr>
        <p:spPr>
          <a:xfrm>
            <a:off x="4754880" y="3566160"/>
            <a:ext cx="4023360" cy="1097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35" name="Shape 33"/>
          <p:cNvSpPr/>
          <p:nvPr/>
        </p:nvSpPr>
        <p:spPr>
          <a:xfrm>
            <a:off x="4754880" y="3566160"/>
            <a:ext cx="64008" cy="1097280"/>
          </a:xfrm>
          <a:prstGeom prst="rect">
            <a:avLst/>
          </a:prstGeom>
          <a:solidFill>
            <a:srgbClr val="DC2626"/>
          </a:solidFill>
          <a:ln/>
        </p:spPr>
        <p:txBody>
          <a:bodyPr/>
          <a:lstStyle/>
          <a:p>
            <a:endParaRPr lang="en-CN"/>
          </a:p>
        </p:txBody>
      </p:sp>
      <p:sp>
        <p:nvSpPr>
          <p:cNvPr id="36" name="Text 34"/>
          <p:cNvSpPr/>
          <p:nvPr/>
        </p:nvSpPr>
        <p:spPr>
          <a:xfrm>
            <a:off x="4937760" y="3593592"/>
            <a:ext cx="3017520" cy="274320"/>
          </a:xfrm>
          <a:prstGeom prst="rect">
            <a:avLst/>
          </a:prstGeom>
          <a:noFill/>
          <a:ln/>
        </p:spPr>
        <p:txBody>
          <a:bodyPr wrap="square" lIns="0" tIns="0" rIns="0" bIns="0" rtlCol="0" anchor="ctr"/>
          <a:lstStyle/>
          <a:p>
            <a:pPr marL="0" indent="0">
              <a:buNone/>
            </a:pPr>
            <a:r>
              <a:rPr lang="en-US" sz="1200" b="1" dirty="0">
                <a:solidFill>
                  <a:srgbClr val="1E293B"/>
                </a:solidFill>
                <a:latin typeface="Georgia" pitchFamily="34" charset="0"/>
                <a:ea typeface="Georgia" pitchFamily="34" charset="-122"/>
                <a:cs typeface="Georgia" pitchFamily="34" charset="-120"/>
              </a:rPr>
              <a:t>SkillGapDetector False Positives</a:t>
            </a:r>
            <a:endParaRPr lang="en-US" sz="1200" dirty="0"/>
          </a:p>
        </p:txBody>
      </p:sp>
      <p:sp>
        <p:nvSpPr>
          <p:cNvPr id="37" name="Text 35"/>
          <p:cNvSpPr/>
          <p:nvPr/>
        </p:nvSpPr>
        <p:spPr>
          <a:xfrm>
            <a:off x="7955280" y="3611880"/>
            <a:ext cx="640080" cy="228600"/>
          </a:xfrm>
          <a:prstGeom prst="rect">
            <a:avLst/>
          </a:prstGeom>
          <a:noFill/>
          <a:ln/>
        </p:spPr>
        <p:txBody>
          <a:bodyPr wrap="square" lIns="0" tIns="0" rIns="0" bIns="0" rtlCol="0" anchor="ctr"/>
          <a:lstStyle/>
          <a:p>
            <a:pPr marL="0" indent="0" algn="ctr">
              <a:buNone/>
            </a:pPr>
            <a:r>
              <a:rPr lang="en-US" sz="800" b="1" dirty="0">
                <a:solidFill>
                  <a:srgbClr val="DC2626"/>
                </a:solidFill>
                <a:latin typeface="Calibri" pitchFamily="34" charset="0"/>
                <a:ea typeface="Calibri" pitchFamily="34" charset="-122"/>
                <a:cs typeface="Calibri" pitchFamily="34" charset="-120"/>
              </a:rPr>
              <a:t>HIGH</a:t>
            </a:r>
            <a:endParaRPr lang="en-US" sz="800" dirty="0"/>
          </a:p>
        </p:txBody>
      </p:sp>
      <p:sp>
        <p:nvSpPr>
          <p:cNvPr id="38" name="Text 36"/>
          <p:cNvSpPr/>
          <p:nvPr/>
        </p:nvSpPr>
        <p:spPr>
          <a:xfrm>
            <a:off x="4937760" y="3867912"/>
            <a:ext cx="3657600" cy="27432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Agent didn't use a skill != skill is missing. 'Gap' definition is ambiguous.</a:t>
            </a:r>
            <a:endParaRPr lang="en-US" sz="900" dirty="0"/>
          </a:p>
        </p:txBody>
      </p:sp>
      <p:sp>
        <p:nvSpPr>
          <p:cNvPr id="39" name="Text 37"/>
          <p:cNvSpPr/>
          <p:nvPr/>
        </p:nvSpPr>
        <p:spPr>
          <a:xfrm>
            <a:off x="4937760" y="4206240"/>
            <a:ext cx="3657600" cy="365760"/>
          </a:xfrm>
          <a:prstGeom prst="rect">
            <a:avLst/>
          </a:prstGeom>
          <a:noFill/>
          <a:ln/>
        </p:spPr>
        <p:txBody>
          <a:bodyPr wrap="square" lIns="0" tIns="0" rIns="0" bIns="0" rtlCol="0" anchor="ctr"/>
          <a:lstStyle/>
          <a:p>
            <a:pPr marL="0" indent="0">
              <a:buNone/>
            </a:pPr>
            <a:r>
              <a:rPr lang="en-US" sz="900" dirty="0">
                <a:solidFill>
                  <a:srgbClr val="059669"/>
                </a:solidFill>
                <a:latin typeface="Calibri" pitchFamily="34" charset="0"/>
                <a:ea typeface="Calibri" pitchFamily="34" charset="-122"/>
                <a:cs typeface="Calibri" pitchFamily="34" charset="-120"/>
              </a:rPr>
              <a:t>Let humans declare gaps instead. Or require 3+ consistent gaps before triggering SOPWriter.</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0F2B4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txBody>
          <a:bodyPr/>
          <a:lstStyle/>
          <a:p>
            <a:endParaRPr lang="en-CN"/>
          </a:p>
        </p:txBody>
      </p:sp>
      <p:sp>
        <p:nvSpPr>
          <p:cNvPr id="3" name="Text 1"/>
          <p:cNvSpPr/>
          <p:nvPr/>
        </p:nvSpPr>
        <p:spPr>
          <a:xfrm>
            <a:off x="731520" y="274320"/>
            <a:ext cx="7315200" cy="5486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The Learning Flywheel</a:t>
            </a:r>
            <a:endParaRPr lang="en-US" sz="3200" dirty="0"/>
          </a:p>
        </p:txBody>
      </p:sp>
      <p:sp>
        <p:nvSpPr>
          <p:cNvPr id="4" name="Shape 2"/>
          <p:cNvSpPr/>
          <p:nvPr/>
        </p:nvSpPr>
        <p:spPr>
          <a:xfrm>
            <a:off x="914400" y="1280160"/>
            <a:ext cx="2011680" cy="1097280"/>
          </a:xfrm>
          <a:prstGeom prst="rect">
            <a:avLst/>
          </a:prstGeom>
          <a:solidFill>
            <a:srgbClr val="152E44"/>
          </a:solidFill>
          <a:ln/>
        </p:spPr>
        <p:txBody>
          <a:bodyPr/>
          <a:lstStyle/>
          <a:p>
            <a:endParaRPr lang="en-CN"/>
          </a:p>
        </p:txBody>
      </p:sp>
      <p:sp>
        <p:nvSpPr>
          <p:cNvPr id="5" name="Shape 3"/>
          <p:cNvSpPr/>
          <p:nvPr/>
        </p:nvSpPr>
        <p:spPr>
          <a:xfrm>
            <a:off x="914400" y="1280160"/>
            <a:ext cx="2011680" cy="320040"/>
          </a:xfrm>
          <a:prstGeom prst="rect">
            <a:avLst/>
          </a:prstGeom>
          <a:solidFill>
            <a:srgbClr val="0891B2"/>
          </a:solidFill>
          <a:ln/>
        </p:spPr>
        <p:txBody>
          <a:bodyPr/>
          <a:lstStyle/>
          <a:p>
            <a:endParaRPr lang="en-CN"/>
          </a:p>
        </p:txBody>
      </p:sp>
      <p:sp>
        <p:nvSpPr>
          <p:cNvPr id="6" name="Text 4"/>
          <p:cNvSpPr/>
          <p:nvPr/>
        </p:nvSpPr>
        <p:spPr>
          <a:xfrm>
            <a:off x="914400" y="1298448"/>
            <a:ext cx="20116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Phase 1</a:t>
            </a:r>
            <a:endParaRPr lang="en-US" sz="1200" dirty="0"/>
          </a:p>
        </p:txBody>
      </p:sp>
      <p:sp>
        <p:nvSpPr>
          <p:cNvPr id="7" name="Text 5"/>
          <p:cNvSpPr/>
          <p:nvPr/>
        </p:nvSpPr>
        <p:spPr>
          <a:xfrm>
            <a:off x="1024128" y="1645920"/>
            <a:ext cx="1828800" cy="64008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Agent investigates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with tools + evidence</a:t>
            </a:r>
            <a:endParaRPr lang="en-US" sz="1000" dirty="0"/>
          </a:p>
        </p:txBody>
      </p:sp>
      <p:sp>
        <p:nvSpPr>
          <p:cNvPr id="8" name="Shape 6"/>
          <p:cNvSpPr/>
          <p:nvPr/>
        </p:nvSpPr>
        <p:spPr>
          <a:xfrm>
            <a:off x="3657600" y="1280160"/>
            <a:ext cx="2011680" cy="1097280"/>
          </a:xfrm>
          <a:prstGeom prst="rect">
            <a:avLst/>
          </a:prstGeom>
          <a:solidFill>
            <a:srgbClr val="152E44"/>
          </a:solidFill>
          <a:ln/>
        </p:spPr>
        <p:txBody>
          <a:bodyPr/>
          <a:lstStyle/>
          <a:p>
            <a:endParaRPr lang="en-CN"/>
          </a:p>
        </p:txBody>
      </p:sp>
      <p:sp>
        <p:nvSpPr>
          <p:cNvPr id="9" name="Shape 7"/>
          <p:cNvSpPr/>
          <p:nvPr/>
        </p:nvSpPr>
        <p:spPr>
          <a:xfrm>
            <a:off x="3657600" y="1280160"/>
            <a:ext cx="2011680" cy="320040"/>
          </a:xfrm>
          <a:prstGeom prst="rect">
            <a:avLst/>
          </a:prstGeom>
          <a:solidFill>
            <a:srgbClr val="0891B2"/>
          </a:solidFill>
          <a:ln/>
        </p:spPr>
        <p:txBody>
          <a:bodyPr/>
          <a:lstStyle/>
          <a:p>
            <a:endParaRPr lang="en-CN"/>
          </a:p>
        </p:txBody>
      </p:sp>
      <p:sp>
        <p:nvSpPr>
          <p:cNvPr id="10" name="Text 8"/>
          <p:cNvSpPr/>
          <p:nvPr/>
        </p:nvSpPr>
        <p:spPr>
          <a:xfrm>
            <a:off x="3657600" y="1298448"/>
            <a:ext cx="20116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Phase 2</a:t>
            </a:r>
            <a:endParaRPr lang="en-US" sz="1200" dirty="0"/>
          </a:p>
        </p:txBody>
      </p:sp>
      <p:sp>
        <p:nvSpPr>
          <p:cNvPr id="11" name="Text 9"/>
          <p:cNvSpPr/>
          <p:nvPr/>
        </p:nvSpPr>
        <p:spPr>
          <a:xfrm>
            <a:off x="3767328" y="1645920"/>
            <a:ext cx="1828800" cy="64008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Human reviews create</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Ground Truth data</a:t>
            </a:r>
            <a:endParaRPr lang="en-US" sz="1000" dirty="0"/>
          </a:p>
        </p:txBody>
      </p:sp>
      <p:sp>
        <p:nvSpPr>
          <p:cNvPr id="12" name="Shape 10"/>
          <p:cNvSpPr/>
          <p:nvPr/>
        </p:nvSpPr>
        <p:spPr>
          <a:xfrm>
            <a:off x="6400800" y="1280160"/>
            <a:ext cx="2011680" cy="1097280"/>
          </a:xfrm>
          <a:prstGeom prst="rect">
            <a:avLst/>
          </a:prstGeom>
          <a:solidFill>
            <a:srgbClr val="152E44"/>
          </a:solidFill>
          <a:ln/>
        </p:spPr>
        <p:txBody>
          <a:bodyPr/>
          <a:lstStyle/>
          <a:p>
            <a:endParaRPr lang="en-CN"/>
          </a:p>
        </p:txBody>
      </p:sp>
      <p:sp>
        <p:nvSpPr>
          <p:cNvPr id="13" name="Shape 11"/>
          <p:cNvSpPr/>
          <p:nvPr/>
        </p:nvSpPr>
        <p:spPr>
          <a:xfrm>
            <a:off x="6400800" y="1280160"/>
            <a:ext cx="2011680" cy="320040"/>
          </a:xfrm>
          <a:prstGeom prst="rect">
            <a:avLst/>
          </a:prstGeom>
          <a:solidFill>
            <a:srgbClr val="0891B2"/>
          </a:solidFill>
          <a:ln/>
        </p:spPr>
        <p:txBody>
          <a:bodyPr/>
          <a:lstStyle/>
          <a:p>
            <a:endParaRPr lang="en-CN"/>
          </a:p>
        </p:txBody>
      </p:sp>
      <p:sp>
        <p:nvSpPr>
          <p:cNvPr id="14" name="Text 12"/>
          <p:cNvSpPr/>
          <p:nvPr/>
        </p:nvSpPr>
        <p:spPr>
          <a:xfrm>
            <a:off x="6400800" y="1298448"/>
            <a:ext cx="20116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Phase 2b</a:t>
            </a:r>
            <a:endParaRPr lang="en-US" sz="1200" dirty="0"/>
          </a:p>
        </p:txBody>
      </p:sp>
      <p:sp>
        <p:nvSpPr>
          <p:cNvPr id="15" name="Text 13"/>
          <p:cNvSpPr/>
          <p:nvPr/>
        </p:nvSpPr>
        <p:spPr>
          <a:xfrm>
            <a:off x="6510528" y="1645920"/>
            <a:ext cx="1828800" cy="64008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Calibration + Wisdom</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improve future prompts</a:t>
            </a:r>
            <a:endParaRPr lang="en-US" sz="1000" dirty="0"/>
          </a:p>
        </p:txBody>
      </p:sp>
      <p:sp>
        <p:nvSpPr>
          <p:cNvPr id="16" name="Shape 14"/>
          <p:cNvSpPr/>
          <p:nvPr/>
        </p:nvSpPr>
        <p:spPr>
          <a:xfrm>
            <a:off x="6400800" y="2926080"/>
            <a:ext cx="2011680" cy="1097280"/>
          </a:xfrm>
          <a:prstGeom prst="rect">
            <a:avLst/>
          </a:prstGeom>
          <a:solidFill>
            <a:srgbClr val="152E44"/>
          </a:solidFill>
          <a:ln/>
        </p:spPr>
        <p:txBody>
          <a:bodyPr/>
          <a:lstStyle/>
          <a:p>
            <a:endParaRPr lang="en-CN"/>
          </a:p>
        </p:txBody>
      </p:sp>
      <p:sp>
        <p:nvSpPr>
          <p:cNvPr id="17" name="Shape 15"/>
          <p:cNvSpPr/>
          <p:nvPr/>
        </p:nvSpPr>
        <p:spPr>
          <a:xfrm>
            <a:off x="6400800" y="2926080"/>
            <a:ext cx="2011680" cy="320040"/>
          </a:xfrm>
          <a:prstGeom prst="rect">
            <a:avLst/>
          </a:prstGeom>
          <a:solidFill>
            <a:srgbClr val="0891B2"/>
          </a:solidFill>
          <a:ln/>
        </p:spPr>
        <p:txBody>
          <a:bodyPr/>
          <a:lstStyle/>
          <a:p>
            <a:endParaRPr lang="en-CN"/>
          </a:p>
        </p:txBody>
      </p:sp>
      <p:sp>
        <p:nvSpPr>
          <p:cNvPr id="18" name="Text 16"/>
          <p:cNvSpPr/>
          <p:nvPr/>
        </p:nvSpPr>
        <p:spPr>
          <a:xfrm>
            <a:off x="6400800" y="2944368"/>
            <a:ext cx="20116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Phase 3</a:t>
            </a:r>
            <a:endParaRPr lang="en-US" sz="1200" dirty="0"/>
          </a:p>
        </p:txBody>
      </p:sp>
      <p:sp>
        <p:nvSpPr>
          <p:cNvPr id="19" name="Text 17"/>
          <p:cNvSpPr/>
          <p:nvPr/>
        </p:nvSpPr>
        <p:spPr>
          <a:xfrm>
            <a:off x="6510528" y="3291840"/>
            <a:ext cx="1828800" cy="64008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System auto-generates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and validates skills</a:t>
            </a:r>
            <a:endParaRPr lang="en-US" sz="1000" dirty="0"/>
          </a:p>
        </p:txBody>
      </p:sp>
      <p:sp>
        <p:nvSpPr>
          <p:cNvPr id="20" name="Shape 18"/>
          <p:cNvSpPr/>
          <p:nvPr/>
        </p:nvSpPr>
        <p:spPr>
          <a:xfrm>
            <a:off x="3657600" y="2926080"/>
            <a:ext cx="2011680" cy="1097280"/>
          </a:xfrm>
          <a:prstGeom prst="rect">
            <a:avLst/>
          </a:prstGeom>
          <a:solidFill>
            <a:srgbClr val="152E44"/>
          </a:solidFill>
          <a:ln/>
        </p:spPr>
        <p:txBody>
          <a:bodyPr/>
          <a:lstStyle/>
          <a:p>
            <a:endParaRPr lang="en-CN"/>
          </a:p>
        </p:txBody>
      </p:sp>
      <p:sp>
        <p:nvSpPr>
          <p:cNvPr id="21" name="Shape 19"/>
          <p:cNvSpPr/>
          <p:nvPr/>
        </p:nvSpPr>
        <p:spPr>
          <a:xfrm>
            <a:off x="3657600" y="2926080"/>
            <a:ext cx="2011680" cy="320040"/>
          </a:xfrm>
          <a:prstGeom prst="rect">
            <a:avLst/>
          </a:prstGeom>
          <a:solidFill>
            <a:srgbClr val="0891B2"/>
          </a:solidFill>
          <a:ln/>
        </p:spPr>
        <p:txBody>
          <a:bodyPr/>
          <a:lstStyle/>
          <a:p>
            <a:endParaRPr lang="en-CN"/>
          </a:p>
        </p:txBody>
      </p:sp>
      <p:sp>
        <p:nvSpPr>
          <p:cNvPr id="22" name="Text 20"/>
          <p:cNvSpPr/>
          <p:nvPr/>
        </p:nvSpPr>
        <p:spPr>
          <a:xfrm>
            <a:off x="3657600" y="2944368"/>
            <a:ext cx="20116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Phase 4</a:t>
            </a:r>
            <a:endParaRPr lang="en-US" sz="1200" dirty="0"/>
          </a:p>
        </p:txBody>
      </p:sp>
      <p:sp>
        <p:nvSpPr>
          <p:cNvPr id="23" name="Text 21"/>
          <p:cNvSpPr/>
          <p:nvPr/>
        </p:nvSpPr>
        <p:spPr>
          <a:xfrm>
            <a:off x="3767328" y="3291840"/>
            <a:ext cx="1828800" cy="64008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Proactive detection</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graduated autonomy</a:t>
            </a:r>
            <a:endParaRPr lang="en-US" sz="1000" dirty="0"/>
          </a:p>
        </p:txBody>
      </p:sp>
      <p:sp>
        <p:nvSpPr>
          <p:cNvPr id="24" name="Shape 22"/>
          <p:cNvSpPr/>
          <p:nvPr/>
        </p:nvSpPr>
        <p:spPr>
          <a:xfrm>
            <a:off x="914400" y="2926080"/>
            <a:ext cx="2011680" cy="1097280"/>
          </a:xfrm>
          <a:prstGeom prst="rect">
            <a:avLst/>
          </a:prstGeom>
          <a:solidFill>
            <a:srgbClr val="152E44"/>
          </a:solidFill>
          <a:ln/>
        </p:spPr>
        <p:txBody>
          <a:bodyPr/>
          <a:lstStyle/>
          <a:p>
            <a:endParaRPr lang="en-CN"/>
          </a:p>
        </p:txBody>
      </p:sp>
      <p:sp>
        <p:nvSpPr>
          <p:cNvPr id="25" name="Shape 23"/>
          <p:cNvSpPr/>
          <p:nvPr/>
        </p:nvSpPr>
        <p:spPr>
          <a:xfrm>
            <a:off x="914400" y="2926080"/>
            <a:ext cx="2011680" cy="320040"/>
          </a:xfrm>
          <a:prstGeom prst="rect">
            <a:avLst/>
          </a:prstGeom>
          <a:solidFill>
            <a:srgbClr val="059669"/>
          </a:solidFill>
          <a:ln/>
        </p:spPr>
        <p:txBody>
          <a:bodyPr/>
          <a:lstStyle/>
          <a:p>
            <a:endParaRPr lang="en-CN"/>
          </a:p>
        </p:txBody>
      </p:sp>
      <p:sp>
        <p:nvSpPr>
          <p:cNvPr id="26" name="Text 24"/>
          <p:cNvSpPr/>
          <p:nvPr/>
        </p:nvSpPr>
        <p:spPr>
          <a:xfrm>
            <a:off x="914400" y="2944368"/>
            <a:ext cx="20116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Outcome</a:t>
            </a:r>
            <a:endParaRPr lang="en-US" sz="1200" dirty="0"/>
          </a:p>
        </p:txBody>
      </p:sp>
      <p:sp>
        <p:nvSpPr>
          <p:cNvPr id="27" name="Text 25"/>
          <p:cNvSpPr/>
          <p:nvPr/>
        </p:nvSpPr>
        <p:spPr>
          <a:xfrm>
            <a:off x="1024128" y="3291840"/>
            <a:ext cx="1828800" cy="64008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Each cycle makes the</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next faster + more accurate</a:t>
            </a:r>
            <a:endParaRPr lang="en-US" sz="1000" dirty="0"/>
          </a:p>
        </p:txBody>
      </p:sp>
      <p:sp>
        <p:nvSpPr>
          <p:cNvPr id="28" name="Text 26"/>
          <p:cNvSpPr/>
          <p:nvPr/>
        </p:nvSpPr>
        <p:spPr>
          <a:xfrm>
            <a:off x="2926080" y="1600200"/>
            <a:ext cx="731520" cy="365760"/>
          </a:xfrm>
          <a:prstGeom prst="rect">
            <a:avLst/>
          </a:prstGeom>
          <a:noFill/>
          <a:ln/>
        </p:spPr>
        <p:txBody>
          <a:bodyPr wrap="square" lIns="0" tIns="0" rIns="0" bIns="0" rtlCol="0" anchor="ctr"/>
          <a:lstStyle/>
          <a:p>
            <a:pPr marL="0" indent="0" algn="ctr">
              <a:buNone/>
            </a:pPr>
            <a:r>
              <a:rPr lang="en-US" sz="2400" dirty="0">
                <a:solidFill>
                  <a:srgbClr val="06B6D4"/>
                </a:solidFill>
                <a:latin typeface="Calibri" pitchFamily="34" charset="0"/>
                <a:ea typeface="Calibri" pitchFamily="34" charset="-122"/>
                <a:cs typeface="Calibri" pitchFamily="34" charset="-120"/>
              </a:rPr>
              <a:t>&gt;</a:t>
            </a:r>
            <a:endParaRPr lang="en-US" sz="2400" dirty="0"/>
          </a:p>
        </p:txBody>
      </p:sp>
      <p:sp>
        <p:nvSpPr>
          <p:cNvPr id="29" name="Text 27"/>
          <p:cNvSpPr/>
          <p:nvPr/>
        </p:nvSpPr>
        <p:spPr>
          <a:xfrm>
            <a:off x="5669280" y="1600200"/>
            <a:ext cx="731520" cy="365760"/>
          </a:xfrm>
          <a:prstGeom prst="rect">
            <a:avLst/>
          </a:prstGeom>
          <a:noFill/>
          <a:ln/>
        </p:spPr>
        <p:txBody>
          <a:bodyPr wrap="square" lIns="0" tIns="0" rIns="0" bIns="0" rtlCol="0" anchor="ctr"/>
          <a:lstStyle/>
          <a:p>
            <a:pPr marL="0" indent="0" algn="ctr">
              <a:buNone/>
            </a:pPr>
            <a:r>
              <a:rPr lang="en-US" sz="2400" dirty="0">
                <a:solidFill>
                  <a:srgbClr val="06B6D4"/>
                </a:solidFill>
                <a:latin typeface="Calibri" pitchFamily="34" charset="0"/>
                <a:ea typeface="Calibri" pitchFamily="34" charset="-122"/>
                <a:cs typeface="Calibri" pitchFamily="34" charset="-120"/>
              </a:rPr>
              <a:t>&gt;</a:t>
            </a:r>
            <a:endParaRPr lang="en-US" sz="2400" dirty="0"/>
          </a:p>
        </p:txBody>
      </p:sp>
      <p:sp>
        <p:nvSpPr>
          <p:cNvPr id="30" name="Text 28"/>
          <p:cNvSpPr/>
          <p:nvPr/>
        </p:nvSpPr>
        <p:spPr>
          <a:xfrm>
            <a:off x="7223760" y="2377440"/>
            <a:ext cx="365760" cy="548640"/>
          </a:xfrm>
          <a:prstGeom prst="rect">
            <a:avLst/>
          </a:prstGeom>
          <a:noFill/>
          <a:ln/>
        </p:spPr>
        <p:txBody>
          <a:bodyPr wrap="square" lIns="0" tIns="0" rIns="0" bIns="0" rtlCol="0" anchor="ctr"/>
          <a:lstStyle/>
          <a:p>
            <a:pPr marL="0" indent="0" algn="ctr">
              <a:buNone/>
            </a:pPr>
            <a:r>
              <a:rPr lang="en-US" sz="2000" dirty="0">
                <a:solidFill>
                  <a:srgbClr val="06B6D4"/>
                </a:solidFill>
                <a:latin typeface="Calibri" pitchFamily="34" charset="0"/>
                <a:ea typeface="Calibri" pitchFamily="34" charset="-122"/>
                <a:cs typeface="Calibri" pitchFamily="34" charset="-120"/>
              </a:rPr>
              <a:t>v</a:t>
            </a:r>
            <a:endParaRPr lang="en-US" sz="2000" dirty="0"/>
          </a:p>
        </p:txBody>
      </p:sp>
      <p:sp>
        <p:nvSpPr>
          <p:cNvPr id="31" name="Text 29"/>
          <p:cNvSpPr/>
          <p:nvPr/>
        </p:nvSpPr>
        <p:spPr>
          <a:xfrm>
            <a:off x="5669280" y="3246120"/>
            <a:ext cx="731520" cy="365760"/>
          </a:xfrm>
          <a:prstGeom prst="rect">
            <a:avLst/>
          </a:prstGeom>
          <a:noFill/>
          <a:ln/>
        </p:spPr>
        <p:txBody>
          <a:bodyPr wrap="square" lIns="0" tIns="0" rIns="0" bIns="0" rtlCol="0" anchor="ctr"/>
          <a:lstStyle/>
          <a:p>
            <a:pPr marL="0" indent="0" algn="ctr">
              <a:buNone/>
            </a:pPr>
            <a:r>
              <a:rPr lang="en-US" sz="2400" dirty="0">
                <a:solidFill>
                  <a:srgbClr val="06B6D4"/>
                </a:solidFill>
                <a:latin typeface="Calibri" pitchFamily="34" charset="0"/>
                <a:ea typeface="Calibri" pitchFamily="34" charset="-122"/>
                <a:cs typeface="Calibri" pitchFamily="34" charset="-120"/>
              </a:rPr>
              <a:t>&lt;</a:t>
            </a:r>
            <a:endParaRPr lang="en-US" sz="2400" dirty="0"/>
          </a:p>
        </p:txBody>
      </p:sp>
      <p:sp>
        <p:nvSpPr>
          <p:cNvPr id="32" name="Text 30"/>
          <p:cNvSpPr/>
          <p:nvPr/>
        </p:nvSpPr>
        <p:spPr>
          <a:xfrm>
            <a:off x="2926080" y="3246120"/>
            <a:ext cx="731520" cy="365760"/>
          </a:xfrm>
          <a:prstGeom prst="rect">
            <a:avLst/>
          </a:prstGeom>
          <a:noFill/>
          <a:ln/>
        </p:spPr>
        <p:txBody>
          <a:bodyPr wrap="square" lIns="0" tIns="0" rIns="0" bIns="0" rtlCol="0" anchor="ctr"/>
          <a:lstStyle/>
          <a:p>
            <a:pPr marL="0" indent="0" algn="ctr">
              <a:buNone/>
            </a:pPr>
            <a:r>
              <a:rPr lang="en-US" sz="2400" dirty="0">
                <a:solidFill>
                  <a:srgbClr val="06B6D4"/>
                </a:solidFill>
                <a:latin typeface="Calibri" pitchFamily="34" charset="0"/>
                <a:ea typeface="Calibri" pitchFamily="34" charset="-122"/>
                <a:cs typeface="Calibri" pitchFamily="34" charset="-120"/>
              </a:rPr>
              <a:t>&lt;</a:t>
            </a:r>
            <a:endParaRPr lang="en-US" sz="2400" dirty="0"/>
          </a:p>
        </p:txBody>
      </p:sp>
      <p:sp>
        <p:nvSpPr>
          <p:cNvPr id="33" name="Text 31"/>
          <p:cNvSpPr/>
          <p:nvPr/>
        </p:nvSpPr>
        <p:spPr>
          <a:xfrm>
            <a:off x="731520" y="4297680"/>
            <a:ext cx="7315200" cy="27432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Incident #1: 25 min (manual investigation)</a:t>
            </a:r>
            <a:endParaRPr lang="en-US" sz="1400" dirty="0"/>
          </a:p>
        </p:txBody>
      </p:sp>
      <p:sp>
        <p:nvSpPr>
          <p:cNvPr id="34" name="Text 32"/>
          <p:cNvSpPr/>
          <p:nvPr/>
        </p:nvSpPr>
        <p:spPr>
          <a:xfrm>
            <a:off x="731520" y="4572000"/>
            <a:ext cx="7315200" cy="274320"/>
          </a:xfrm>
          <a:prstGeom prst="rect">
            <a:avLst/>
          </a:prstGeom>
          <a:noFill/>
          <a:ln/>
        </p:spPr>
        <p:txBody>
          <a:bodyPr wrap="square" lIns="0" tIns="0" rIns="0" bIns="0" rtlCol="0" anchor="ctr"/>
          <a:lstStyle/>
          <a:p>
            <a:pPr marL="0" indent="0">
              <a:buNone/>
            </a:pPr>
            <a:r>
              <a:rPr lang="en-US" sz="1400" b="1" dirty="0">
                <a:solidFill>
                  <a:srgbClr val="06B6D4"/>
                </a:solidFill>
                <a:latin typeface="Calibri" pitchFamily="34" charset="0"/>
                <a:ea typeface="Calibri" pitchFamily="34" charset="-122"/>
                <a:cs typeface="Calibri" pitchFamily="34" charset="-120"/>
              </a:rPr>
              <a:t>Incident #2 (similar): 3 min (Memory Fast Path + Wisdom)</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lIns="0" tIns="0" rIns="0" bIns="0" rtlCol="0" anchor="ctr"/>
          <a:lstStyle/>
          <a:p>
            <a:pPr marL="0" indent="0">
              <a:buNone/>
            </a:pPr>
            <a:r>
              <a:rPr lang="en-US" sz="3200" b="1" dirty="0">
                <a:solidFill>
                  <a:srgbClr val="0F2B46"/>
                </a:solidFill>
                <a:latin typeface="Georgia" pitchFamily="34" charset="0"/>
                <a:ea typeface="Georgia" pitchFamily="34" charset="-122"/>
                <a:cs typeface="Georgia" pitchFamily="34" charset="-120"/>
              </a:rPr>
              <a:t>Success Metrics</a:t>
            </a:r>
            <a:endParaRPr lang="en-US" sz="3200" dirty="0"/>
          </a:p>
        </p:txBody>
      </p:sp>
      <p:sp>
        <p:nvSpPr>
          <p:cNvPr id="3" name="Shape 1"/>
          <p:cNvSpPr/>
          <p:nvPr/>
        </p:nvSpPr>
        <p:spPr>
          <a:xfrm>
            <a:off x="731520" y="868680"/>
            <a:ext cx="1097280" cy="36576"/>
          </a:xfrm>
          <a:prstGeom prst="rect">
            <a:avLst/>
          </a:prstGeom>
          <a:solidFill>
            <a:srgbClr val="0891B2"/>
          </a:solidFill>
          <a:ln/>
        </p:spPr>
        <p:txBody>
          <a:bodyPr/>
          <a:lstStyle/>
          <a:p>
            <a:endParaRPr lang="en-CN"/>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3499104"/>
        </p:xfrm>
        <a:graphic>
          <a:graphicData uri="http://schemas.openxmlformats.org/drawingml/2006/table">
            <a:tbl>
              <a:tblPr/>
              <a:tblGrid>
                <a:gridCol w="25603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41148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Current</a:t>
                      </a:r>
                      <a:endParaRPr lang="en-US" sz="1100" dirty="0">
                        <a:latin typeface="Calibri" charset="0"/>
                        <a:ea typeface="Calibri" charset="0"/>
                        <a:cs typeface="Calibri" charset="0"/>
                      </a:endParaRPr>
                    </a:p>
                    <a:p>
                      <a:pPr marL="0" indent="0" algn="ctr">
                        <a:buNone/>
                      </a:pPr>
                      <a:r>
                        <a:rPr lang="en-US" sz="1100" b="1" dirty="0">
                          <a:solidFill>
                            <a:srgbClr val="FFFFFF"/>
                          </a:solidFill>
                          <a:latin typeface="Calibri" pitchFamily="34" charset="0"/>
                          <a:ea typeface="Calibri" pitchFamily="34" charset="-122"/>
                          <a:cs typeface="Calibri" pitchFamily="34" charset="-120"/>
                        </a:rPr>
                        <a:t>(MVP 1.0)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p>
                      <a:pPr marL="0" indent="0" algn="ctr">
                        <a:buNone/>
                      </a:pPr>
                      <a:r>
                        <a:rPr lang="en-US" sz="1100" b="1" dirty="0">
                          <a:solidFill>
                            <a:srgbClr val="FFFFFF"/>
                          </a:solidFill>
                          <a:latin typeface="Calibri" pitchFamily="34" charset="0"/>
                          <a:ea typeface="Calibri" pitchFamily="34" charset="-122"/>
                          <a:cs typeface="Calibri" pitchFamily="34" charset="-120"/>
                        </a:rPr>
                        <a:t>(Next-Gen 2.0)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How Measured</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extLst>
                  <a:ext uri="{0D108BD9-81ED-4DB2-BD59-A6C34878D82A}">
                    <a16:rowId xmlns:a16="http://schemas.microsoft.com/office/drawing/2014/main" val="10000"/>
                  </a:ext>
                </a:extLst>
              </a:tr>
              <a:tr h="384048">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RCA accuracy (human-verified)</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Unknown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&gt; 80%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ReviewFeedback verdicts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RCA time (known patterns)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2-6 min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&lt; 2 min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Pipeline timestamps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PostAction SUCCESS rate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&gt; 70%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PostActionResult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KB verified case ratio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&gt; 50%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Review data (6 months)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Confidence calibration error</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Unknown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&lt; 10%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Calibration vs actuals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Wisdom Roadmap coverage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0 entries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&gt; 40 patterns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KB count (6 months)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Service model coverage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&gt; 80%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DB service entries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Evidence-backed RCA ratio</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dirty="0">
                          <a:solidFill>
                            <a:srgbClr val="1E293B"/>
                          </a:solidFill>
                          <a:latin typeface="Calibri" pitchFamily="34" charset="0"/>
                          <a:ea typeface="Calibri" pitchFamily="34" charset="-122"/>
                          <a:cs typeface="Calibri" pitchFamily="34" charset="-120"/>
                        </a:rPr>
                        <a:t>Unknown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000" b="1" dirty="0">
                          <a:solidFill>
                            <a:srgbClr val="059669"/>
                          </a:solidFill>
                          <a:latin typeface="Calibri" pitchFamily="34" charset="0"/>
                          <a:ea typeface="Calibri" pitchFamily="34" charset="-122"/>
                          <a:cs typeface="Calibri" pitchFamily="34" charset="-120"/>
                        </a:rPr>
                        <a:t>&gt; 90%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Evidence chain analysis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lIns="0" tIns="0" rIns="0" bIns="0" rtlCol="0" anchor="ctr"/>
          <a:lstStyle/>
          <a:p>
            <a:pPr marL="0" indent="0">
              <a:buNone/>
            </a:pPr>
            <a:r>
              <a:rPr lang="en-US" sz="2800" b="1" dirty="0">
                <a:solidFill>
                  <a:srgbClr val="0F2B46"/>
                </a:solidFill>
                <a:latin typeface="Georgia" pitchFamily="34" charset="0"/>
                <a:ea typeface="Georgia" pitchFamily="34" charset="-122"/>
                <a:cs typeface="Georgia" pitchFamily="34" charset="-120"/>
              </a:rPr>
              <a:t>End-to-End Scenario: Payment API Alert</a:t>
            </a:r>
            <a:endParaRPr lang="en-US" sz="2800" dirty="0"/>
          </a:p>
        </p:txBody>
      </p:sp>
      <p:sp>
        <p:nvSpPr>
          <p:cNvPr id="3" name="Shape 1"/>
          <p:cNvSpPr/>
          <p:nvPr/>
        </p:nvSpPr>
        <p:spPr>
          <a:xfrm>
            <a:off x="731520" y="822960"/>
            <a:ext cx="1097280" cy="36576"/>
          </a:xfrm>
          <a:prstGeom prst="rect">
            <a:avLst/>
          </a:prstGeom>
          <a:solidFill>
            <a:srgbClr val="0891B2"/>
          </a:solidFill>
          <a:ln/>
        </p:spPr>
        <p:txBody>
          <a:bodyPr/>
          <a:lstStyle/>
          <a:p>
            <a:endParaRPr lang="en-CN"/>
          </a:p>
        </p:txBody>
      </p:sp>
      <p:sp>
        <p:nvSpPr>
          <p:cNvPr id="4" name="Shape 2"/>
          <p:cNvSpPr/>
          <p:nvPr/>
        </p:nvSpPr>
        <p:spPr>
          <a:xfrm>
            <a:off x="457200" y="1051560"/>
            <a:ext cx="4023360" cy="1097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5" name="Shape 3"/>
          <p:cNvSpPr/>
          <p:nvPr/>
        </p:nvSpPr>
        <p:spPr>
          <a:xfrm>
            <a:off x="457200" y="1051560"/>
            <a:ext cx="64008" cy="1097280"/>
          </a:xfrm>
          <a:prstGeom prst="rect">
            <a:avLst/>
          </a:prstGeom>
          <a:solidFill>
            <a:srgbClr val="0891B2"/>
          </a:solidFill>
          <a:ln/>
        </p:spPr>
        <p:txBody>
          <a:bodyPr/>
          <a:lstStyle/>
          <a:p>
            <a:endParaRPr lang="en-CN"/>
          </a:p>
        </p:txBody>
      </p:sp>
      <p:sp>
        <p:nvSpPr>
          <p:cNvPr id="6" name="Text 4"/>
          <p:cNvSpPr/>
          <p:nvPr/>
        </p:nvSpPr>
        <p:spPr>
          <a:xfrm>
            <a:off x="640080" y="1078992"/>
            <a:ext cx="3657600" cy="274320"/>
          </a:xfrm>
          <a:prstGeom prst="rect">
            <a:avLst/>
          </a:prstGeom>
          <a:noFill/>
          <a:ln/>
        </p:spPr>
        <p:txBody>
          <a:bodyPr wrap="square" lIns="0" tIns="0" rIns="0" bIns="0" rtlCol="0" anchor="ctr"/>
          <a:lstStyle/>
          <a:p>
            <a:pPr marL="0" indent="0">
              <a:buNone/>
            </a:pPr>
            <a:r>
              <a:rPr lang="en-US" sz="1200" b="1" dirty="0">
                <a:solidFill>
                  <a:srgbClr val="0891B2"/>
                </a:solidFill>
                <a:latin typeface="Georgia" pitchFamily="34" charset="0"/>
                <a:ea typeface="Georgia" pitchFamily="34" charset="-122"/>
                <a:cs typeface="Georgia" pitchFamily="34" charset="-120"/>
              </a:rPr>
              <a:t>10:35  PERCEIVE</a:t>
            </a:r>
            <a:endParaRPr lang="en-US" sz="1200" dirty="0"/>
          </a:p>
        </p:txBody>
      </p:sp>
      <p:sp>
        <p:nvSpPr>
          <p:cNvPr id="7" name="Text 5"/>
          <p:cNvSpPr/>
          <p:nvPr/>
        </p:nvSpPr>
        <p:spPr>
          <a:xfrm>
            <a:off x="640080" y="1353312"/>
            <a:ext cx="3657600" cy="731520"/>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Slack alert: payment-api HealthCheckFailures</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Classified: cache, pattern: cache_memory_exhaustion</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3 similar KB cases found, Redis shared with order-service</a:t>
            </a:r>
            <a:endParaRPr lang="en-US" sz="900" dirty="0"/>
          </a:p>
        </p:txBody>
      </p:sp>
      <p:sp>
        <p:nvSpPr>
          <p:cNvPr id="8" name="Shape 6"/>
          <p:cNvSpPr/>
          <p:nvPr/>
        </p:nvSpPr>
        <p:spPr>
          <a:xfrm>
            <a:off x="457200" y="2286000"/>
            <a:ext cx="4023360" cy="1097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9" name="Shape 7"/>
          <p:cNvSpPr/>
          <p:nvPr/>
        </p:nvSpPr>
        <p:spPr>
          <a:xfrm>
            <a:off x="457200" y="2286000"/>
            <a:ext cx="64008" cy="1097280"/>
          </a:xfrm>
          <a:prstGeom prst="rect">
            <a:avLst/>
          </a:prstGeom>
          <a:solidFill>
            <a:srgbClr val="0E7490"/>
          </a:solidFill>
          <a:ln/>
        </p:spPr>
        <p:txBody>
          <a:bodyPr/>
          <a:lstStyle/>
          <a:p>
            <a:endParaRPr lang="en-CN"/>
          </a:p>
        </p:txBody>
      </p:sp>
      <p:sp>
        <p:nvSpPr>
          <p:cNvPr id="10" name="Text 8"/>
          <p:cNvSpPr/>
          <p:nvPr/>
        </p:nvSpPr>
        <p:spPr>
          <a:xfrm>
            <a:off x="640080" y="2313432"/>
            <a:ext cx="3657600" cy="274320"/>
          </a:xfrm>
          <a:prstGeom prst="rect">
            <a:avLst/>
          </a:prstGeom>
          <a:noFill/>
          <a:ln/>
        </p:spPr>
        <p:txBody>
          <a:bodyPr wrap="square" lIns="0" tIns="0" rIns="0" bIns="0" rtlCol="0" anchor="ctr"/>
          <a:lstStyle/>
          <a:p>
            <a:pPr marL="0" indent="0">
              <a:buNone/>
            </a:pPr>
            <a:r>
              <a:rPr lang="en-US" sz="1200" b="1" dirty="0">
                <a:solidFill>
                  <a:srgbClr val="0E7490"/>
                </a:solidFill>
                <a:latin typeface="Georgia" pitchFamily="34" charset="0"/>
                <a:ea typeface="Georgia" pitchFamily="34" charset="-122"/>
                <a:cs typeface="Georgia" pitchFamily="34" charset="-120"/>
              </a:rPr>
              <a:t>10:35  PLAN</a:t>
            </a:r>
            <a:endParaRPr lang="en-US" sz="1200" dirty="0"/>
          </a:p>
        </p:txBody>
      </p:sp>
      <p:sp>
        <p:nvSpPr>
          <p:cNvPr id="11" name="Text 9"/>
          <p:cNvSpPr/>
          <p:nvPr/>
        </p:nvSpPr>
        <p:spPr>
          <a:xfrm>
            <a:off x="640080" y="2587752"/>
            <a:ext cx="3657600" cy="731520"/>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Wisdom: 'check deployments first' (85% success)</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Few-shot: case-42 attached (Redis OOM after deploy)</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Optimized prompt: 2800 tokens</a:t>
            </a:r>
            <a:endParaRPr lang="en-US" sz="900" dirty="0"/>
          </a:p>
        </p:txBody>
      </p:sp>
      <p:sp>
        <p:nvSpPr>
          <p:cNvPr id="12" name="Shape 10"/>
          <p:cNvSpPr/>
          <p:nvPr/>
        </p:nvSpPr>
        <p:spPr>
          <a:xfrm>
            <a:off x="457200" y="3520440"/>
            <a:ext cx="4023360" cy="1097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13" name="Shape 11"/>
          <p:cNvSpPr/>
          <p:nvPr/>
        </p:nvSpPr>
        <p:spPr>
          <a:xfrm>
            <a:off x="457200" y="3520440"/>
            <a:ext cx="64008" cy="1097280"/>
          </a:xfrm>
          <a:prstGeom prst="rect">
            <a:avLst/>
          </a:prstGeom>
          <a:solidFill>
            <a:srgbClr val="06B6D4"/>
          </a:solidFill>
          <a:ln/>
        </p:spPr>
        <p:txBody>
          <a:bodyPr/>
          <a:lstStyle/>
          <a:p>
            <a:endParaRPr lang="en-CN"/>
          </a:p>
        </p:txBody>
      </p:sp>
      <p:sp>
        <p:nvSpPr>
          <p:cNvPr id="14" name="Text 12"/>
          <p:cNvSpPr/>
          <p:nvPr/>
        </p:nvSpPr>
        <p:spPr>
          <a:xfrm>
            <a:off x="640080" y="3547872"/>
            <a:ext cx="3657600" cy="274320"/>
          </a:xfrm>
          <a:prstGeom prst="rect">
            <a:avLst/>
          </a:prstGeom>
          <a:noFill/>
          <a:ln/>
        </p:spPr>
        <p:txBody>
          <a:bodyPr wrap="square" lIns="0" tIns="0" rIns="0" bIns="0" rtlCol="0" anchor="ctr"/>
          <a:lstStyle/>
          <a:p>
            <a:pPr marL="0" indent="0">
              <a:buNone/>
            </a:pPr>
            <a:r>
              <a:rPr lang="en-US" sz="1200" b="1" dirty="0">
                <a:solidFill>
                  <a:srgbClr val="06B6D4"/>
                </a:solidFill>
                <a:latin typeface="Georgia" pitchFamily="34" charset="0"/>
                <a:ea typeface="Georgia" pitchFamily="34" charset="-122"/>
                <a:cs typeface="Georgia" pitchFamily="34" charset="-120"/>
              </a:rPr>
              <a:t>10:36  ACT</a:t>
            </a:r>
            <a:endParaRPr lang="en-US" sz="1200" dirty="0"/>
          </a:p>
        </p:txBody>
      </p:sp>
      <p:sp>
        <p:nvSpPr>
          <p:cNvPr id="15" name="Text 13"/>
          <p:cNvSpPr/>
          <p:nvPr/>
        </p:nvSpPr>
        <p:spPr>
          <a:xfrm>
            <a:off x="640080" y="3822192"/>
            <a:ext cx="3657600" cy="731520"/>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CloudTrail: v24 deployed 10:30 [0.95]</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Datadog: Redis memory spike at 10:30 [0.80]</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GitHub: v24 = promo:* cache, no TTL [0.90]</a:t>
            </a:r>
            <a:endParaRPr lang="en-US" sz="900" dirty="0"/>
          </a:p>
        </p:txBody>
      </p:sp>
      <p:sp>
        <p:nvSpPr>
          <p:cNvPr id="16" name="Shape 14"/>
          <p:cNvSpPr/>
          <p:nvPr/>
        </p:nvSpPr>
        <p:spPr>
          <a:xfrm>
            <a:off x="4754880" y="1051560"/>
            <a:ext cx="4023360" cy="1097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17" name="Shape 15"/>
          <p:cNvSpPr/>
          <p:nvPr/>
        </p:nvSpPr>
        <p:spPr>
          <a:xfrm>
            <a:off x="4754880" y="1051560"/>
            <a:ext cx="64008" cy="1097280"/>
          </a:xfrm>
          <a:prstGeom prst="rect">
            <a:avLst/>
          </a:prstGeom>
          <a:solidFill>
            <a:srgbClr val="14B8A6"/>
          </a:solidFill>
          <a:ln/>
        </p:spPr>
        <p:txBody>
          <a:bodyPr/>
          <a:lstStyle/>
          <a:p>
            <a:endParaRPr lang="en-CN"/>
          </a:p>
        </p:txBody>
      </p:sp>
      <p:sp>
        <p:nvSpPr>
          <p:cNvPr id="18" name="Text 16"/>
          <p:cNvSpPr/>
          <p:nvPr/>
        </p:nvSpPr>
        <p:spPr>
          <a:xfrm>
            <a:off x="4937760" y="1078992"/>
            <a:ext cx="3657600" cy="274320"/>
          </a:xfrm>
          <a:prstGeom prst="rect">
            <a:avLst/>
          </a:prstGeom>
          <a:noFill/>
          <a:ln/>
        </p:spPr>
        <p:txBody>
          <a:bodyPr wrap="square" lIns="0" tIns="0" rIns="0" bIns="0" rtlCol="0" anchor="ctr"/>
          <a:lstStyle/>
          <a:p>
            <a:pPr marL="0" indent="0">
              <a:buNone/>
            </a:pPr>
            <a:r>
              <a:rPr lang="en-US" sz="1200" b="1" dirty="0">
                <a:solidFill>
                  <a:srgbClr val="14B8A6"/>
                </a:solidFill>
                <a:latin typeface="Georgia" pitchFamily="34" charset="0"/>
                <a:ea typeface="Georgia" pitchFamily="34" charset="-122"/>
                <a:cs typeface="Georgia" pitchFamily="34" charset="-120"/>
              </a:rPr>
              <a:t>10:37  DECIDE</a:t>
            </a:r>
            <a:endParaRPr lang="en-US" sz="1200" dirty="0"/>
          </a:p>
        </p:txBody>
      </p:sp>
      <p:sp>
        <p:nvSpPr>
          <p:cNvPr id="19" name="Text 17"/>
          <p:cNvSpPr/>
          <p:nvPr/>
        </p:nvSpPr>
        <p:spPr>
          <a:xfrm>
            <a:off x="4937760" y="1353312"/>
            <a:ext cx="3657600" cy="731520"/>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RCA: v24 promo:* keys no TTL, Redis exhaustion</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Cascade: order-service via shared Redis</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Confidence: 0.88 (calibrated: 0.76)</a:t>
            </a:r>
            <a:endParaRPr lang="en-US" sz="900" dirty="0"/>
          </a:p>
        </p:txBody>
      </p:sp>
      <p:sp>
        <p:nvSpPr>
          <p:cNvPr id="20" name="Shape 18"/>
          <p:cNvSpPr/>
          <p:nvPr/>
        </p:nvSpPr>
        <p:spPr>
          <a:xfrm>
            <a:off x="4754880" y="2286000"/>
            <a:ext cx="4023360" cy="1097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21" name="Shape 19"/>
          <p:cNvSpPr/>
          <p:nvPr/>
        </p:nvSpPr>
        <p:spPr>
          <a:xfrm>
            <a:off x="4754880" y="2286000"/>
            <a:ext cx="64008" cy="1097280"/>
          </a:xfrm>
          <a:prstGeom prst="rect">
            <a:avLst/>
          </a:prstGeom>
          <a:solidFill>
            <a:srgbClr val="059669"/>
          </a:solidFill>
          <a:ln/>
        </p:spPr>
        <p:txBody>
          <a:bodyPr/>
          <a:lstStyle/>
          <a:p>
            <a:endParaRPr lang="en-CN"/>
          </a:p>
        </p:txBody>
      </p:sp>
      <p:sp>
        <p:nvSpPr>
          <p:cNvPr id="22" name="Text 20"/>
          <p:cNvSpPr/>
          <p:nvPr/>
        </p:nvSpPr>
        <p:spPr>
          <a:xfrm>
            <a:off x="4937760" y="2313432"/>
            <a:ext cx="3657600" cy="274320"/>
          </a:xfrm>
          <a:prstGeom prst="rect">
            <a:avLst/>
          </a:prstGeom>
          <a:noFill/>
          <a:ln/>
        </p:spPr>
        <p:txBody>
          <a:bodyPr wrap="square" lIns="0" tIns="0" rIns="0" bIns="0" rtlCol="0" anchor="ctr"/>
          <a:lstStyle/>
          <a:p>
            <a:pPr marL="0" indent="0">
              <a:buNone/>
            </a:pPr>
            <a:r>
              <a:rPr lang="en-US" sz="1200" b="1" dirty="0">
                <a:solidFill>
                  <a:srgbClr val="059669"/>
                </a:solidFill>
                <a:latin typeface="Georgia" pitchFamily="34" charset="0"/>
                <a:ea typeface="Georgia" pitchFamily="34" charset="-122"/>
                <a:cs typeface="Georgia" pitchFamily="34" charset="-120"/>
              </a:rPr>
              <a:t>10:37  VERIFY</a:t>
            </a:r>
            <a:endParaRPr lang="en-US" sz="1200" dirty="0"/>
          </a:p>
        </p:txBody>
      </p:sp>
      <p:sp>
        <p:nvSpPr>
          <p:cNvPr id="23" name="Text 21"/>
          <p:cNvSpPr/>
          <p:nvPr/>
        </p:nvSpPr>
        <p:spPr>
          <a:xfrm>
            <a:off x="4937760" y="2587752"/>
            <a:ext cx="3657600" cy="731520"/>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Fix: TTL + rollback (L1, auto-approved)</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T0: OK, T1: Redis dropping, T2: healthcheck pass</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T3: no new alerts = SUCCESS</a:t>
            </a:r>
            <a:endParaRPr lang="en-US" sz="900" dirty="0"/>
          </a:p>
        </p:txBody>
      </p:sp>
      <p:sp>
        <p:nvSpPr>
          <p:cNvPr id="24" name="Shape 22"/>
          <p:cNvSpPr/>
          <p:nvPr/>
        </p:nvSpPr>
        <p:spPr>
          <a:xfrm>
            <a:off x="4754880" y="3520440"/>
            <a:ext cx="4023360" cy="1097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N"/>
          </a:p>
        </p:txBody>
      </p:sp>
      <p:sp>
        <p:nvSpPr>
          <p:cNvPr id="25" name="Shape 23"/>
          <p:cNvSpPr/>
          <p:nvPr/>
        </p:nvSpPr>
        <p:spPr>
          <a:xfrm>
            <a:off x="4754880" y="3520440"/>
            <a:ext cx="64008" cy="1097280"/>
          </a:xfrm>
          <a:prstGeom prst="rect">
            <a:avLst/>
          </a:prstGeom>
          <a:solidFill>
            <a:srgbClr val="047857"/>
          </a:solidFill>
          <a:ln/>
        </p:spPr>
        <p:txBody>
          <a:bodyPr/>
          <a:lstStyle/>
          <a:p>
            <a:endParaRPr lang="en-CN"/>
          </a:p>
        </p:txBody>
      </p:sp>
      <p:sp>
        <p:nvSpPr>
          <p:cNvPr id="26" name="Text 24"/>
          <p:cNvSpPr/>
          <p:nvPr/>
        </p:nvSpPr>
        <p:spPr>
          <a:xfrm>
            <a:off x="4937760" y="3547872"/>
            <a:ext cx="3657600" cy="274320"/>
          </a:xfrm>
          <a:prstGeom prst="rect">
            <a:avLst/>
          </a:prstGeom>
          <a:noFill/>
          <a:ln/>
        </p:spPr>
        <p:txBody>
          <a:bodyPr wrap="square" lIns="0" tIns="0" rIns="0" bIns="0" rtlCol="0" anchor="ctr"/>
          <a:lstStyle/>
          <a:p>
            <a:pPr marL="0" indent="0">
              <a:buNone/>
            </a:pPr>
            <a:r>
              <a:rPr lang="en-US" sz="1200" b="1" dirty="0">
                <a:solidFill>
                  <a:srgbClr val="047857"/>
                </a:solidFill>
                <a:latin typeface="Georgia" pitchFamily="34" charset="0"/>
                <a:ea typeface="Georgia" pitchFamily="34" charset="-122"/>
                <a:cs typeface="Georgia" pitchFamily="34" charset="-120"/>
              </a:rPr>
              <a:t>10:38  LEARN</a:t>
            </a:r>
            <a:endParaRPr lang="en-US" sz="1200" dirty="0"/>
          </a:p>
        </p:txBody>
      </p:sp>
      <p:sp>
        <p:nvSpPr>
          <p:cNvPr id="27" name="Text 25"/>
          <p:cNvSpPr/>
          <p:nvPr/>
        </p:nvSpPr>
        <p:spPr>
          <a:xfrm>
            <a:off x="4937760" y="3822192"/>
            <a:ext cx="3657600" cy="731520"/>
          </a:xfrm>
          <a:prstGeom prst="rect">
            <a:avLst/>
          </a:prstGeom>
          <a:noFill/>
          <a:ln/>
        </p:spPr>
        <p:txBody>
          <a:bodyPr wrap="square" lIns="0" tIns="0" rIns="0" bIns="0" rtlCol="0" anchor="ctr"/>
          <a:lstStyle/>
          <a:p>
            <a:pPr marL="0" indent="0">
              <a:buNone/>
            </a:pPr>
            <a:r>
              <a:rPr lang="en-US" sz="900" dirty="0">
                <a:solidFill>
                  <a:srgbClr val="1E293B"/>
                </a:solidFill>
                <a:latin typeface="Calibri" pitchFamily="34" charset="0"/>
                <a:ea typeface="Calibri" pitchFamily="34" charset="-122"/>
                <a:cs typeface="Calibri" pitchFamily="34" charset="-120"/>
              </a:rPr>
              <a:t>Episodic: case-142 saved</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Wisdom: 'cache_memory_exhaustion' reinforced</a:t>
            </a:r>
            <a:endParaRPr lang="en-US" sz="900" dirty="0"/>
          </a:p>
          <a:p>
            <a:pPr marL="0" indent="0">
              <a:buNone/>
            </a:pPr>
            <a:r>
              <a:rPr lang="en-US" sz="900" dirty="0">
                <a:solidFill>
                  <a:srgbClr val="1E293B"/>
                </a:solidFill>
                <a:latin typeface="Calibri" pitchFamily="34" charset="0"/>
                <a:ea typeface="Calibri" pitchFamily="34" charset="-122"/>
                <a:cs typeface="Calibri" pitchFamily="34" charset="-120"/>
              </a:rPr>
              <a:t>Total: 3 min. Next similar: ~1.5 min</a:t>
            </a:r>
            <a:endParaRPr lang="en-US" sz="900" dirty="0"/>
          </a:p>
        </p:txBody>
      </p:sp>
      <p:sp>
        <p:nvSpPr>
          <p:cNvPr id="28" name="Text 26"/>
          <p:cNvSpPr/>
          <p:nvPr/>
        </p:nvSpPr>
        <p:spPr>
          <a:xfrm>
            <a:off x="457200" y="4709160"/>
            <a:ext cx="8229600" cy="274320"/>
          </a:xfrm>
          <a:prstGeom prst="rect">
            <a:avLst/>
          </a:prstGeom>
          <a:noFill/>
          <a:ln/>
        </p:spPr>
        <p:txBody>
          <a:bodyPr wrap="square" lIns="0" tIns="0" rIns="0" bIns="0" rtlCol="0" anchor="ctr"/>
          <a:lstStyle/>
          <a:p>
            <a:pPr marL="0" indent="0">
              <a:buNone/>
            </a:pPr>
            <a:r>
              <a:rPr lang="en-US" sz="1200" b="1" dirty="0">
                <a:solidFill>
                  <a:srgbClr val="0891B2"/>
                </a:solidFill>
                <a:latin typeface="Calibri" pitchFamily="34" charset="0"/>
                <a:ea typeface="Calibri" pitchFamily="34" charset="-122"/>
                <a:cs typeface="Calibri" pitchFamily="34" charset="-120"/>
              </a:rPr>
              <a:t>3 minutes total. Every incident makes the next one faster.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lIns="0" tIns="0" rIns="0" bIns="0" rtlCol="0" anchor="ctr"/>
          <a:lstStyle/>
          <a:p>
            <a:pPr marL="0" indent="0">
              <a:buNone/>
            </a:pPr>
            <a:r>
              <a:rPr lang="en-US" sz="2800" b="1" dirty="0">
                <a:solidFill>
                  <a:srgbClr val="0F2B46"/>
                </a:solidFill>
                <a:latin typeface="Georgia" pitchFamily="34" charset="0"/>
                <a:ea typeface="Georgia" pitchFamily="34" charset="-122"/>
                <a:cs typeface="Georgia" pitchFamily="34" charset="-120"/>
              </a:rPr>
              <a:t>Academic Foundation</a:t>
            </a:r>
            <a:endParaRPr lang="en-US" sz="2800" dirty="0"/>
          </a:p>
        </p:txBody>
      </p:sp>
      <p:sp>
        <p:nvSpPr>
          <p:cNvPr id="3" name="Text 1"/>
          <p:cNvSpPr/>
          <p:nvPr/>
        </p:nvSpPr>
        <p:spPr>
          <a:xfrm>
            <a:off x="731520" y="822960"/>
            <a:ext cx="7315200" cy="274320"/>
          </a:xfrm>
          <a:prstGeom prst="rect">
            <a:avLst/>
          </a:prstGeom>
          <a:noFill/>
          <a:ln/>
        </p:spPr>
        <p:txBody>
          <a:bodyPr wrap="square" lIns="0" tIns="0" rIns="0" bIns="0" rtlCol="0" anchor="ctr"/>
          <a:lstStyle/>
          <a:p>
            <a:pPr marL="0" indent="0">
              <a:buNone/>
            </a:pPr>
            <a:r>
              <a:rPr lang="en-US" sz="1200" dirty="0">
                <a:solidFill>
                  <a:srgbClr val="0891B2"/>
                </a:solidFill>
                <a:latin typeface="Calibri" pitchFamily="34" charset="0"/>
                <a:ea typeface="Calibri" pitchFamily="34" charset="-122"/>
                <a:cs typeface="Calibri" pitchFamily="34" charset="-120"/>
              </a:rPr>
              <a:t>11 Papers  |  180,000+ Real Incidents  |  Production-Proven Patterns</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291840"/>
        </p:xfrm>
        <a:graphic>
          <a:graphicData uri="http://schemas.openxmlformats.org/drawingml/2006/table">
            <a:tbl>
              <a:tblPr/>
              <a:tblGrid>
                <a:gridCol w="4572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4389120">
                  <a:extLst>
                    <a:ext uri="{9D8B030D-6E8A-4147-A177-3AD203B41FA5}">
                      <a16:colId xmlns:a16="http://schemas.microsoft.com/office/drawing/2014/main" val="20003"/>
                    </a:ext>
                  </a:extLst>
                </a:gridCol>
              </a:tblGrid>
              <a:tr h="36576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Paper</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ArXiv</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Key Contribution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B46"/>
                    </a:solidFill>
                  </a:tcPr>
                </a:tc>
                <a:extLst>
                  <a:ext uri="{0D108BD9-81ED-4DB2-BD59-A6C34878D82A}">
                    <a16:rowId xmlns:a16="http://schemas.microsoft.com/office/drawing/2014/main" val="10000"/>
                  </a:ext>
                </a:extLst>
              </a:tr>
              <a:tr h="365760">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eARCO (Microsoft)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2504.11505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Prompt &gt; RAG &gt; Fine-tuning, +21% accuracy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Why AI Agents Fail at Cloud RCA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2602.09937</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12 failure types, architecture &gt; prompts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16 RCA Reasoning Failures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2601.22208</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Multi-hop reasoning is the hardest failure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AIOpsLab (Microsoft)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2501.06706</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Holistic AIOps evaluation framework</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OpsAgent: Self-Evolution</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2510.24145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Dual self-evolution mechanism</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CCAR: Safe Resolution</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2603.08736</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Formal false-positive bounds for safe remediation</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RCACopilot (Microsoft)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2305.15778</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4-year production RCA, 0.766 accuracy baseline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mABC: Multi-Agent RCA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900" dirty="0">
                          <a:solidFill>
                            <a:srgbClr val="1E293B"/>
                          </a:solidFill>
                          <a:latin typeface="Calibri" pitchFamily="34" charset="0"/>
                          <a:ea typeface="Calibri" pitchFamily="34" charset="-122"/>
                          <a:cs typeface="Calibri" pitchFamily="34" charset="-120"/>
                        </a:rPr>
                        <a:t>2404.12135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Blockchain consensus for RCA verification</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0F2B4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B6D4"/>
          </a:solidFill>
          <a:ln/>
        </p:spPr>
        <p:txBody>
          <a:bodyPr/>
          <a:lstStyle/>
          <a:p>
            <a:endParaRPr lang="en-CN"/>
          </a:p>
        </p:txBody>
      </p:sp>
      <p:sp>
        <p:nvSpPr>
          <p:cNvPr id="3" name="Text 1"/>
          <p:cNvSpPr/>
          <p:nvPr/>
        </p:nvSpPr>
        <p:spPr>
          <a:xfrm>
            <a:off x="731520" y="274320"/>
            <a:ext cx="7315200" cy="5486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Conclusion &amp; Next Steps</a:t>
            </a:r>
            <a:endParaRPr lang="en-US" sz="3200" dirty="0"/>
          </a:p>
        </p:txBody>
      </p:sp>
      <p:sp>
        <p:nvSpPr>
          <p:cNvPr id="4" name="Shape 2"/>
          <p:cNvSpPr/>
          <p:nvPr/>
        </p:nvSpPr>
        <p:spPr>
          <a:xfrm>
            <a:off x="457200" y="1097280"/>
            <a:ext cx="8229600" cy="914400"/>
          </a:xfrm>
          <a:prstGeom prst="rect">
            <a:avLst/>
          </a:prstGeom>
          <a:solidFill>
            <a:srgbClr val="152E44"/>
          </a:solidFill>
          <a:ln/>
        </p:spPr>
        <p:txBody>
          <a:bodyPr/>
          <a:lstStyle/>
          <a:p>
            <a:endParaRPr lang="en-CN"/>
          </a:p>
        </p:txBody>
      </p:sp>
      <p:sp>
        <p:nvSpPr>
          <p:cNvPr id="5" name="Shape 3"/>
          <p:cNvSpPr/>
          <p:nvPr/>
        </p:nvSpPr>
        <p:spPr>
          <a:xfrm>
            <a:off x="457200" y="1097280"/>
            <a:ext cx="64008" cy="914400"/>
          </a:xfrm>
          <a:prstGeom prst="rect">
            <a:avLst/>
          </a:prstGeom>
          <a:solidFill>
            <a:srgbClr val="06B6D4"/>
          </a:solidFill>
          <a:ln/>
        </p:spPr>
        <p:txBody>
          <a:bodyPr/>
          <a:lstStyle/>
          <a:p>
            <a:endParaRPr lang="en-CN"/>
          </a:p>
        </p:txBody>
      </p:sp>
      <p:sp>
        <p:nvSpPr>
          <p:cNvPr id="6" name="Text 4"/>
          <p:cNvSpPr/>
          <p:nvPr/>
        </p:nvSpPr>
        <p:spPr>
          <a:xfrm>
            <a:off x="731520" y="1097280"/>
            <a:ext cx="548640" cy="914400"/>
          </a:xfrm>
          <a:prstGeom prst="rect">
            <a:avLst/>
          </a:prstGeom>
          <a:noFill/>
          <a:ln/>
        </p:spPr>
        <p:txBody>
          <a:bodyPr wrap="square" lIns="0" tIns="0" rIns="0" bIns="0" rtlCol="0" anchor="ctr"/>
          <a:lstStyle/>
          <a:p>
            <a:pPr marL="0" indent="0">
              <a:buNone/>
            </a:pPr>
            <a:r>
              <a:rPr lang="en-US" sz="2800" b="1" dirty="0">
                <a:solidFill>
                  <a:srgbClr val="06B6D4"/>
                </a:solidFill>
                <a:latin typeface="Georgia" pitchFamily="34" charset="0"/>
                <a:ea typeface="Georgia" pitchFamily="34" charset="-122"/>
                <a:cs typeface="Georgia" pitchFamily="34" charset="-120"/>
              </a:rPr>
              <a:t>01</a:t>
            </a:r>
            <a:endParaRPr lang="en-US" sz="2800" dirty="0"/>
          </a:p>
        </p:txBody>
      </p:sp>
      <p:sp>
        <p:nvSpPr>
          <p:cNvPr id="7" name="Text 5"/>
          <p:cNvSpPr/>
          <p:nvPr/>
        </p:nvSpPr>
        <p:spPr>
          <a:xfrm>
            <a:off x="1371600" y="1143000"/>
            <a:ext cx="2743200" cy="32004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Product (Phase 1 + 2 front)</a:t>
            </a:r>
            <a:endParaRPr lang="en-US" sz="1600" dirty="0"/>
          </a:p>
        </p:txBody>
      </p:sp>
      <p:sp>
        <p:nvSpPr>
          <p:cNvPr id="8" name="Text 6"/>
          <p:cNvSpPr/>
          <p:nvPr/>
        </p:nvSpPr>
        <p:spPr>
          <a:xfrm>
            <a:off x="1371600" y="1463040"/>
            <a:ext cx="7132320" cy="5029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28 tasks that solve real SRE pain points.</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Connectors + Evidence + Service Model + PostAction + Human Review.</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Complete 'investigate &gt; fix &gt; verify &gt; learn' closed loop.</a:t>
            </a:r>
            <a:endParaRPr lang="en-US" sz="1100" dirty="0"/>
          </a:p>
        </p:txBody>
      </p:sp>
      <p:sp>
        <p:nvSpPr>
          <p:cNvPr id="9" name="Shape 7"/>
          <p:cNvSpPr/>
          <p:nvPr/>
        </p:nvSpPr>
        <p:spPr>
          <a:xfrm>
            <a:off x="457200" y="2194560"/>
            <a:ext cx="8229600" cy="914400"/>
          </a:xfrm>
          <a:prstGeom prst="rect">
            <a:avLst/>
          </a:prstGeom>
          <a:solidFill>
            <a:srgbClr val="152E44"/>
          </a:solidFill>
          <a:ln/>
        </p:spPr>
        <p:txBody>
          <a:bodyPr/>
          <a:lstStyle/>
          <a:p>
            <a:endParaRPr lang="en-CN"/>
          </a:p>
        </p:txBody>
      </p:sp>
      <p:sp>
        <p:nvSpPr>
          <p:cNvPr id="10" name="Shape 8"/>
          <p:cNvSpPr/>
          <p:nvPr/>
        </p:nvSpPr>
        <p:spPr>
          <a:xfrm>
            <a:off x="457200" y="2194560"/>
            <a:ext cx="64008" cy="914400"/>
          </a:xfrm>
          <a:prstGeom prst="rect">
            <a:avLst/>
          </a:prstGeom>
          <a:solidFill>
            <a:srgbClr val="06B6D4"/>
          </a:solidFill>
          <a:ln/>
        </p:spPr>
        <p:txBody>
          <a:bodyPr/>
          <a:lstStyle/>
          <a:p>
            <a:endParaRPr lang="en-CN"/>
          </a:p>
        </p:txBody>
      </p:sp>
      <p:sp>
        <p:nvSpPr>
          <p:cNvPr id="11" name="Text 9"/>
          <p:cNvSpPr/>
          <p:nvPr/>
        </p:nvSpPr>
        <p:spPr>
          <a:xfrm>
            <a:off x="731520" y="2194560"/>
            <a:ext cx="548640" cy="914400"/>
          </a:xfrm>
          <a:prstGeom prst="rect">
            <a:avLst/>
          </a:prstGeom>
          <a:noFill/>
          <a:ln/>
        </p:spPr>
        <p:txBody>
          <a:bodyPr wrap="square" lIns="0" tIns="0" rIns="0" bIns="0" rtlCol="0" anchor="ctr"/>
          <a:lstStyle/>
          <a:p>
            <a:pPr marL="0" indent="0">
              <a:buNone/>
            </a:pPr>
            <a:r>
              <a:rPr lang="en-US" sz="2800" b="1" dirty="0">
                <a:solidFill>
                  <a:srgbClr val="06B6D4"/>
                </a:solidFill>
                <a:latin typeface="Georgia" pitchFamily="34" charset="0"/>
                <a:ea typeface="Georgia" pitchFamily="34" charset="-122"/>
                <a:cs typeface="Georgia" pitchFamily="34" charset="-120"/>
              </a:rPr>
              <a:t>02</a:t>
            </a:r>
            <a:endParaRPr lang="en-US" sz="2800" dirty="0"/>
          </a:p>
        </p:txBody>
      </p:sp>
      <p:sp>
        <p:nvSpPr>
          <p:cNvPr id="12" name="Text 10"/>
          <p:cNvSpPr/>
          <p:nvPr/>
        </p:nvSpPr>
        <p:spPr>
          <a:xfrm>
            <a:off x="1371600" y="2240280"/>
            <a:ext cx="2743200" cy="32004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Flywheel (Phase 2 back)</a:t>
            </a:r>
            <a:endParaRPr lang="en-US" sz="1600" dirty="0"/>
          </a:p>
        </p:txBody>
      </p:sp>
      <p:sp>
        <p:nvSpPr>
          <p:cNvPr id="13" name="Text 11"/>
          <p:cNvSpPr/>
          <p:nvPr/>
        </p:nvSpPr>
        <p:spPr>
          <a:xfrm>
            <a:off x="1371600" y="2560320"/>
            <a:ext cx="7132320" cy="5029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12 tasks that need data to prove value.</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Wisdom + Calibration + Memory = system gets smarter.</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Monitor data accumulation speed before heavy investment.</a:t>
            </a:r>
            <a:endParaRPr lang="en-US" sz="1100" dirty="0"/>
          </a:p>
        </p:txBody>
      </p:sp>
      <p:sp>
        <p:nvSpPr>
          <p:cNvPr id="14" name="Shape 12"/>
          <p:cNvSpPr/>
          <p:nvPr/>
        </p:nvSpPr>
        <p:spPr>
          <a:xfrm>
            <a:off x="457200" y="3291840"/>
            <a:ext cx="8229600" cy="914400"/>
          </a:xfrm>
          <a:prstGeom prst="rect">
            <a:avLst/>
          </a:prstGeom>
          <a:solidFill>
            <a:srgbClr val="152E44"/>
          </a:solidFill>
          <a:ln/>
        </p:spPr>
        <p:txBody>
          <a:bodyPr/>
          <a:lstStyle/>
          <a:p>
            <a:endParaRPr lang="en-CN"/>
          </a:p>
        </p:txBody>
      </p:sp>
      <p:sp>
        <p:nvSpPr>
          <p:cNvPr id="15" name="Shape 13"/>
          <p:cNvSpPr/>
          <p:nvPr/>
        </p:nvSpPr>
        <p:spPr>
          <a:xfrm>
            <a:off x="457200" y="3291840"/>
            <a:ext cx="64008" cy="914400"/>
          </a:xfrm>
          <a:prstGeom prst="rect">
            <a:avLst/>
          </a:prstGeom>
          <a:solidFill>
            <a:srgbClr val="06B6D4"/>
          </a:solidFill>
          <a:ln/>
        </p:spPr>
        <p:txBody>
          <a:bodyPr/>
          <a:lstStyle/>
          <a:p>
            <a:endParaRPr lang="en-CN"/>
          </a:p>
        </p:txBody>
      </p:sp>
      <p:sp>
        <p:nvSpPr>
          <p:cNvPr id="16" name="Text 14"/>
          <p:cNvSpPr/>
          <p:nvPr/>
        </p:nvSpPr>
        <p:spPr>
          <a:xfrm>
            <a:off x="731520" y="3291840"/>
            <a:ext cx="548640" cy="914400"/>
          </a:xfrm>
          <a:prstGeom prst="rect">
            <a:avLst/>
          </a:prstGeom>
          <a:noFill/>
          <a:ln/>
        </p:spPr>
        <p:txBody>
          <a:bodyPr wrap="square" lIns="0" tIns="0" rIns="0" bIns="0" rtlCol="0" anchor="ctr"/>
          <a:lstStyle/>
          <a:p>
            <a:pPr marL="0" indent="0">
              <a:buNone/>
            </a:pPr>
            <a:r>
              <a:rPr lang="en-US" sz="2800" b="1" dirty="0">
                <a:solidFill>
                  <a:srgbClr val="06B6D4"/>
                </a:solidFill>
                <a:latin typeface="Georgia" pitchFamily="34" charset="0"/>
                <a:ea typeface="Georgia" pitchFamily="34" charset="-122"/>
                <a:cs typeface="Georgia" pitchFamily="34" charset="-120"/>
              </a:rPr>
              <a:t>03</a:t>
            </a:r>
            <a:endParaRPr lang="en-US" sz="2800" dirty="0"/>
          </a:p>
        </p:txBody>
      </p:sp>
      <p:sp>
        <p:nvSpPr>
          <p:cNvPr id="17" name="Text 15"/>
          <p:cNvSpPr/>
          <p:nvPr/>
        </p:nvSpPr>
        <p:spPr>
          <a:xfrm>
            <a:off x="1371600" y="3337560"/>
            <a:ext cx="2743200" cy="32004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Research (Phase 3-4)</a:t>
            </a:r>
            <a:endParaRPr lang="en-US" sz="1600" dirty="0"/>
          </a:p>
        </p:txBody>
      </p:sp>
      <p:sp>
        <p:nvSpPr>
          <p:cNvPr id="18" name="Text 16"/>
          <p:cNvSpPr/>
          <p:nvPr/>
        </p:nvSpPr>
        <p:spPr>
          <a:xfrm>
            <a:off x="1371600" y="3657600"/>
            <a:ext cx="7132320" cy="5029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15 tasks that are directionally correct but unproven.</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Each requires A/B testing before production.</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Vision guides architecture, not implementation schedule.</a:t>
            </a:r>
            <a:endParaRPr lang="en-US" sz="1100" dirty="0"/>
          </a:p>
        </p:txBody>
      </p:sp>
      <p:sp>
        <p:nvSpPr>
          <p:cNvPr id="19" name="Text 17"/>
          <p:cNvSpPr/>
          <p:nvPr/>
        </p:nvSpPr>
        <p:spPr>
          <a:xfrm>
            <a:off x="731520" y="4389120"/>
            <a:ext cx="3657600" cy="320040"/>
          </a:xfrm>
          <a:prstGeom prst="rect">
            <a:avLst/>
          </a:prstGeom>
          <a:noFill/>
          <a:ln/>
        </p:spPr>
        <p:txBody>
          <a:bodyPr wrap="square" lIns="0" tIns="0" rIns="0" bIns="0" rtlCol="0" anchor="ctr"/>
          <a:lstStyle/>
          <a:p>
            <a:pPr marL="0" indent="0">
              <a:buNone/>
            </a:pPr>
            <a:r>
              <a:rPr lang="en-US" sz="1600" b="1" dirty="0">
                <a:solidFill>
                  <a:srgbClr val="06B6D4"/>
                </a:solidFill>
                <a:latin typeface="Georgia" pitchFamily="34" charset="0"/>
                <a:ea typeface="Georgia" pitchFamily="34" charset="-122"/>
                <a:cs typeface="Georgia" pitchFamily="34" charset="-120"/>
              </a:rPr>
              <a:t>Immediate Next Steps</a:t>
            </a:r>
            <a:endParaRPr lang="en-US" sz="1600" dirty="0"/>
          </a:p>
        </p:txBody>
      </p:sp>
      <p:sp>
        <p:nvSpPr>
          <p:cNvPr id="20" name="Text 18"/>
          <p:cNvSpPr/>
          <p:nvPr/>
        </p:nvSpPr>
        <p:spPr>
          <a:xfrm>
            <a:off x="731520" y="4663440"/>
            <a:ext cx="8229600" cy="45720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1. Begin Phase 1 implementation (4 parallel tracks)</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2. Set up connectors.yaml for target environment</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3. Deploy Human Review UI as early as possible to start Ground Truth collection</a:t>
            </a:r>
            <a:endParaRPr lang="en-US" sz="1200" dirty="0"/>
          </a:p>
        </p:txBody>
      </p:sp>
    </p:spTree>
  </p:cSld>
  <p:clrMapOvr>
    <a:masterClrMapping/>
  </p:clrMapOvr>
</p:sld>
</file>

<file path=ppt/theme/theme1.xml><?xml version="1.0" encoding="utf-8"?>
<a:theme xmlns:a="http://schemas.openxmlformats.org/drawingml/2006/main" name="AWS re:Invent">
  <a:themeElements>
    <a:clrScheme name="Custom 29">
      <a:dk1>
        <a:srgbClr val="000000"/>
      </a:dk1>
      <a:lt1>
        <a:srgbClr val="FFFFFF"/>
      </a:lt1>
      <a:dk2>
        <a:srgbClr val="09051B"/>
      </a:dk2>
      <a:lt2>
        <a:srgbClr val="F2F4F4"/>
      </a:lt2>
      <a:accent1>
        <a:srgbClr val="0EEDAF"/>
      </a:accent1>
      <a:accent2>
        <a:srgbClr val="F2FF85"/>
      </a:accent2>
      <a:accent3>
        <a:srgbClr val="FF706E"/>
      </a:accent3>
      <a:accent4>
        <a:srgbClr val="FF00F7"/>
      </a:accent4>
      <a:accent5>
        <a:srgbClr val="BC007A"/>
      </a:accent5>
      <a:accent6>
        <a:srgbClr val="2C0152"/>
      </a:accent6>
      <a:hlink>
        <a:srgbClr val="2E77FA"/>
      </a:hlink>
      <a:folHlink>
        <a:srgbClr val="2E77FA"/>
      </a:folHlink>
    </a:clrScheme>
    <a:fontScheme name="Ember Display all the way">
      <a:majorFont>
        <a:latin typeface="Amazon Ember Display"/>
        <a:ea typeface=""/>
        <a:cs typeface=""/>
      </a:majorFont>
      <a:minorFont>
        <a:latin typeface="Amazon Ember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ctr">
          <a:defRPr dirty="0" err="1" smtClean="0"/>
        </a:defPPr>
      </a:lstStyle>
    </a:txDef>
  </a:objectDefaults>
  <a:extraClrSchemeLst/>
  <a:custClrLst>
    <a:custClr name="Yellow-Orange">
      <a:srgbClr val="FF901E"/>
    </a:custClr>
    <a:custClr name="Bright Red">
      <a:srgbClr val="FF316E"/>
    </a:custClr>
    <a:custClr name="Plum">
      <a:srgbClr val="480046"/>
    </a:custClr>
    <a:custClr name="Blue">
      <a:srgbClr val="0019C8"/>
    </a:custClr>
    <a:custClr name="Sky Blue (hyperlink)">
      <a:srgbClr val="0061FF"/>
    </a:custClr>
  </a:custClrLst>
  <a:extLst>
    <a:ext uri="{05A4C25C-085E-4340-85A3-A5531E510DB2}">
      <thm15:themeFamily xmlns:thm15="http://schemas.microsoft.com/office/thememl/2012/main" name="Presentation8" id="{C1C046C8-FEEB-F544-8F0D-279D91C77DC6}" vid="{7507A532-FAD7-8D4B-8C53-D4B285E415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TotalTime>
  <Words>2737</Words>
  <Application>Microsoft Macintosh PowerPoint</Application>
  <PresentationFormat>On-screen Show (16:9)</PresentationFormat>
  <Paragraphs>633</Paragraphs>
  <Slides>23</Slides>
  <Notes>22</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Source Han Sans SC</vt:lpstr>
      <vt:lpstr>Amazon Ember Display</vt:lpstr>
      <vt:lpstr>Amazon Ember Mono</vt:lpstr>
      <vt:lpstr>Calibri</vt:lpstr>
      <vt:lpstr>Georgia</vt:lpstr>
      <vt:lpstr>Lucida Console</vt:lpstr>
      <vt:lpstr>Poppins</vt:lpstr>
      <vt:lpstr>Wingdings</vt:lpstr>
      <vt:lpstr>AWS re:Invent</vt:lpstr>
      <vt:lpstr>AgenticOps Next-Gen AIOps Strategic Roadmap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AgenticOps Next-Gen Strategic Roadmap</dc:title>
  <dc:subject>PptxGenJS Presentation</dc:subject>
  <dc:creator>AgenticOps Team</dc:creator>
  <cp:lastModifiedBy>Ma, Libo</cp:lastModifiedBy>
  <cp:revision>8</cp:revision>
  <dcterms:created xsi:type="dcterms:W3CDTF">2026-03-23T02:59:57Z</dcterms:created>
  <dcterms:modified xsi:type="dcterms:W3CDTF">2026-03-23T03:58:20Z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2026-03-23T03:54:50Z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f47187f1-4752-4aa6-85f1-f8d8ae906597</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